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Dani, a proposta é construir uma operação de IA que trabalhe nas entregas da AUMI e nos nossos próprios produtos. Conteúdo, desenvolvimento, atendimento e Topologic podem usar a mesma base, com processos distintos. A compra da máquina faz parte desse plano; sozinha, não cria clientes. Estas são ofertas a validar, não contratos já conquistados.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Uma empresa não precisa contratar um modelo de IA. Pode contratar as peças da próxima campanha, a automação de uma rotina ou a organização do atendimento. AUMI propõe assumir uma entrega com escopo, revisão e responsável. O Topologic acrescenta mapas para decisões de TI; a loja vende produtos digitais diretamente ao consumidor.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Estas são situações de compra que vamos investigar, não dores medidas em uma pesquisa própria. O briefing ainda precisa virar material utilizável. Um script precisa funcionar no processo do cliente. Uma resposta precisa respeitar a política da empresa. Nosso argumento é assumir esse trabalho, com responsabilidade e limites claros.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fluxo proposto começa no material e no objetivo do cliente. Agentes preparam rascunhos, consultam fontes e executam tarefas delimitadas. Uma pessoa confere qualidade, testes e exceções. O cliente recebe uma entrega acordada, não uma saída bruta do modelo. Isso ainda precisa ser implantado e validado por oferta.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Conteúdo, código e atendimento são serviços para empresas. A loja LATAM é um canal de produtos próprios. Topologic atende compradores de TI. Cada frente tem comprador, aquisição e escopo próprios; compartilhar tecnologia não elimina essa diferença. O lançamento será progressivo, não cinco operações simultâneas.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Exemplos ilustrativos, não produtos prontos nem clientes reais. Um briefing pode virar roteiro e peças. Uma automação pode validar e transformar dados de entrada, separando exceções. Uma resposta de atendimento pode consultar uma política aprovada e encaminhar dúvidas a uma pessoa. Alcance, erro zero e atendimento ilimitado não são prometidos.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loja LATAM propõe vender PDFs práticos, templates, kits e minicursos em USD. Diferente de um serviço sob encomenda, um produto pode ser vendido a mais compradores; cada venda continua tendo aquisição, plataforma, tributos e suporte. Espanhol é hipótese inicial. Até três nichos serão escolhidos por dor verificável, disposição de pagar e baixo risco regulatório. Hotmart é candidata de plataforma existente. Não há catálogo pronto ou nicho definido.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Topologic propõe organizar fontes, sistemas e responsáveis em um mapa. Um comprador de TI pode usar esse material para discutir dependências antes de uma mudança. A oferta inicial proposta é R$30 mil, 80 horas diretas, 2 a 4 semanas após contrato e acesso: um domínio, até 40 componentes e 80 relações, duas fontes autorizadas e duas validações. Entrega inventário, mapa 2D/3D, lacunas, PDF executivo e exportação. Inferência fica identificada. Não inclui pentest, mudança produtiva ou economia garantida. Oferta empresarial de R$200 mil mais R$12 mil mensais é separada e não entra nesta projeção.</a:t>
            </a:r>
          </a:p>
          <a:p/>
          <a:p>
            <a:r>
              <a:t>Mapa ilustrativo, sem dados de cliente. Oferta e prazo sujeitos a validação.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Hipóteses de preço, não contratos assinados. Código: R$18 mil por fluxo delimitado, até 40h. Mapa: R$30 mil. Conteúdo: R$4.500/mês por 12 peças e 4 roteiros, uma revisão e 12h; vídeo final e mídia avançada à parte. Atendimento: R$6 mil de setup e R$3.500/mês com 8h de revisão/suporte; limites de uso a homologar. Loja: ticket USD29. Recorrência depende de retenção; o modelo não aplica churn ao atendimento.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razão proposta para a DGX é compartilhar a execução de modelos entre as frentes da AUMI. Isso permite organizar modelos, contexto e filas próprios, mas não comprova economia ou capacidade. DGX Spark GB10, 128GB, 4TB provisionados e 10GbE. NVIDIA documenta vLLM e SGLang, alternativas conforme a carga. Texto e código podem usar serving; imagem, áudio e vídeo exigem pipelines próprios. Checkout, aplicação e backup separado ficam fora. Segurança, isolamento e carga precisam ser homologados. Uma máquina não tem redundância; R$65 mil é provisão sem cotação brasileira.</a:t>
            </a:r>
          </a:p>
          <a:p/>
          <a:p>
            <a:r>
              <a:t>Fontes: NVIDIA DGX Spark Hardware e playbooks vLLM / SGLang. Links no apêndice.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Uma infraestrutura compartilhada tem fila e limites. Atendimento terá prioridade planejada; conteúdo e código podem ser agendados. Precisamos medir tempo humano, latência, concorrência, qualidade e custo por tarefa. Não temos benchmark de capacidade para prometer clientes simultâneos ou SLA. Mais hardware só se justifica com demanda, utilização e caixa.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alegamos exclusividade ou superioridade comprovada. A hipótese comercial é vender execução contextualizada e revisada, em vez de apenas acesso a uma ferramenta. Concorrentes incluem profissionais, agências, SaaS, consultorias, draw.io, LeanIX e ServiceNow. O piloto pago precisa demonstrar valor no caso concreto. Dados de mercado permanecem nas referências; não substituem validação de compra.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Governança proposta a implantar. Painel de leitura para sócios, relatório diário, reunião semanal e prestação mensal. Dados de checkout, banco, anúncios, CRM e projetos com autorização. Agentes ajudam a reconciliar receitas, estornos, custos e horas, com fonte e alerta. Orçamento e despesas relevantes passam por aprovação conjunta com limites formalizados. Dinheiro, contratos, publicação e compras ficam sob responsabilidade humana.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Estes valores descontam custos variáveis, incluindo trabalho direto, tributos e comercial. Ainda não são lucro: precisam pagar fixos. Conteúdo: R$2 mil/cliente-mês; código: R$6.600/projeto; atendimento: R$1.630/mês e R$1 mil/setup; mapa: R$9.600/projeto; loja: USD7,31628/pedido com CAC10. Hipóteses gerenciais, com regime tributário a validar. Equipe fixa não substitui as horas variáveis de entrega.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Projeções das cinco frentes, não contratos ou probabilidades. Capital inclui M0 no pico de déficit, reserva de R$126 mil e arredondamento para cima em R$10 mil. Payback é o primeiro mês de fluxo acumulado não negativo sem aportes. Não é devolução do aporte de Dani. Cada cenário depende de aquisição, execução e financiamento integral. O conservador não recupera o investimento em 24 meses.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M0 de R$100 mil: R$76 mil de equipamentos e R$24 mil de preparação. DGX 65 mil, proteção 4 mil, rede 2 mil, backup 3 mil, periféricos 2 mil; jurídico 12 mil e segurança 12 mil. Fixos de R$37 mil/mês no ano 1 e R$42 mil no ano 2. Cheques de R$100/150/200 mil deixam R$0/50/100 mil depois de M0, antes dos custos operacionais. Cenário-base exige R$430 mil totais com reserva de R$126 mil; M0 já incluído. Cotação brasileira pendente. Não é uma solicitação de aporte integral desse valor à Dani.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negócio se paga pelo fluxo do portfólio após custos. A máquina compensa pelo benefício líquido adicional frente a operar sem compra, incluindo APIs. Só entram margem adicional e economia efetiva, menos custos incrementais. Não atribuir toda receita à DGX, nem converter horas poupadas automaticamente em caixa. Exemplo: R$76 mil / R$5 mil por mês = 15,2 meses, sem rampa, juros ou valor residual. Não é benchmark ou previsão. Retorno de Dani depende do aporte e distribuição ainda não acordados.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Plano proposto. Dias 1–30: conversar com 10 compradores de nichos e 5 contatos de TI; escolher até 3 nichos e uma oferta B2B prioritária. Dias 31–60: preparar até 3 ofertas testáveis e conferir checkout, entrega, segurança e carga da máquina. Dias 61–90: buscar 50 vendas de loja e 1 mapa pago, com margem e qualidade. Conteúdo e código entram em pilotos delimitados. Atendimento só entra após validar base de respostas, escalonamento e limites. Metas dependem de caixa, aquisição e capacidade; não são vendas confirmadas.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Proposta, não acordo fechado: 50% AUMI, representada por Marcos, Luciana e João em conjunto, com divisão interna a definir; 50% Dani. Participação não define aporte igual, cargo, rotina, remuneração ou dividendos. Negociar esses pontos e formalizar propriedade intelectual, veículo societário, orçamento, chamadas de capital, impasse e saída. Não atribuímos à Dani todo o capital requerido pelo cenário. A compra depende de aprovação e caixa.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convite é definir juntos a primeira oferta a validar, quem fará cada parte e o limite de gasto dessa etapa. Em paralelo, negociar o acordo societário e obter cotação. Cada nova liberação de capital deve se apoiar em resultado verificável: comprador, entrega, margem e capacidade. Não inventamos um valor de piloto que não foi orçado. Menos capital exige escopo menor e novo fluxo financeiro, não promessa de executar a base com caixa insuficiente.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Todas as ofertas e seus preços são hipóteses gerenciais para validar. Alterações de escopo exigem nova cotação. Os exemplos da apresentação não são produtos ou clientes reais.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diretos por hora: conteúdo e suporte recorrenteR$120; código, setup e mapaR$180. Todos os valores em BRL. Provisão tributária15% e comercial5%. O setup não é recorrência. O mapa tem comercial de caixa sobre recebido e de competência sobre faturado. Horas diretas pagas à parte, não capacidade já contratada.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TicketUSD29, câmbio hipotético5, estornos8%. Taxa de plataforma9,9%+USD1 aplicada após estornos, tributos15%, reserva meios/câmbio3%, CAC10 e suporte1 por pedido. Tarifa Hotmart: tabela/FAQ atualizadas, com divergência de parágrafo antigo que precisa confirmação na conta. Tributos do comprador podem ser acrescidos ao checkout; não compõem o ticket. O modelo cobra CAC em todas as vendas e recebe em M+1.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Envelopes gerenciais e não salários pesquisados ou cargos atribuídos. Produto e engenharia/P&amp;D não substituem as horas variáveis de entrega. Ano2R$42mil é envelope ampliado a detalhar. M0R$100mil já entra no fluxo e no pico de déficit.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Horas diretas incluem B2B de todas as linhas modeladas, setup quando há ativação, além de P&amp;D/estrutura fixa. Dividir por160 dá equivalentes de dedicação, não pessoas já contratadas. Suporte de loja é custeado por pedido, sem tempo humano medido. Não converter essas horas em capacidade GPU. Conversão de visita2% é hipótese e não performance observada. Detalhes de mídia e visitas na planilha.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Receita após estornos não desconta todos os custos. Contribuição é receita menos variáveis. Resultado operacional desconta fixos. Caixa segue recebimentos e pagamentos efetivos. Loja recebeM+1 após plataforma; mapa e código50% atual/50% seguinte; conteúdo, atendimento e setup no mês. Capital requerido usa pico negativo do fluxo incluindoM0 mais126k, arredondado para cima10k. Dividendos, dívida, juros, inflação, tributos pessoais e segundaDGX não modelados. Provisão fiscal precisa regime e limites validados.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Todos os valores em BRLmil, arredondados para apresentação. Fluxo acumulado começa em menos100mil noM0 e não inclui aportes, dividendos ou juros. A planilha traz todas as linhas, componentes e centavos. Vendas são hipóteses e dependem de aquisição, capacidade e financiamento. Não somar projeção Topologic empresarial.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Todos os valores em BRLmil, arredondados para apresentação. Fluxo acumulado começa em menos100mil noM0 e não inclui aportes, dividendos ou juros. A planilha traz todas as linhas, componentes e centavos. Vendas são hipóteses e dependem de aquisição, capacidade e financiamento. Não somar projeção Topologic empresarial.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Todos os valores em BRLmil, arredondados para apresentação. Fluxo acumulado começa em menos100mil noM0 e não inclui aportes, dividendos ou juros. A planilha traz todas as linhas, componentes e centavos. Vendas são hipóteses e dependem de aquisição, capacidade e financiamento. Não somar projeção Topologic empresarial.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Todos os valores em BRLmil, arredondados para apresentação. Fluxo acumulado começa em menos100mil noM0 e não inclui aportes, dividendos ou juros. A planilha traz todas as linhas, componentes e centavos. Vendas são hipóteses e dependem de aquisição, capacidade e financiamento. Não somar projeção Topologic empresarial.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Base de equipamentoR$76mil. Benefício incremental líquido precisa ser medido contra operação sem compra ou com APIs alternativas. Pode incluir margem adicional e economia efetiva, descontados custos incrementais. Não duplicar benefícios e não converter hora poupada automaticamente em dinheiro. Esses exemplos não incluem rampa, valor residual ou juros. Não são benchmark, resultado operacional do portfólio nem retorno de Dani.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Sensibilidades independentes. CAC15 mantém as vendas da base e muda apenas aquisição da loja. Novas50 mantém loja/mapa e fixos, reduz para50% os volumes de conteúdo/código/atendimento com piso mensal e recalcula ativações. Não é modelo explícito de churn. Atendimento não tem churn no modelo-base: retenção precisa ser comprovada. Não usar os antigos530k/M19 como resultado deste portfólio.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Valores emBRL. Bruto é o faturamento antes de estornos; receita após estornos ainda precisa pagar todos os variáveis. Não é lucro. As agendas não são probabilidades, pipeline ou contratos. O modelo projeta financiamento integral e capacidade de entregar. Topologic enterprise não está incluído.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Conteúdo e atendimento são clientes ativos; código e mapas são projetos no mês; loja são pedidos. Setup só aparece quando clientes de atendimento crescem. CACUSD10 e câmbio5: aquisiçãoBRL50 por pedido. Conversão2% pressupõe50 visitas por pedido. Tudo é hipótese. Equipe direta, aquisição e capacidade precisam ser financiadas.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Curvas comM0=-100mil e24meses do fluxo ampliado. Sem aportes, dividendos, juros ou segundaDGX. O ponto mais baixo determina o déficit a financiar; adicionar reserva126mil e arredondar para cima10mil. Cruzar zero é payback do projeto, não retorno de Dani.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Todas as fontes e downloads têm hyperlinks absolutos. Fontes de mercado são contextuais. Playbooks demonstram suporte técnico documentado, não capacidade ou retorno da nossa implantação. A planilha é a autoridade das hipóteses financeiras ampliadas.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Todas as fontes e downloads têm hyperlinks absolutos. Fontes de mercado são contextuais. Playbooks demonstram suporte técnico documentado, não capacidade ou retorno da nossa implantação. A planilha é a autoridade das hipóteses financeiras ampliadas.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Todas as fontes e downloads têm hyperlinks absolutos. Fontes de mercado são contextuais. Playbooks demonstram suporte técnico documentado, não capacidade ou retorno da nossa implantação. A planilha é a autoridade das hipóteses financeiras ampliadas.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Registrar o próximo passo, responsáveis, limite de perda e condições de financiamento. PDF para compartilhar, PowerPoint para editar, planilha e CSV para auditar. O material Topologic empresarial anterior é um modelo separado e não compõe as projeções ampliadas.</a:t>
            </a:r>
          </a:p>
          <a:p/>
          <a:p>
            <a:r>
              <a:t>Proposta para discussão • 02/10/2026 • Sem promessa de retorno</a:t>
            </a:r>
          </a:p>
          <a:p/>
          <a:p>
            <a:r>
              <a:t>Fonte financeira: expanded-finance-summary.json e expanded-finance.json; revisão 02/10/2026.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press.hotmart.com/hotmart-company-announces-record-breaking-10-billion-in-global-creator-earnings" TargetMode="External"/><Relationship Id="rId3" Type="http://schemas.openxmlformats.org/officeDocument/2006/relationships/hyperlink" Target="https://www.flexera.com/about-us/press-center/new-flexera-report-finds-84-percent-of-organizations-struggle-to-manage-cloud-spend" TargetMode="External"/><Relationship Id="rId4" Type="http://schemas.openxmlformats.org/officeDocument/2006/relationships/hyperlink" Target="https://www.gsma.com/about-us/regions/latin-america-and-the-caribbean/gsma_resources/the-mobile-economy-latin-america-2026/" TargetMode="External"/><Relationship Id="rId5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nvidia.com/dgx/dgx-spark/hardware.html" TargetMode="External"/><Relationship Id="rId3" Type="http://schemas.openxmlformats.org/officeDocument/2006/relationships/hyperlink" Target="https://build.nvidia.com/spark/vllm" TargetMode="External"/><Relationship Id="rId4" Type="http://schemas.openxmlformats.org/officeDocument/2006/relationships/hyperlink" Target="https://build.nvidia.com/spark/sglang" TargetMode="External"/><Relationship Id="rId5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uportehotmart.zendesk.com/hc/en-us/articles/208298448-What-are-the-fees-charged-by-Hotmart" TargetMode="External"/><Relationship Id="rId3" Type="http://schemas.openxmlformats.org/officeDocument/2006/relationships/hyperlink" Target="https://juboyy.github.io/topologic-business-plan/modelo-portfolio.xlsx" TargetMode="External"/><Relationship Id="rId4" Type="http://schemas.openxmlformats.org/officeDocument/2006/relationships/hyperlink" Target="https://juboyy.github.io/topologic-business-plan/cenarios-portfolio.csv" TargetMode="External"/><Relationship Id="rId5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juboyy.github.io/topologic-business-plan/pitch-deck.pdf" TargetMode="External"/><Relationship Id="rId3" Type="http://schemas.openxmlformats.org/officeDocument/2006/relationships/hyperlink" Target="https://juboyy.github.io/topologic-business-plan/pitch-deck.pptx" TargetMode="External"/><Relationship Id="rId4" Type="http://schemas.openxmlformats.org/officeDocument/2006/relationships/hyperlink" Target="https://juboyy.github.io/topologic-business-plan/modelo-portfolio.xlsx" TargetMode="External"/><Relationship Id="rId5" Type="http://schemas.openxmlformats.org/officeDocument/2006/relationships/hyperlink" Target="https://juboyy.github.io/topologic-business-plan/cenarios-portfolio.csv" TargetMode="External"/><Relationship Id="rId6" Type="http://schemas.openxmlformats.org/officeDocument/2006/relationships/hyperlink" Target="https://juboyy.github.io/topologic-business-plan/plano-completo.html" TargetMode="External"/><Relationship Id="rId7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510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48700" y="1295400"/>
            <a:ext cx="2362200" cy="838200"/>
          </a:xfrm>
          <a:prstGeom prst="rect">
            <a:avLst/>
          </a:prstGeom>
          <a:solidFill>
            <a:srgbClr val="FF7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01000" y="2324100"/>
            <a:ext cx="300990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648700" y="3352800"/>
            <a:ext cx="2362200" cy="838200"/>
          </a:xfrm>
          <a:prstGeom prst="rect">
            <a:avLst/>
          </a:prstGeom>
          <a:solidFill>
            <a:srgbClr val="FF7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01000" y="4381500"/>
            <a:ext cx="3009900" cy="838200"/>
          </a:xfrm>
          <a:prstGeom prst="rect">
            <a:avLst/>
          </a:prstGeom>
          <a:solidFill>
            <a:srgbClr val="6C45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1500" y="472440"/>
            <a:ext cx="7239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aumi / PROPOSTA DE NEGÓCIO PARA DANI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24940"/>
            <a:ext cx="7391400" cy="3314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20" b="1">
                <a:solidFill>
                  <a:srgbClr val="FFFFFF"/>
                </a:solidFill>
                <a:latin typeface="IBM Plex Sans"/>
              </a:rPr>
              <a:t>Uma operação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20" b="1">
                <a:solidFill>
                  <a:srgbClr val="FFFFFF"/>
                </a:solidFill>
                <a:latin typeface="IBM Plex Sans"/>
              </a:rPr>
              <a:t>de IA para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20" b="1">
                <a:solidFill>
                  <a:srgbClr val="FFFFFF"/>
                </a:solidFill>
                <a:latin typeface="IBM Plex Sans"/>
              </a:rPr>
              <a:t>vender pela AUMI.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4892040"/>
            <a:ext cx="67437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580" b="1">
                <a:solidFill>
                  <a:srgbClr val="FF7B22"/>
                </a:solidFill>
                <a:latin typeface="IBM Plex Sans"/>
              </a:rPr>
              <a:t>Serviços para empresas.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580" b="1">
                <a:solidFill>
                  <a:srgbClr val="FF7B22"/>
                </a:solidFill>
                <a:latin typeface="IBM Plex Sans"/>
              </a:rPr>
              <a:t>Produtos digitais próprios.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05800" y="256032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35105C"/>
                </a:solidFill>
                <a:latin typeface="IBM Plex Sans"/>
              </a:rPr>
              <a:t>SERVIÇOS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3000" y="3581400"/>
            <a:ext cx="2209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35105C"/>
                </a:solidFill>
                <a:latin typeface="IBM Plex Sans"/>
              </a:rPr>
              <a:t>PRODUTOS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05800" y="461772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FFFFFF"/>
                </a:solidFill>
                <a:latin typeface="IBM Plex Sans"/>
              </a:rPr>
              <a:t>IA PRÓPRIA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6C45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D8C9E7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D8C9E7"/>
                </a:solidFill>
                <a:latin typeface="IBM Plex Sans"/>
              </a:rPr>
              <a:t>AUMI /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7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9120" y="4602480"/>
            <a:ext cx="838200" cy="91440"/>
          </a:xfrm>
          <a:prstGeom prst="rect">
            <a:avLst/>
          </a:prstGeom>
          <a:solidFill>
            <a:srgbClr val="351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01 / O QUE O CLIENTE COMPRA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1417320"/>
            <a:ext cx="110490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560" b="1">
                <a:solidFill>
                  <a:srgbClr val="35105C"/>
                </a:solidFill>
                <a:latin typeface="IBM Plex Sans"/>
              </a:rPr>
              <a:t>Conteúdo para publicar.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560" b="1">
                <a:solidFill>
                  <a:srgbClr val="35105C"/>
                </a:solidFill>
                <a:latin typeface="IBM Plex Sans"/>
              </a:rPr>
              <a:t>Software para operar.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560" b="1">
                <a:solidFill>
                  <a:srgbClr val="35105C"/>
                </a:solidFill>
                <a:latin typeface="IBM Plex Sans"/>
              </a:rPr>
              <a:t>Respostas com contexto.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52600" y="4488180"/>
            <a:ext cx="9448800" cy="112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20" b="0">
                <a:solidFill>
                  <a:srgbClr val="35105C"/>
                </a:solidFill>
                <a:latin typeface="IBM Plex Sans"/>
              </a:rPr>
              <a:t>A empresa contrata uma entrega definida.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20" b="0">
                <a:solidFill>
                  <a:srgbClr val="35105C"/>
                </a:solidFill>
                <a:latin typeface="IBM Plex Sans"/>
              </a:rPr>
              <a:t>A AUMI organiza a produção e responde pela revisão.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9120" y="2667000"/>
            <a:ext cx="3543300" cy="256794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51020" y="2667000"/>
            <a:ext cx="3543300" cy="256794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22920" y="2667000"/>
            <a:ext cx="3543300" cy="256794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02 / A NECESSIDADE DO COMPRADOR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Ter acesso à IA não resolve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o trabalho que fica por fazer.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3147060" cy="35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1">
                <a:solidFill>
                  <a:srgbClr val="9A3D00"/>
                </a:solidFill>
                <a:latin typeface="IBM Plex San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91840"/>
            <a:ext cx="3147060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80" b="1">
                <a:solidFill>
                  <a:srgbClr val="29143D"/>
                </a:solidFill>
                <a:latin typeface="IBM Plex Sans"/>
              </a:rPr>
              <a:t>Conteúdo parado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091939"/>
            <a:ext cx="3147060" cy="1066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29143D"/>
                </a:solidFill>
                <a:latin typeface="IBM Plex Sans"/>
              </a:rPr>
              <a:t>O briefing existe. Faltam roteiro, peças e revisão para publicar.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9140" y="2834640"/>
            <a:ext cx="3147060" cy="35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1">
                <a:solidFill>
                  <a:srgbClr val="9A3D00"/>
                </a:solidFill>
                <a:latin typeface="IBM Plex San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9140" y="3291840"/>
            <a:ext cx="3147060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80" b="1">
                <a:solidFill>
                  <a:srgbClr val="29143D"/>
                </a:solidFill>
                <a:latin typeface="IBM Plex Sans"/>
              </a:rPr>
              <a:t>Rotina manual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9140" y="4091939"/>
            <a:ext cx="3147060" cy="1066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29143D"/>
                </a:solidFill>
                <a:latin typeface="IBM Plex Sans"/>
              </a:rPr>
              <a:t>Copiar dados entre sistemas toma tempo e exige conferência.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834640"/>
            <a:ext cx="3147060" cy="35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1">
                <a:solidFill>
                  <a:srgbClr val="9A3D00"/>
                </a:solidFill>
                <a:latin typeface="IBM Plex San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291840"/>
            <a:ext cx="3147060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80" b="1">
                <a:solidFill>
                  <a:srgbClr val="29143D"/>
                </a:solidFill>
                <a:latin typeface="IBM Plex Sans"/>
              </a:rPr>
              <a:t>Dúvida repetida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4091939"/>
            <a:ext cx="3147060" cy="1066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29143D"/>
                </a:solidFill>
                <a:latin typeface="IBM Plex Sans"/>
              </a:rPr>
              <a:t>A equipe procura a mesma política para responder ao cliente.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9120" y="5715000"/>
            <a:ext cx="11003280" cy="5257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5105C"/>
                </a:solidFill>
                <a:latin typeface="IBM Plex Sans"/>
              </a:rPr>
              <a:t>A oportunidade: vender a execução desse trabalho, com escopo e responsável.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510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9120" y="2834640"/>
            <a:ext cx="2628900" cy="18668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459480" y="2834640"/>
            <a:ext cx="2628900" cy="18668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339840" y="2834640"/>
            <a:ext cx="2628900" cy="1866899"/>
          </a:xfrm>
          <a:prstGeom prst="rect">
            <a:avLst/>
          </a:prstGeom>
          <a:solidFill>
            <a:srgbClr val="FF7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220200" y="2834640"/>
            <a:ext cx="2628900" cy="18668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3230880" y="3733799"/>
            <a:ext cx="160020" cy="0"/>
          </a:xfrm>
          <a:prstGeom prst="line">
            <a:avLst/>
          </a:prstGeom>
          <a:ln w="30480">
            <a:solidFill>
              <a:srgbClr val="FF7B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111240" y="3733799"/>
            <a:ext cx="160020" cy="0"/>
          </a:xfrm>
          <a:prstGeom prst="line">
            <a:avLst/>
          </a:prstGeom>
          <a:ln w="30480">
            <a:solidFill>
              <a:srgbClr val="FF7B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991600" y="3733799"/>
            <a:ext cx="160020" cy="0"/>
          </a:xfrm>
          <a:prstGeom prst="line">
            <a:avLst/>
          </a:prstGeom>
          <a:ln w="30480">
            <a:solidFill>
              <a:srgbClr val="FF7B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FF7B22"/>
                </a:solidFill>
                <a:latin typeface="IBM Plex Sans"/>
              </a:rPr>
              <a:t>03 / COMO VAMOS PRESTAR O SERVIÇO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FFFFFF"/>
                </a:solidFill>
                <a:latin typeface="IBM Plex Sans"/>
              </a:rPr>
              <a:t>aumi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FFFFFF"/>
                </a:solidFill>
                <a:latin typeface="IBM Plex Sans"/>
              </a:rPr>
              <a:t>A AUMI assume o caminho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FFFFFF"/>
                </a:solidFill>
                <a:latin typeface="IBM Plex Sans"/>
              </a:rPr>
              <a:t>entre o pedido e a entrega.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6760" y="2987040"/>
            <a:ext cx="229362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39" b="1">
                <a:solidFill>
                  <a:srgbClr val="29143D"/>
                </a:solidFill>
                <a:latin typeface="IBM Plex Sans"/>
              </a:rPr>
              <a:t>Entender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6760" y="3444240"/>
            <a:ext cx="2293620" cy="1181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Briefing, objetivo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e fontes autorizadas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7120" y="2987040"/>
            <a:ext cx="229362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39" b="1">
                <a:solidFill>
                  <a:srgbClr val="29143D"/>
                </a:solidFill>
                <a:latin typeface="IBM Plex Sans"/>
              </a:rPr>
              <a:t>Produzir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7120" y="3444240"/>
            <a:ext cx="2293620" cy="1181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Agentes preparam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conteúdo, código e respostas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7480" y="2987040"/>
            <a:ext cx="229362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39" b="1">
                <a:solidFill>
                  <a:srgbClr val="29143D"/>
                </a:solidFill>
                <a:latin typeface="IBM Plex Sans"/>
              </a:rPr>
              <a:t>Conferir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7480" y="3444240"/>
            <a:ext cx="2293620" cy="1181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Pessoa revisa fontes,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testes e exceções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87840" y="2987040"/>
            <a:ext cx="229362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39" b="1">
                <a:solidFill>
                  <a:srgbClr val="29143D"/>
                </a:solidFill>
                <a:latin typeface="IBM Plex Sans"/>
              </a:rPr>
              <a:t>Entregar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87840" y="3444240"/>
            <a:ext cx="2293620" cy="1181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Escopo acordado,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aceite e responsável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120640"/>
            <a:ext cx="10896600" cy="746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20" b="0">
                <a:solidFill>
                  <a:srgbClr val="FFFFFF"/>
                </a:solidFill>
                <a:latin typeface="IBM Plex Sans"/>
              </a:rPr>
              <a:t>A IA participa da execução.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20" b="0">
                <a:solidFill>
                  <a:srgbClr val="FFFFFF"/>
                </a:solidFill>
                <a:latin typeface="IBM Plex Sans"/>
              </a:rPr>
              <a:t>A responsabilidade pela entrega continua com pessoas.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6C45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D8C9E7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D8C9E7"/>
                </a:solidFill>
                <a:latin typeface="IBM Plex Sans"/>
              </a:rPr>
              <a:t>AUMI /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9120" y="2659380"/>
            <a:ext cx="2110740" cy="273558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857500" y="2659380"/>
            <a:ext cx="2110740" cy="273558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135880" y="2659380"/>
            <a:ext cx="2110740" cy="273558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14259" y="2659380"/>
            <a:ext cx="2110740" cy="273558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692640" y="2659380"/>
            <a:ext cx="2110740" cy="2735580"/>
          </a:xfrm>
          <a:prstGeom prst="rect">
            <a:avLst/>
          </a:prstGeom>
          <a:solidFill>
            <a:srgbClr val="351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04 / ONDE VAMOS VENDER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A mesma base pode atender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cinco frentes de receita.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6760" y="2933700"/>
            <a:ext cx="1783080" cy="632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5105C"/>
                </a:solidFill>
                <a:latin typeface="IBM Plex Sans"/>
              </a:rPr>
              <a:t>CONTEÚDO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6760" y="3764279"/>
            <a:ext cx="17830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0">
                <a:solidFill>
                  <a:srgbClr val="29143D"/>
                </a:solidFill>
                <a:latin typeface="IBM Plex Sans"/>
              </a:rPr>
              <a:t>Marketing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0">
                <a:solidFill>
                  <a:srgbClr val="29143D"/>
                </a:solidFill>
                <a:latin typeface="IBM Plex Sans"/>
              </a:rPr>
              <a:t>Peças e roteiros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0">
                <a:solidFill>
                  <a:srgbClr val="29143D"/>
                </a:solidFill>
                <a:latin typeface="IBM Plex Sans"/>
              </a:rPr>
              <a:t>por mês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25140" y="2933700"/>
            <a:ext cx="1783080" cy="632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5105C"/>
                </a:solidFill>
                <a:latin typeface="IBM Plex Sans"/>
              </a:rPr>
              <a:t>CÓDIGO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25140" y="3764279"/>
            <a:ext cx="17830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0">
                <a:solidFill>
                  <a:srgbClr val="29143D"/>
                </a:solidFill>
                <a:latin typeface="IBM Plex Sans"/>
              </a:rPr>
              <a:t>Operações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0">
                <a:solidFill>
                  <a:srgbClr val="29143D"/>
                </a:solidFill>
                <a:latin typeface="IBM Plex Sans"/>
              </a:rPr>
              <a:t>Automação de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0">
                <a:solidFill>
                  <a:srgbClr val="29143D"/>
                </a:solidFill>
                <a:latin typeface="IBM Plex Sans"/>
              </a:rPr>
              <a:t>uma rotina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933700"/>
            <a:ext cx="1783080" cy="632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5105C"/>
                </a:solidFill>
                <a:latin typeface="IBM Plex Sans"/>
              </a:rPr>
              <a:t>ATENDIMENTO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764279"/>
            <a:ext cx="17830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0">
                <a:solidFill>
                  <a:srgbClr val="29143D"/>
                </a:solidFill>
                <a:latin typeface="IBM Plex Sans"/>
              </a:rPr>
              <a:t>Equipes de serviço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0">
                <a:solidFill>
                  <a:srgbClr val="29143D"/>
                </a:solidFill>
                <a:latin typeface="IBM Plex Sans"/>
              </a:rPr>
              <a:t>Base de respostas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0">
                <a:solidFill>
                  <a:srgbClr val="29143D"/>
                </a:solidFill>
                <a:latin typeface="IBM Plex Sans"/>
              </a:rPr>
              <a:t>e apoio contínuo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1899" y="2933700"/>
            <a:ext cx="1783080" cy="632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5105C"/>
                </a:solidFill>
                <a:latin typeface="IBM Plex Sans"/>
              </a:rPr>
              <a:t>LOJA LATAM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1899" y="3764279"/>
            <a:ext cx="17830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0">
                <a:solidFill>
                  <a:srgbClr val="29143D"/>
                </a:solidFill>
                <a:latin typeface="IBM Plex Sans"/>
              </a:rPr>
              <a:t>Consumidor final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0">
                <a:solidFill>
                  <a:srgbClr val="29143D"/>
                </a:solidFill>
                <a:latin typeface="IBM Plex Sans"/>
              </a:rPr>
              <a:t>Guias, templates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0">
                <a:solidFill>
                  <a:srgbClr val="29143D"/>
                </a:solidFill>
                <a:latin typeface="IBM Plex Sans"/>
              </a:rPr>
              <a:t>e minicursos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60280" y="2933700"/>
            <a:ext cx="1783080" cy="632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BM Plex Sans"/>
              </a:rPr>
              <a:t>TOPOLOGIC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60280" y="3764279"/>
            <a:ext cx="17830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0">
                <a:solidFill>
                  <a:srgbClr val="FFFFFF"/>
                </a:solidFill>
                <a:latin typeface="IBM Plex Sans"/>
              </a:rPr>
              <a:t>Lideranças de TI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0">
                <a:solidFill>
                  <a:srgbClr val="FFFFFF"/>
                </a:solidFill>
                <a:latin typeface="IBM Plex Sans"/>
              </a:rPr>
              <a:t>Mapa de sistemas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0">
                <a:solidFill>
                  <a:srgbClr val="FFFFFF"/>
                </a:solidFill>
                <a:latin typeface="IBM Plex Sans"/>
              </a:rPr>
              <a:t>e dependências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9120" y="5715000"/>
            <a:ext cx="11003280" cy="5257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5105C"/>
                </a:solidFill>
                <a:latin typeface="IBM Plex Sans"/>
              </a:rPr>
              <a:t>Começar com uma oferta B2B prioritária e testes limitados de produtos próprios.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9120" y="2781300"/>
            <a:ext cx="3543300" cy="278130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51020" y="2781300"/>
            <a:ext cx="3543300" cy="278130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22920" y="2781300"/>
            <a:ext cx="3543300" cy="278130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84860" y="3535680"/>
            <a:ext cx="876300" cy="1478280"/>
          </a:xfrm>
          <a:prstGeom prst="rect">
            <a:avLst/>
          </a:prstGeom>
          <a:solidFill>
            <a:srgbClr val="351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05 / EXEMPLOS DE ENTREGAS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O cliente precisa enxergar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o que vai receber.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9120" y="2164080"/>
            <a:ext cx="109728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0">
                <a:solidFill>
                  <a:srgbClr val="685878"/>
                </a:solidFill>
                <a:latin typeface="IBM Plex Sans"/>
              </a:rPr>
              <a:t>Propostas de serviço, ainda sujeitas a validação comercial e técnica.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9620" y="2971800"/>
            <a:ext cx="3162300" cy="335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5105C"/>
                </a:solidFill>
                <a:latin typeface="IBM Plex Sans"/>
              </a:rPr>
              <a:t>CONTEÚDO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1520" y="2971800"/>
            <a:ext cx="3162300" cy="335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5105C"/>
                </a:solidFill>
                <a:latin typeface="IBM Plex Sans"/>
              </a:rPr>
              <a:t>CÓDIGO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3420" y="2971800"/>
            <a:ext cx="3162300" cy="335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5105C"/>
                </a:solidFill>
                <a:latin typeface="IBM Plex Sans"/>
              </a:rPr>
              <a:t>ATENDIMENTO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6780" y="3688080"/>
            <a:ext cx="670560" cy="1066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BM Plex Sans"/>
              </a:rPr>
              <a:t>01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BM Plex Sans"/>
              </a:rPr>
              <a:t>UMA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BM Plex Sans"/>
              </a:rPr>
              <a:t>OFERTA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59280" y="3550920"/>
            <a:ext cx="1981199" cy="601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35105C"/>
                </a:solidFill>
                <a:latin typeface="IBM Plex Sans"/>
              </a:rPr>
              <a:t>Do briefing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35105C"/>
                </a:solidFill>
                <a:latin typeface="IBM Plex Sans"/>
              </a:rPr>
              <a:t>à campanha.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66899" y="4312920"/>
            <a:ext cx="1920240" cy="9905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Roteiro e peças.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Uma revisão.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Aceite do cliente.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1520" y="3543300"/>
            <a:ext cx="3147060" cy="16078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1">
                <a:solidFill>
                  <a:srgbClr val="35105C"/>
                </a:solidFill>
                <a:latin typeface="IBM Plex Sans"/>
              </a:rPr>
              <a:t>Dados de entrada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1">
                <a:solidFill>
                  <a:srgbClr val="35105C"/>
                </a:solidFill>
                <a:latin typeface="IBM Plex Sans"/>
              </a:rPr>
              <a:t>        ↓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1">
                <a:solidFill>
                  <a:srgbClr val="35105C"/>
                </a:solidFill>
                <a:latin typeface="IBM Plex Sans"/>
              </a:rPr>
              <a:t>validar e transformar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1">
                <a:solidFill>
                  <a:srgbClr val="35105C"/>
                </a:solidFill>
                <a:latin typeface="IBM Plex Sans"/>
              </a:rPr>
              <a:t>        ↓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1">
                <a:solidFill>
                  <a:srgbClr val="35105C"/>
                </a:solidFill>
                <a:latin typeface="IBM Plex Sans"/>
              </a:rPr>
              <a:t>separar exceções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8659" y="3558540"/>
            <a:ext cx="3124200" cy="57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1">
                <a:solidFill>
                  <a:srgbClr val="35105C"/>
                </a:solidFill>
                <a:latin typeface="IBM Plex Sans"/>
              </a:rPr>
              <a:t>“Como faço a troca?”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8659" y="4290060"/>
            <a:ext cx="3063240" cy="1028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Consulta a política.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Prepara a resposta.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Dúvida? Chama humano.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9120" y="5852160"/>
            <a:ext cx="11003280" cy="5257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5105C"/>
                </a:solidFill>
                <a:latin typeface="IBM Plex Sans"/>
              </a:rPr>
              <a:t>Cada proposta define entrega, limite, revisão e critério de aceite.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781800" y="0"/>
            <a:ext cx="5410200" cy="6248400"/>
          </a:xfrm>
          <a:prstGeom prst="rect">
            <a:avLst/>
          </a:prstGeom>
          <a:solidFill>
            <a:srgbClr val="351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84520"/>
            <a:ext cx="1219200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06 / LOJA DE PRODUTOS DIGITAIS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06780"/>
            <a:ext cx="5943600" cy="1790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29143D"/>
                </a:solidFill>
                <a:latin typeface="IBM Plex Sans"/>
              </a:rPr>
              <a:t>Criar produtos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29143D"/>
                </a:solidFill>
                <a:latin typeface="IBM Plex Sans"/>
              </a:rPr>
              <a:t>que possam ser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29143D"/>
                </a:solidFill>
                <a:latin typeface="IBM Plex Sans"/>
              </a:rPr>
              <a:t>vendidos de novo.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335280"/>
            <a:ext cx="1143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FFFFFF"/>
                </a:solidFill>
                <a:latin typeface="IBM Plex Sans"/>
              </a:rPr>
              <a:t>aumi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1980" y="2971800"/>
            <a:ext cx="56007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80" b="1">
                <a:solidFill>
                  <a:srgbClr val="35105C"/>
                </a:solidFill>
                <a:latin typeface="IBM Plex Sans"/>
              </a:rPr>
              <a:t>Guias práticos, templates,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80" b="1">
                <a:solidFill>
                  <a:srgbClr val="35105C"/>
                </a:solidFill>
                <a:latin typeface="IBM Plex Sans"/>
              </a:rPr>
              <a:t>kits e minicursos para LATAM.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1980" y="4130040"/>
            <a:ext cx="5562600" cy="112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39" b="0">
                <a:solidFill>
                  <a:srgbClr val="29143D"/>
                </a:solidFill>
                <a:latin typeface="IBM Plex Sans"/>
              </a:rPr>
              <a:t>Testar até 3 nichos.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39" b="0">
                <a:solidFill>
                  <a:srgbClr val="29143D"/>
                </a:solidFill>
                <a:latin typeface="IBM Plex Sans"/>
              </a:rPr>
              <a:t>Produzir uma solução útil.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39" b="0">
                <a:solidFill>
                  <a:srgbClr val="29143D"/>
                </a:solidFill>
                <a:latin typeface="IBM Plex Sans"/>
              </a:rPr>
              <a:t>Vender por checkout existente.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2407920"/>
            <a:ext cx="43053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920" b="1">
                <a:solidFill>
                  <a:srgbClr val="FF7B22"/>
                </a:solidFill>
                <a:latin typeface="IBM Plex Sans"/>
              </a:rPr>
              <a:t>USD 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38060" y="3246120"/>
            <a:ext cx="4229100" cy="708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0">
                <a:solidFill>
                  <a:srgbClr val="FFFFFF"/>
                </a:solidFill>
                <a:latin typeface="IBM Plex Sans"/>
              </a:rPr>
              <a:t>Ticket médio usado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0">
                <a:solidFill>
                  <a:srgbClr val="FFFFFF"/>
                </a:solidFill>
                <a:latin typeface="IBM Plex Sans"/>
              </a:rPr>
              <a:t>na simulação.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8060" y="4297680"/>
            <a:ext cx="4229100" cy="1348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0">
                <a:solidFill>
                  <a:srgbClr val="FFFFFF"/>
                </a:solidFill>
                <a:latin typeface="IBM Plex Sans"/>
              </a:rPr>
              <a:t>Cada venda paga aquisição,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0">
                <a:solidFill>
                  <a:srgbClr val="FFFFFF"/>
                </a:solidFill>
                <a:latin typeface="IBM Plex Sans"/>
              </a:rPr>
              <a:t>plataforma e suporte.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0">
                <a:solidFill>
                  <a:srgbClr val="FFFFFF"/>
                </a:solidFill>
                <a:latin typeface="IBM Plex Sans"/>
              </a:rPr>
              <a:t>Repetir só com margem.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9120" y="5791200"/>
            <a:ext cx="11003280" cy="5257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5105C"/>
                </a:solidFill>
                <a:latin typeface="IBM Plex Sans"/>
              </a:rPr>
              <a:t>Primeiro, provar uma oferta. Depois, ampliar o catálogo. Nichos ainda a definir.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2788920"/>
            <a:ext cx="2133600" cy="110490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0" y="2788920"/>
            <a:ext cx="2133600" cy="1104900"/>
          </a:xfrm>
          <a:prstGeom prst="rect">
            <a:avLst/>
          </a:prstGeom>
          <a:solidFill>
            <a:srgbClr val="351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752600" y="4328160"/>
            <a:ext cx="2133600" cy="110490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51960" y="4328160"/>
            <a:ext cx="2133600" cy="110490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2781300" y="3345180"/>
            <a:ext cx="876300" cy="0"/>
          </a:xfrm>
          <a:prstGeom prst="line">
            <a:avLst/>
          </a:prstGeom>
          <a:ln w="30480">
            <a:solidFill>
              <a:srgbClr val="3510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2819400" y="3893820"/>
            <a:ext cx="1371599" cy="434340"/>
          </a:xfrm>
          <a:prstGeom prst="line">
            <a:avLst/>
          </a:prstGeom>
          <a:ln w="30480">
            <a:solidFill>
              <a:srgbClr val="3510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257800" y="3893820"/>
            <a:ext cx="60960" cy="434340"/>
          </a:xfrm>
          <a:prstGeom prst="line">
            <a:avLst/>
          </a:prstGeom>
          <a:ln w="30480">
            <a:solidFill>
              <a:srgbClr val="3510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07 / UM SERVIÇO DE MAIOR VALOR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Topologic: saber o que depende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de quê antes de mudar a TI.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340" y="2941320"/>
            <a:ext cx="179832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39" b="1">
                <a:solidFill>
                  <a:srgbClr val="29143D"/>
                </a:solidFill>
                <a:latin typeface="IBM Plex Sans"/>
              </a:rPr>
              <a:t>Portal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340" y="3398520"/>
            <a:ext cx="179832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Fonte: documento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25240" y="2941320"/>
            <a:ext cx="179832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39" b="1">
                <a:solidFill>
                  <a:srgbClr val="FFFFFF"/>
                </a:solidFill>
                <a:latin typeface="IBM Plex Sans"/>
              </a:rPr>
              <a:t>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25240" y="3398520"/>
            <a:ext cx="179832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FFFFFF"/>
                </a:solidFill>
                <a:latin typeface="IBM Plex Sans"/>
              </a:rPr>
              <a:t>Dono: operações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80560"/>
            <a:ext cx="179832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39" b="1">
                <a:solidFill>
                  <a:srgbClr val="29143D"/>
                </a:solidFill>
                <a:latin typeface="IBM Plex Sans"/>
              </a:rPr>
              <a:t>Dados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4937760"/>
            <a:ext cx="179832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Relação a validar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9600" y="4480560"/>
            <a:ext cx="179832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39" b="1">
                <a:solidFill>
                  <a:srgbClr val="29143D"/>
                </a:solidFill>
                <a:latin typeface="IBM Plex Sans"/>
              </a:rPr>
              <a:t>Identidade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9600" y="4937760"/>
            <a:ext cx="179832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Fonte: exportação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00900" y="2575560"/>
            <a:ext cx="4419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380" b="1">
                <a:solidFill>
                  <a:srgbClr val="35105C"/>
                </a:solidFill>
                <a:latin typeface="IBM Plex Sans"/>
              </a:rPr>
              <a:t>R$ 30 mil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08520" y="3368040"/>
            <a:ext cx="4305300" cy="1341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0">
                <a:solidFill>
                  <a:srgbClr val="29143D"/>
                </a:solidFill>
                <a:latin typeface="IBM Plex Sans"/>
              </a:rPr>
              <a:t>Mapa inicial de um domínio.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0">
                <a:solidFill>
                  <a:srgbClr val="29143D"/>
                </a:solidFill>
                <a:latin typeface="IBM Plex Sans"/>
              </a:rPr>
              <a:t>Até 40 sistemas / 80 relações.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0">
                <a:solidFill>
                  <a:srgbClr val="29143D"/>
                </a:solidFill>
                <a:latin typeface="IBM Plex Sans"/>
              </a:rPr>
              <a:t>80h diretas; preço proposto.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08520" y="5036820"/>
            <a:ext cx="43053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35105C"/>
                </a:solidFill>
                <a:latin typeface="IBM Plex Sans"/>
              </a:rPr>
              <a:t>Sistemas, dependências e lacunas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35105C"/>
                </a:solidFill>
                <a:latin typeface="IBM Plex Sans"/>
              </a:rPr>
              <a:t>em um material para decisão.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Mapa ilustrativo, sem dados de cliente. Oferta e prazo sujeitos a validação.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510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FF7B22"/>
                </a:solidFill>
                <a:latin typeface="IBM Plex Sans"/>
              </a:rPr>
              <a:t>08 / COMO A RECEITA ENTRA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FFFFFF"/>
                </a:solidFill>
                <a:latin typeface="IBM Plex Sans"/>
              </a:rPr>
              <a:t>aumi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FFFFFF"/>
                </a:solidFill>
                <a:latin typeface="IBM Plex Sans"/>
              </a:rPr>
              <a:t>Cobrar pela entrega.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FFFFFF"/>
                </a:solidFill>
                <a:latin typeface="IBM Plex Sans"/>
              </a:rPr>
              <a:t>Renovar pelo trabalho contínuo.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2697480"/>
            <a:ext cx="3543300" cy="3733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7B22"/>
                </a:solidFill>
                <a:latin typeface="IBM Plex Sans"/>
              </a:rPr>
              <a:t>POR PROJETO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9120" y="3284220"/>
            <a:ext cx="3543300" cy="6934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240" b="1">
                <a:solidFill>
                  <a:srgbClr val="FFFFFF"/>
                </a:solidFill>
                <a:latin typeface="IBM Plex Sans"/>
              </a:rPr>
              <a:t>R$ 18k / 30k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4206240"/>
            <a:ext cx="33909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0">
                <a:solidFill>
                  <a:srgbClr val="FFFFFF"/>
                </a:solidFill>
                <a:latin typeface="IBM Plex Sans"/>
              </a:rPr>
              <a:t>Automação / mapa de TI.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0">
                <a:solidFill>
                  <a:srgbClr val="FFFFFF"/>
                </a:solidFill>
                <a:latin typeface="IBM Plex Sans"/>
              </a:rPr>
              <a:t>Escopo fechado e aceite.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51020" y="2697480"/>
            <a:ext cx="3543300" cy="3733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7B22"/>
                </a:solidFill>
                <a:latin typeface="IBM Plex Sans"/>
              </a:rPr>
              <a:t>POR MÊS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51020" y="3284220"/>
            <a:ext cx="3543300" cy="6934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240" b="1">
                <a:solidFill>
                  <a:srgbClr val="FFFFFF"/>
                </a:solidFill>
                <a:latin typeface="IBM Plex Sans"/>
              </a:rPr>
              <a:t>R$ 4,5k / 3,5k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51020" y="4206240"/>
            <a:ext cx="33909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0">
                <a:solidFill>
                  <a:srgbClr val="FFFFFF"/>
                </a:solidFill>
                <a:latin typeface="IBM Plex Sans"/>
              </a:rPr>
              <a:t>Conteúdo / atendimento.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0">
                <a:solidFill>
                  <a:srgbClr val="FFFFFF"/>
                </a:solidFill>
                <a:latin typeface="IBM Plex Sans"/>
              </a:rPr>
              <a:t>Setup do atendimento: R$ 6k.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2920" y="2697480"/>
            <a:ext cx="3543300" cy="3733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7B22"/>
                </a:solidFill>
                <a:latin typeface="IBM Plex Sans"/>
              </a:rPr>
              <a:t>POR VENDA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2920" y="3284220"/>
            <a:ext cx="3543300" cy="6934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240" b="1">
                <a:solidFill>
                  <a:srgbClr val="FFFFFF"/>
                </a:solidFill>
                <a:latin typeface="IBM Plex Sans"/>
              </a:rPr>
              <a:t>USD 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2920" y="4206240"/>
            <a:ext cx="33909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0">
                <a:solidFill>
                  <a:srgbClr val="FFFFFF"/>
                </a:solidFill>
                <a:latin typeface="IBM Plex Sans"/>
              </a:rPr>
              <a:t>Produto digital próprio.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0">
                <a:solidFill>
                  <a:srgbClr val="FFFFFF"/>
                </a:solidFill>
                <a:latin typeface="IBM Plex Sans"/>
              </a:rPr>
              <a:t>Ticket médio simulado.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" y="5715000"/>
            <a:ext cx="11003280" cy="5257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7B22"/>
                </a:solidFill>
                <a:latin typeface="IBM Plex Sans"/>
              </a:rPr>
              <a:t>Preços para testar com compradores. Receita recorrente exige renovação.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6C45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D8C9E7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D8C9E7"/>
                </a:solidFill>
                <a:latin typeface="IBM Plex Sans"/>
              </a:rPr>
              <a:t>AUMI /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9120" y="2667000"/>
            <a:ext cx="2606040" cy="240030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703320" y="2667000"/>
            <a:ext cx="4732020" cy="2400300"/>
          </a:xfrm>
          <a:prstGeom prst="rect">
            <a:avLst/>
          </a:prstGeom>
          <a:solidFill>
            <a:srgbClr val="351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953500" y="2667000"/>
            <a:ext cx="2644140" cy="240030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3215640" y="3733799"/>
            <a:ext cx="388620" cy="0"/>
          </a:xfrm>
          <a:prstGeom prst="line">
            <a:avLst/>
          </a:prstGeom>
          <a:ln w="30480">
            <a:solidFill>
              <a:srgbClr val="3510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8473440" y="3733799"/>
            <a:ext cx="381000" cy="0"/>
          </a:xfrm>
          <a:prstGeom prst="line">
            <a:avLst/>
          </a:prstGeom>
          <a:ln w="30480">
            <a:solidFill>
              <a:srgbClr val="3510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09 / O PAPEL DA DGX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Por que uma máquina própria?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Para trabalhar em várias entregas.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6760" y="2819400"/>
            <a:ext cx="227076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39" b="1">
                <a:solidFill>
                  <a:srgbClr val="29143D"/>
                </a:solidFill>
                <a:latin typeface="IBM Plex Sans"/>
              </a:rPr>
              <a:t>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6760" y="3276600"/>
            <a:ext cx="2270760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Briefings e documentos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Código e testes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Políticas de atendimento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Fontes de TI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70960" y="2819400"/>
            <a:ext cx="439674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39" b="1">
                <a:solidFill>
                  <a:srgbClr val="FFFFFF"/>
                </a:solidFill>
                <a:latin typeface="IBM Plex Sans"/>
              </a:rPr>
              <a:t>BASE COMPARTILHADA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70960" y="3276600"/>
            <a:ext cx="4396740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FFFFFF"/>
                </a:solidFill>
                <a:latin typeface="IBM Plex Sans"/>
              </a:rPr>
              <a:t>1 DGX Spark • 128 GB • 4 TB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FFFFFF"/>
                </a:solidFill>
                <a:latin typeface="IBM Plex Sans"/>
              </a:rPr>
              <a:t>Modelos locais com vLLM ou SGLang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FFFFFF"/>
                </a:solidFill>
                <a:latin typeface="IBM Plex Sans"/>
              </a:rPr>
              <a:t>Fila por prioridade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FFFFFF"/>
                </a:solidFill>
                <a:latin typeface="IBM Plex Sans"/>
              </a:rPr>
              <a:t>Contexto separado por cliente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21140" y="2819400"/>
            <a:ext cx="230886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39" b="1">
                <a:solidFill>
                  <a:srgbClr val="29143D"/>
                </a:solidFill>
                <a:latin typeface="IBM Plex Sans"/>
              </a:rPr>
              <a:t>COMPLEMENTOS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1140" y="3276600"/>
            <a:ext cx="2308860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Pessoas e revisão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Aplicação / checkout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Cloud quando necessário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Backup separado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9120" y="5715000"/>
            <a:ext cx="11003280" cy="5257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5105C"/>
                </a:solidFill>
                <a:latin typeface="IBM Plex Sans"/>
              </a:rPr>
              <a:t>A compra precisa se justificar frente às APIs. Capacidade e economia serão medidas.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Fontes: NVIDIA DGX Spark Hardware e playbooks vLLM / SGLang. Links no apêndice.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934200" y="0"/>
            <a:ext cx="5257800" cy="6248400"/>
          </a:xfrm>
          <a:prstGeom prst="rect">
            <a:avLst/>
          </a:prstGeom>
          <a:solidFill>
            <a:srgbClr val="351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84520"/>
            <a:ext cx="1219200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10 / COMO EVITAR SOBRECARGA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06780"/>
            <a:ext cx="5943600" cy="1790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29143D"/>
                </a:solidFill>
                <a:latin typeface="IBM Plex Sans"/>
              </a:rPr>
              <a:t>Organizar a produção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29143D"/>
                </a:solidFill>
                <a:latin typeface="IBM Plex Sans"/>
              </a:rPr>
              <a:t>antes de prometer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29143D"/>
                </a:solidFill>
                <a:latin typeface="IBM Plex Sans"/>
              </a:rPr>
              <a:t>mais entregas.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335280"/>
            <a:ext cx="1143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FFFFFF"/>
                </a:solidFill>
                <a:latin typeface="IBM Plex Sans"/>
              </a:rPr>
              <a:t>aumi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03320"/>
            <a:ext cx="5699760" cy="1676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0">
                <a:solidFill>
                  <a:srgbClr val="29143D"/>
                </a:solidFill>
                <a:latin typeface="IBM Plex Sans"/>
              </a:rPr>
              <a:t>Medir custo e tempo por entrega.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0">
                <a:solidFill>
                  <a:srgbClr val="29143D"/>
                </a:solidFill>
                <a:latin typeface="IBM Plex Sans"/>
              </a:rPr>
              <a:t>Definir limites por contrato.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0">
                <a:solidFill>
                  <a:srgbClr val="29143D"/>
                </a:solidFill>
                <a:latin typeface="IBM Plex Sans"/>
              </a:rPr>
              <a:t>Expandir quando houver demanda.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99960" y="1676400"/>
            <a:ext cx="436626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7B22"/>
                </a:solidFill>
                <a:latin typeface="IBM Plex Sans"/>
              </a:rPr>
              <a:t>RESPOSTAS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99960" y="2194560"/>
            <a:ext cx="4244340" cy="701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FFFFFF"/>
                </a:solidFill>
                <a:latin typeface="IBM Plex Sans"/>
              </a:rPr>
              <a:t>Prioridade para atendimento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99960" y="3086100"/>
            <a:ext cx="436626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7B22"/>
                </a:solidFill>
                <a:latin typeface="IBM Plex Sans"/>
              </a:rPr>
              <a:t>PRODUÇÃO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9960" y="3604260"/>
            <a:ext cx="4244340" cy="701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FFFFFF"/>
                </a:solidFill>
                <a:latin typeface="IBM Plex Sans"/>
              </a:rPr>
              <a:t>Agendar conteúdo e código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9960" y="4495800"/>
            <a:ext cx="436626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7B22"/>
                </a:solidFill>
                <a:latin typeface="IBM Plex Sans"/>
              </a:rPr>
              <a:t>DESENVOLVIMENTO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99960" y="5013960"/>
            <a:ext cx="4244340" cy="701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FFFFFF"/>
                </a:solidFill>
                <a:latin typeface="IBM Plex Sans"/>
              </a:rPr>
              <a:t>Reservar espaço para mapas e P&amp;D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" y="5791200"/>
            <a:ext cx="11003280" cy="5257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5105C"/>
                </a:solidFill>
                <a:latin typeface="IBM Plex Sans"/>
              </a:rPr>
              <a:t>Mais contratos exigem capacidade de pessoas e máquina, não só espaço na fila.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9120" y="2628900"/>
            <a:ext cx="5372100" cy="268986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225540" y="2628900"/>
            <a:ext cx="5372100" cy="268986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11 / NOSSA PROPOSTA DE DIFERENCIAÇÃO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Por que contratar a AUMI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se já existem ferramentas?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796540"/>
            <a:ext cx="4975860" cy="35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1">
                <a:solidFill>
                  <a:srgbClr val="9A3D00"/>
                </a:solidFill>
                <a:latin typeface="IBM Plex Sans"/>
              </a:rPr>
              <a:t>ALTERNATIVA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53740"/>
            <a:ext cx="4975860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80" b="1">
                <a:solidFill>
                  <a:srgbClr val="29143D"/>
                </a:solidFill>
                <a:latin typeface="IBM Plex Sans"/>
              </a:rPr>
              <a:t>Comprar uma ferramenta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053840"/>
            <a:ext cx="49758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29143D"/>
                </a:solidFill>
                <a:latin typeface="IBM Plex Sans"/>
              </a:rPr>
              <a:t>A equipe do cliente ainda precisa configurar, produzir, conferir e manter o processo.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23660" y="2796540"/>
            <a:ext cx="4975860" cy="35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1">
                <a:solidFill>
                  <a:srgbClr val="9A3D00"/>
                </a:solidFill>
                <a:latin typeface="IBM Plex Sans"/>
              </a:rPr>
              <a:t>NOSSA OFERTA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3660" y="3253740"/>
            <a:ext cx="4975860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80" b="1">
                <a:solidFill>
                  <a:srgbClr val="29143D"/>
                </a:solidFill>
                <a:latin typeface="IBM Plex Sans"/>
              </a:rPr>
              <a:t>Contratar uma entrega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3660" y="4053840"/>
            <a:ext cx="49758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29143D"/>
                </a:solidFill>
                <a:latin typeface="IBM Plex Sans"/>
              </a:rPr>
              <a:t>A AUMI propõe assumir um escopo, usar o contexto do cliente e responder pela revisão.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9120" y="5821680"/>
            <a:ext cx="11003280" cy="5257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5105C"/>
                </a:solidFill>
                <a:latin typeface="IBM Plex Sans"/>
              </a:rPr>
              <a:t>A prova comercial será um piloto pago, com critério de aceite combinado.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510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9120" y="2720340"/>
            <a:ext cx="3505200" cy="20040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51020" y="2720340"/>
            <a:ext cx="3505200" cy="20040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22920" y="2720340"/>
            <a:ext cx="3505200" cy="20040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9120" y="5105400"/>
            <a:ext cx="11049000" cy="784860"/>
          </a:xfrm>
          <a:prstGeom prst="rect">
            <a:avLst/>
          </a:prstGeom>
          <a:solidFill>
            <a:srgbClr val="FF7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4107179" y="3726180"/>
            <a:ext cx="175261" cy="0"/>
          </a:xfrm>
          <a:prstGeom prst="line">
            <a:avLst/>
          </a:prstGeom>
          <a:ln w="30480">
            <a:solidFill>
              <a:srgbClr val="FF7B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879080" y="3726180"/>
            <a:ext cx="175260" cy="0"/>
          </a:xfrm>
          <a:prstGeom prst="line">
            <a:avLst/>
          </a:prstGeom>
          <a:ln w="30480">
            <a:solidFill>
              <a:srgbClr val="FF7B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FF7B22"/>
                </a:solidFill>
                <a:latin typeface="IBM Plex Sans"/>
              </a:rPr>
              <a:t>12 / VISIBILIDADE PARA OS SÓCIOS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FFFFFF"/>
                </a:solidFill>
                <a:latin typeface="IBM Plex Sans"/>
              </a:rPr>
              <a:t>aumi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FFFFFF"/>
                </a:solidFill>
                <a:latin typeface="IBM Plex Sans"/>
              </a:rPr>
              <a:t>Dani acompanha o caixa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FFFFFF"/>
                </a:solidFill>
                <a:latin typeface="IBM Plex Sans"/>
              </a:rPr>
              <a:t>e o que cada frente entrega.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6760" y="2872740"/>
            <a:ext cx="316992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39" b="1">
                <a:solidFill>
                  <a:srgbClr val="29143D"/>
                </a:solidFill>
                <a:latin typeface="IBM Plex Sans"/>
              </a:rPr>
              <a:t>VENDAS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6760" y="3329940"/>
            <a:ext cx="3169920" cy="13182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Quem comprou e quanto pagou.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Recebimentos e estornos.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8660" y="2872740"/>
            <a:ext cx="316992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39" b="1">
                <a:solidFill>
                  <a:srgbClr val="29143D"/>
                </a:solidFill>
                <a:latin typeface="IBM Plex Sans"/>
              </a:rPr>
              <a:t>ENTREGAS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8660" y="3329940"/>
            <a:ext cx="3169920" cy="13182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O que foi entregue e aceito.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Horas, custos e pendências.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0560" y="2872740"/>
            <a:ext cx="316992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39" b="1">
                <a:solidFill>
                  <a:srgbClr val="29143D"/>
                </a:solidFill>
                <a:latin typeface="IBM Plex Sans"/>
              </a:rPr>
              <a:t>CAIXA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0560" y="3329940"/>
            <a:ext cx="3169920" cy="13182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O que entrou e saiu.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Margem por oferta e saldo.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480" y="5303520"/>
            <a:ext cx="105918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1">
                <a:solidFill>
                  <a:srgbClr val="35105C"/>
                </a:solidFill>
                <a:latin typeface="IBM Plex Sans"/>
              </a:rPr>
              <a:t>Prestação mensal e orçamento conjunto. Agentes não autorizam gastos.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6C45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D8C9E7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D8C9E7"/>
                </a:solidFill>
                <a:latin typeface="IBM Plex Sans"/>
              </a:rPr>
              <a:t>AUMI /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9120" y="2667000"/>
            <a:ext cx="2118360" cy="246126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857500" y="2667000"/>
            <a:ext cx="2118360" cy="246126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135880" y="2667000"/>
            <a:ext cx="2118360" cy="246126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14259" y="2667000"/>
            <a:ext cx="2118360" cy="246126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692640" y="2667000"/>
            <a:ext cx="2118360" cy="246126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13 / CONTRIBUIÇÃO ESTIMADA POR VENDA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Quanto cada entrega deixa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para sustentar a operação.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6760" y="2887980"/>
            <a:ext cx="17907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35105C"/>
                </a:solidFill>
                <a:latin typeface="IBM Plex Sans"/>
              </a:rPr>
              <a:t>CONTEÚDO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6760" y="3642360"/>
            <a:ext cx="1828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340" b="1">
                <a:solidFill>
                  <a:srgbClr val="35105C"/>
                </a:solidFill>
                <a:latin typeface="IBM Plex Sans"/>
              </a:rPr>
              <a:t>R$ 2.000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6760" y="4511040"/>
            <a:ext cx="176784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9143D"/>
                </a:solidFill>
                <a:latin typeface="IBM Plex Sans"/>
              </a:rPr>
              <a:t>12h / cliente-mês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25140" y="2887980"/>
            <a:ext cx="17907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35105C"/>
                </a:solidFill>
                <a:latin typeface="IBM Plex Sans"/>
              </a:rPr>
              <a:t>CÓDIGO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25140" y="3642360"/>
            <a:ext cx="1828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340" b="1">
                <a:solidFill>
                  <a:srgbClr val="35105C"/>
                </a:solidFill>
                <a:latin typeface="IBM Plex Sans"/>
              </a:rPr>
              <a:t>R$ 6.600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25140" y="4511040"/>
            <a:ext cx="176784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9143D"/>
                </a:solidFill>
                <a:latin typeface="IBM Plex Sans"/>
              </a:rPr>
              <a:t>40h / projeto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887980"/>
            <a:ext cx="17907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35105C"/>
                </a:solidFill>
                <a:latin typeface="IBM Plex Sans"/>
              </a:rPr>
              <a:t>ATENDIMENTO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3642360"/>
            <a:ext cx="1828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340" b="1">
                <a:solidFill>
                  <a:srgbClr val="35105C"/>
                </a:solidFill>
                <a:latin typeface="IBM Plex Sans"/>
              </a:rPr>
              <a:t>R$ 1.630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4511040"/>
            <a:ext cx="176784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9143D"/>
                </a:solidFill>
                <a:latin typeface="IBM Plex Sans"/>
              </a:rPr>
              <a:t>8h / cliente-mês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1899" y="2887980"/>
            <a:ext cx="17907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35105C"/>
                </a:solidFill>
                <a:latin typeface="IBM Plex Sans"/>
              </a:rPr>
              <a:t>MAPA TI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1899" y="3642360"/>
            <a:ext cx="1828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340" b="1">
                <a:solidFill>
                  <a:srgbClr val="35105C"/>
                </a:solidFill>
                <a:latin typeface="IBM Plex Sans"/>
              </a:rPr>
              <a:t>R$ 9.600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1899" y="4511040"/>
            <a:ext cx="176784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9143D"/>
                </a:solidFill>
                <a:latin typeface="IBM Plex Sans"/>
              </a:rPr>
              <a:t>80h / projeto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60280" y="2887980"/>
            <a:ext cx="17907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35105C"/>
                </a:solidFill>
                <a:latin typeface="IBM Plex Sans"/>
              </a:rPr>
              <a:t>LOJA LATAM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60280" y="3642360"/>
            <a:ext cx="1828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340" b="1">
                <a:solidFill>
                  <a:srgbClr val="35105C"/>
                </a:solidFill>
                <a:latin typeface="IBM Plex Sans"/>
              </a:rPr>
              <a:t>USD 7,32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60280" y="4511040"/>
            <a:ext cx="176784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9143D"/>
                </a:solidFill>
                <a:latin typeface="IBM Plex Sans"/>
              </a:rPr>
              <a:t>CAC USD 10 / pedido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9120" y="5532120"/>
            <a:ext cx="11003280" cy="5257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5105C"/>
                </a:solidFill>
                <a:latin typeface="IBM Plex Sans"/>
              </a:rPr>
              <a:t>Ainda falta pagar os fixos: R$ 37 mil/mês no ano 1 e R$ 42 mil no ano 2.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974080"/>
            <a:ext cx="1082040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0">
                <a:solidFill>
                  <a:srgbClr val="685878"/>
                </a:solidFill>
                <a:latin typeface="IBM Plex Sans"/>
              </a:rPr>
              <a:t>Setup de atendimento: contribuição de R$ 1.000 (20h). Hipóteses detalhadas na planilha.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510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FF7B22"/>
                </a:solidFill>
                <a:latin typeface="IBM Plex Sans"/>
              </a:rPr>
              <a:t>14 / TRÊS CENÁRIOS DE 24 MESES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FFFFFF"/>
                </a:solidFill>
                <a:latin typeface="IBM Plex Sans"/>
              </a:rPr>
              <a:t>aumi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FFFFFF"/>
                </a:solidFill>
                <a:latin typeface="IBM Plex Sans"/>
              </a:rPr>
              <a:t>O prazo de retorno depende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FFFFFF"/>
                </a:solidFill>
                <a:latin typeface="IBM Plex Sans"/>
              </a:rPr>
              <a:t>do ritmo de vendas e dos custos.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2606040"/>
            <a:ext cx="34975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7B22"/>
                </a:solidFill>
                <a:latin typeface="IBM Plex Sans"/>
              </a:rPr>
              <a:t>CONSERVADOR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9120" y="3200400"/>
            <a:ext cx="3573780" cy="655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FFFFFF"/>
                </a:solidFill>
                <a:latin typeface="IBM Plex Sans"/>
              </a:rPr>
              <a:t>R$ 710 mil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3977639"/>
            <a:ext cx="3451860" cy="5257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0">
                <a:solidFill>
                  <a:srgbClr val="FFFFFF"/>
                </a:solidFill>
                <a:latin typeface="IBM Plex Sans"/>
              </a:rPr>
              <a:t>capital total com reserva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4594860"/>
            <a:ext cx="345186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FF7B22"/>
                </a:solidFill>
                <a:latin typeface="IBM Plex Sans"/>
              </a:rPr>
              <a:t>PAYBACK DO PROJETO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9120" y="4930140"/>
            <a:ext cx="345186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FF7B22"/>
                </a:solidFill>
                <a:latin typeface="IBM Plex Sans"/>
              </a:rPr>
              <a:t>Sem retorno em 24m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9120" y="5478780"/>
            <a:ext cx="345186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FFFFFF"/>
                </a:solidFill>
                <a:latin typeface="IBM Plex Sans"/>
              </a:rPr>
              <a:t>Caixa acum. M24: R$ -577,6 mil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51020" y="2606040"/>
            <a:ext cx="34975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7B22"/>
                </a:solidFill>
                <a:latin typeface="IBM Plex Sans"/>
              </a:rPr>
              <a:t>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51020" y="3200400"/>
            <a:ext cx="3573780" cy="655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FFFFFF"/>
                </a:solidFill>
                <a:latin typeface="IBM Plex Sans"/>
              </a:rPr>
              <a:t>R$ 430 mil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51020" y="3977639"/>
            <a:ext cx="3451860" cy="5257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0">
                <a:solidFill>
                  <a:srgbClr val="FFFFFF"/>
                </a:solidFill>
                <a:latin typeface="IBM Plex Sans"/>
              </a:rPr>
              <a:t>capital total com reserva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51020" y="4594860"/>
            <a:ext cx="345186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FF7B22"/>
                </a:solidFill>
                <a:latin typeface="IBM Plex Sans"/>
              </a:rPr>
              <a:t>PAYBACK DO PROJETO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51020" y="4930140"/>
            <a:ext cx="345186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FF7B22"/>
                </a:solidFill>
                <a:latin typeface="IBM Plex Sans"/>
              </a:rPr>
              <a:t>M14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51020" y="5478780"/>
            <a:ext cx="345186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FFFFFF"/>
                </a:solidFill>
                <a:latin typeface="IBM Plex Sans"/>
              </a:rPr>
              <a:t>Caixa acum. M24: R$ 1.293,6 mil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2920" y="2606040"/>
            <a:ext cx="34975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7B22"/>
                </a:solidFill>
                <a:latin typeface="IBM Plex Sans"/>
              </a:rPr>
              <a:t>ESCALA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2920" y="3200400"/>
            <a:ext cx="3573780" cy="655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FFFFFF"/>
                </a:solidFill>
                <a:latin typeface="IBM Plex Sans"/>
              </a:rPr>
              <a:t>R$ 410 mil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2920" y="3977639"/>
            <a:ext cx="3451860" cy="5257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0">
                <a:solidFill>
                  <a:srgbClr val="FFFFFF"/>
                </a:solidFill>
                <a:latin typeface="IBM Plex Sans"/>
              </a:rPr>
              <a:t>capital total com reserva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2920" y="4594860"/>
            <a:ext cx="345186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FF7B22"/>
                </a:solidFill>
                <a:latin typeface="IBM Plex Sans"/>
              </a:rPr>
              <a:t>PAYBACK DO PROJETO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2920" y="4930140"/>
            <a:ext cx="345186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FF7B22"/>
                </a:solidFill>
                <a:latin typeface="IBM Plex Sans"/>
              </a:rPr>
              <a:t>M11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2920" y="5478780"/>
            <a:ext cx="345186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FFFFFF"/>
                </a:solidFill>
                <a:latin typeface="IBM Plex Sans"/>
              </a:rPr>
              <a:t>Caixa acum. M24: R$ 3.138,0 mil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996940"/>
            <a:ext cx="10820400" cy="259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FF7B22"/>
                </a:solidFill>
                <a:latin typeface="IBM Plex Sans"/>
              </a:rPr>
              <a:t>Com CAC USD15, a base exige R$ 500 mil e recupera em M21. Vendas projetadas, não contratadas.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6C45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D8C9E7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D8C9E7"/>
                </a:solidFill>
                <a:latin typeface="IBM Plex Sans"/>
              </a:rPr>
              <a:t>AUMI /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9120" y="4724400"/>
            <a:ext cx="11049000" cy="1036320"/>
          </a:xfrm>
          <a:prstGeom prst="rect">
            <a:avLst/>
          </a:prstGeom>
          <a:solidFill>
            <a:srgbClr val="351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15 / PARA ONDE VAI O DINHEIRO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O investimento precisa pagar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a estrutura e o começo da operação.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6740" y="2628900"/>
            <a:ext cx="5334000" cy="701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35105C"/>
                </a:solidFill>
                <a:latin typeface="IBM Plex Sans"/>
              </a:rPr>
              <a:t>R$ 76 mil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6740" y="3451860"/>
            <a:ext cx="5334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35105C"/>
                </a:solidFill>
                <a:latin typeface="IBM Plex Sans"/>
              </a:rPr>
              <a:t>Máquina, proteção, rede,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35105C"/>
                </a:solidFill>
                <a:latin typeface="IBM Plex Sans"/>
              </a:rPr>
              <a:t>backup e periféricos.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59880" y="2628900"/>
            <a:ext cx="4945380" cy="701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35105C"/>
                </a:solidFill>
                <a:latin typeface="IBM Plex Sans"/>
              </a:rPr>
              <a:t>R$ 24 mil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59880" y="3451860"/>
            <a:ext cx="49453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35105C"/>
                </a:solidFill>
                <a:latin typeface="IBM Plex Sans"/>
              </a:rPr>
              <a:t>Preparação jurídica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35105C"/>
                </a:solidFill>
                <a:latin typeface="IBM Plex Sans"/>
              </a:rPr>
              <a:t>e segurança.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4860" y="4930140"/>
            <a:ext cx="10576560" cy="701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39" b="1">
                <a:solidFill>
                  <a:srgbClr val="FFFFFF"/>
                </a:solidFill>
                <a:latin typeface="IBM Plex Sans"/>
              </a:rPr>
              <a:t>R$ 100 mil cobrem a preparação inicial.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39" b="1">
                <a:solidFill>
                  <a:srgbClr val="FFFFFF"/>
                </a:solidFill>
                <a:latin typeface="IBM Plex Sans"/>
              </a:rPr>
              <a:t>O cenário-base exige R$ 430 mil no total, incluindo giro e reserva.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1980" y="5981700"/>
            <a:ext cx="1089660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80" b="0">
                <a:solidFill>
                  <a:srgbClr val="685878"/>
                </a:solidFill>
                <a:latin typeface="IBM Plex Sans"/>
              </a:rPr>
              <a:t>Com R$ 150 mil / 200 mil, sobram R$ 50 mil / 100 mil após a preparação. Cotação pendente.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0" y="0"/>
            <a:ext cx="5334000" cy="6248400"/>
          </a:xfrm>
          <a:prstGeom prst="rect">
            <a:avLst/>
          </a:prstGeom>
          <a:solidFill>
            <a:srgbClr val="351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84520"/>
            <a:ext cx="1219200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16 / SEPARAR AS DUAS CONTAS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06780"/>
            <a:ext cx="5943600" cy="1790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29143D"/>
                </a:solidFill>
                <a:latin typeface="IBM Plex Sans"/>
              </a:rPr>
              <a:t>Quando o negócio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29143D"/>
                </a:solidFill>
                <a:latin typeface="IBM Plex Sans"/>
              </a:rPr>
              <a:t>se paga? E quando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29143D"/>
                </a:solidFill>
                <a:latin typeface="IBM Plex Sans"/>
              </a:rPr>
              <a:t>a máquina compensa?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335280"/>
            <a:ext cx="1143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FFFFFF"/>
                </a:solidFill>
                <a:latin typeface="IBM Plex Sans"/>
              </a:rPr>
              <a:t>aumi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971800"/>
            <a:ext cx="56388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35105C"/>
                </a:solidFill>
                <a:latin typeface="IBM Plex Sans"/>
              </a:rPr>
              <a:t>RETORNO DO NEGÓCIO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3688080"/>
            <a:ext cx="5646420" cy="1676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29143D"/>
                </a:solidFill>
                <a:latin typeface="IBM Plex Sans"/>
              </a:rPr>
              <a:t>Recebimentos menos saídas.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29143D"/>
                </a:solidFill>
                <a:latin typeface="IBM Plex Sans"/>
              </a:rPr>
              <a:t>Na base simulada: M14.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29143D"/>
                </a:solidFill>
                <a:latin typeface="IBM Plex Sans"/>
              </a:rPr>
              <a:t>Depende das vendas, dos custos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29143D"/>
                </a:solidFill>
                <a:latin typeface="IBM Plex Sans"/>
              </a:rPr>
              <a:t>e do capital para executar.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4720" y="2598420"/>
            <a:ext cx="4419600" cy="5410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7B22"/>
                </a:solidFill>
                <a:latin typeface="IBM Plex Sans"/>
              </a:rPr>
              <a:t>BENEFÍCIO DA MÁQUINA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84720" y="3307080"/>
            <a:ext cx="4419600" cy="13030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580" b="1">
                <a:solidFill>
                  <a:srgbClr val="FFFFFF"/>
                </a:solidFill>
                <a:latin typeface="IBM Plex Sans"/>
              </a:rPr>
              <a:t>R$ 76 mil ÷ R$ 5 mil/mês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580" b="1">
                <a:solidFill>
                  <a:srgbClr val="FFFFFF"/>
                </a:solidFill>
                <a:latin typeface="IBM Plex Sans"/>
              </a:rPr>
              <a:t>= 15,2 meses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84720" y="4747260"/>
            <a:ext cx="4290060" cy="1013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IBM Plex Sans"/>
              </a:rPr>
              <a:t>Exemplo, não previsão.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IBM Plex Sans"/>
              </a:rPr>
              <a:t>R$ 5 mil de benefício líquido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IBM Plex Sans"/>
              </a:rPr>
              <a:t>adicional por mês.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9120" y="5814060"/>
            <a:ext cx="11003280" cy="5257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5105C"/>
                </a:solidFill>
                <a:latin typeface="IBM Plex Sans"/>
              </a:rPr>
              <a:t>A devolução do aporte de Dani dependerá do acordo entre os sócios.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9120" y="2667000"/>
            <a:ext cx="3543300" cy="287274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51020" y="2667000"/>
            <a:ext cx="3543300" cy="287274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22920" y="2667000"/>
            <a:ext cx="3543300" cy="287274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17 / COMO COMEÇAR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Os primeiros 90 dias servem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para conquistar e entregar a prova.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3147060" cy="35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1">
                <a:solidFill>
                  <a:srgbClr val="9A3D00"/>
                </a:solidFill>
                <a:latin typeface="IBM Plex Sans"/>
              </a:rPr>
              <a:t>1–30 DIAS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91840"/>
            <a:ext cx="3147060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80" b="1">
                <a:solidFill>
                  <a:srgbClr val="29143D"/>
                </a:solidFill>
                <a:latin typeface="IBM Plex Sans"/>
              </a:rPr>
              <a:t>Ouvir compradores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091939"/>
            <a:ext cx="31470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29143D"/>
                </a:solidFill>
                <a:latin typeface="IBM Plex Sans"/>
              </a:rPr>
              <a:t>10 conversas de nichos + 5 TI.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29143D"/>
                </a:solidFill>
                <a:latin typeface="IBM Plex Sans"/>
              </a:rPr>
              <a:t>Escolher uma oferta B2B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29143D"/>
                </a:solidFill>
                <a:latin typeface="IBM Plex Sans"/>
              </a:rPr>
              <a:t>e até 3 nichos.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9140" y="2834640"/>
            <a:ext cx="3147060" cy="35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1">
                <a:solidFill>
                  <a:srgbClr val="9A3D00"/>
                </a:solidFill>
                <a:latin typeface="IBM Plex Sans"/>
              </a:rPr>
              <a:t>31–60 DIAS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9140" y="3291840"/>
            <a:ext cx="3147060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80" b="1">
                <a:solidFill>
                  <a:srgbClr val="29143D"/>
                </a:solidFill>
                <a:latin typeface="IBM Plex Sans"/>
              </a:rPr>
              <a:t>Mostrar a entrega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9140" y="4091939"/>
            <a:ext cx="31470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29143D"/>
                </a:solidFill>
                <a:latin typeface="IBM Plex Sans"/>
              </a:rPr>
              <a:t>Até 3 ofertas testáveis.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29143D"/>
                </a:solidFill>
                <a:latin typeface="IBM Plex Sans"/>
              </a:rPr>
              <a:t>Conferir checkout e entrega.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29143D"/>
                </a:solidFill>
                <a:latin typeface="IBM Plex Sans"/>
              </a:rPr>
              <a:t>Validar a carga da máquina.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834640"/>
            <a:ext cx="3147060" cy="35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1">
                <a:solidFill>
                  <a:srgbClr val="9A3D00"/>
                </a:solidFill>
                <a:latin typeface="IBM Plex Sans"/>
              </a:rPr>
              <a:t>61–90 DIAS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291840"/>
            <a:ext cx="3147060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80" b="1">
                <a:solidFill>
                  <a:srgbClr val="29143D"/>
                </a:solidFill>
                <a:latin typeface="IBM Plex Sans"/>
              </a:rPr>
              <a:t>Vender e conferir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4091939"/>
            <a:ext cx="31470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29143D"/>
                </a:solidFill>
                <a:latin typeface="IBM Plex Sans"/>
              </a:rPr>
              <a:t>Meta: 50 vendas de loja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29143D"/>
                </a:solidFill>
                <a:latin typeface="IBM Plex Sans"/>
              </a:rPr>
              <a:t>e 1 mapa pago.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29143D"/>
                </a:solidFill>
                <a:latin typeface="IBM Plex Sans"/>
              </a:rPr>
              <a:t>Medir margem e qualidade.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9120" y="5875020"/>
            <a:ext cx="11003280" cy="5257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5105C"/>
                </a:solidFill>
                <a:latin typeface="IBM Plex Sans"/>
              </a:rPr>
              <a:t>Metas condicionadas a caixa e execução. Atendimento entra após validação.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5105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94360" y="4640580"/>
            <a:ext cx="10988040" cy="0"/>
          </a:xfrm>
          <a:prstGeom prst="line">
            <a:avLst/>
          </a:prstGeom>
          <a:ln w="22859">
            <a:solidFill>
              <a:srgbClr val="6C45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FF7B22"/>
                </a:solidFill>
                <a:latin typeface="IBM Plex Sans"/>
              </a:rPr>
              <a:t>18 / A PROPOSTA SOCIETÁRIA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FFFFFF"/>
                </a:solidFill>
                <a:latin typeface="IBM Plex Sans"/>
              </a:rPr>
              <a:t>aumi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FFFFFF"/>
                </a:solidFill>
                <a:latin typeface="IBM Plex Sans"/>
              </a:rPr>
              <a:t>Dani, a proposta é participar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FFFFFF"/>
                </a:solidFill>
                <a:latin typeface="IBM Plex Sans"/>
              </a:rPr>
              <a:t>da sociedade com 50%.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6740" y="2545080"/>
            <a:ext cx="5257800" cy="701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FF7B22"/>
                </a:solidFill>
                <a:latin typeface="IBM Plex Sans"/>
              </a:rPr>
              <a:t>50% AUMI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6740" y="3368040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FF7B22"/>
                </a:solidFill>
                <a:latin typeface="IBM Plex Sans"/>
              </a:rPr>
              <a:t>Marcos, Luciana e João, em conjunto.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FF7B22"/>
                </a:solidFill>
                <a:latin typeface="IBM Plex Sans"/>
              </a:rPr>
              <a:t>Divisão interna a definir.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4180" y="2545080"/>
            <a:ext cx="4800600" cy="701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IBM Plex Sans"/>
              </a:rPr>
              <a:t>50% Dani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4180" y="3368040"/>
            <a:ext cx="4800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FFFFFF"/>
                </a:solidFill>
                <a:latin typeface="IBM Plex Sans"/>
              </a:rPr>
              <a:t>Participação proposta.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FFFFFF"/>
                </a:solidFill>
                <a:latin typeface="IBM Plex Sans"/>
              </a:rPr>
              <a:t>Aporte e papel a combinar.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4953000"/>
            <a:ext cx="109194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FFFFFF"/>
                </a:solidFill>
                <a:latin typeface="IBM Plex Sans"/>
              </a:rPr>
              <a:t>Antes do aporte: combinar trabalho, remuneração e distribuição.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FFFFFF"/>
                </a:solidFill>
                <a:latin typeface="IBM Plex Sans"/>
              </a:rPr>
              <a:t>Formalizar orçamento, propriedade intelectual, impasse e saída.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6C45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D8C9E7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D8C9E7"/>
                </a:solidFill>
                <a:latin typeface="IBM Plex Sans"/>
              </a:rPr>
              <a:t>AUMI /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7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19 / PRÓXIMO PASSO PROPOSTO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9120" y="1356360"/>
            <a:ext cx="11049000" cy="2514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80" b="1">
                <a:solidFill>
                  <a:srgbClr val="35105C"/>
                </a:solidFill>
                <a:latin typeface="IBM Plex Sans"/>
              </a:rPr>
              <a:t>Vamos começar pela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80" b="1">
                <a:solidFill>
                  <a:srgbClr val="35105C"/>
                </a:solidFill>
                <a:latin typeface="IBM Plex Sans"/>
              </a:rPr>
              <a:t>primeira oferta paga.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4840" y="4434840"/>
            <a:ext cx="10820400" cy="11201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340" b="0">
                <a:solidFill>
                  <a:srgbClr val="35105C"/>
                </a:solidFill>
                <a:latin typeface="IBM Plex Sans"/>
              </a:rPr>
              <a:t>Escolher a oferta, o responsável e o limite de gasto.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340" b="0">
                <a:solidFill>
                  <a:srgbClr val="35105C"/>
                </a:solidFill>
                <a:latin typeface="IBM Plex Sans"/>
              </a:rPr>
              <a:t>Com a entrega aceita e a margem medida, decidir a expansão.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40" y="5821680"/>
            <a:ext cx="10820400" cy="327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35105C"/>
                </a:solidFill>
                <a:latin typeface="IBM Plex Sans"/>
              </a:rPr>
              <a:t>Proposta: financiar por etapas, com sociedade e critérios acordados.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9120" y="2476500"/>
            <a:ext cx="11049000" cy="556260"/>
          </a:xfrm>
          <a:prstGeom prst="rect">
            <a:avLst/>
          </a:prstGeom>
          <a:solidFill>
            <a:srgbClr val="351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9120" y="3032760"/>
            <a:ext cx="11049000" cy="55626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9120" y="3589020"/>
            <a:ext cx="11049000" cy="556260"/>
          </a:xfrm>
          <a:prstGeom prst="rect">
            <a:avLst/>
          </a:prstGeom>
          <a:solidFill>
            <a:srgbClr val="F8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9120" y="4145280"/>
            <a:ext cx="11049000" cy="55626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79120" y="4701540"/>
            <a:ext cx="11049000" cy="556260"/>
          </a:xfrm>
          <a:prstGeom prst="rect">
            <a:avLst/>
          </a:prstGeom>
          <a:solidFill>
            <a:srgbClr val="F8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9120" y="5257800"/>
            <a:ext cx="11049000" cy="55626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A01 / ESCOPO PROPOSTO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Ofertas de teste: o que entra no preço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280" y="2583180"/>
            <a:ext cx="275463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Oferta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99510" y="2583180"/>
            <a:ext cx="783717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Preço e escopo delimitado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6280" y="3139440"/>
            <a:ext cx="275463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Conteúdo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99510" y="3139440"/>
            <a:ext cx="783717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R$4.500/mês • 12 peças + 4 roteiros • 1 revisão • 12h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6280" y="3695700"/>
            <a:ext cx="275463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Código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99510" y="3695700"/>
            <a:ext cx="783717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R$18.000/projeto • 1 fluxo autorizado • até 40h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6280" y="4251960"/>
            <a:ext cx="275463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Atendimento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99510" y="4251960"/>
            <a:ext cx="783717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R$3.500/mês • 8h revisão/suporte • limites a homologar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6280" y="4808220"/>
            <a:ext cx="275463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Setup atendimento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99510" y="4808220"/>
            <a:ext cx="783717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R$6.000/novo cliente • 20h • base e escalonamento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6280" y="5364480"/>
            <a:ext cx="275463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Mapa TI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99510" y="5364480"/>
            <a:ext cx="783717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R$30.000 • 80h • 1 domínio • 2 fontes e 2 validações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1980" y="6042660"/>
            <a:ext cx="10896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685878"/>
                </a:solidFill>
                <a:latin typeface="IBM Plex Sans"/>
              </a:rPr>
              <a:t>Conteúdo: vídeo final, voz e imagem avançada fora do pacote. Atendimento não é ilimitado.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9120" y="2468880"/>
            <a:ext cx="11049000" cy="548640"/>
          </a:xfrm>
          <a:prstGeom prst="rect">
            <a:avLst/>
          </a:prstGeom>
          <a:solidFill>
            <a:srgbClr val="351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9120" y="3017520"/>
            <a:ext cx="11049000" cy="54864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9120" y="3566160"/>
            <a:ext cx="11049000" cy="548640"/>
          </a:xfrm>
          <a:prstGeom prst="rect">
            <a:avLst/>
          </a:prstGeom>
          <a:solidFill>
            <a:srgbClr val="F8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9120" y="4114800"/>
            <a:ext cx="11049000" cy="54864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79120" y="4663440"/>
            <a:ext cx="11049000" cy="548640"/>
          </a:xfrm>
          <a:prstGeom prst="rect">
            <a:avLst/>
          </a:prstGeom>
          <a:solidFill>
            <a:srgbClr val="F8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9120" y="5212080"/>
            <a:ext cx="11049000" cy="54864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A02 / ECONOMIA UNITÁRIA B2B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Custos por oferta antes da estrutura fixa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280" y="2575560"/>
            <a:ext cx="253365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FFFFFF"/>
                </a:solidFill>
                <a:latin typeface="IBM Plex Sans"/>
              </a:rPr>
              <a:t>Oferta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8530" y="2575560"/>
            <a:ext cx="142875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FFFFFF"/>
                </a:solidFill>
                <a:latin typeface="IBM Plex Sans"/>
              </a:rPr>
              <a:t>Preço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35880" y="2575560"/>
            <a:ext cx="231267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FFFFFF"/>
                </a:solidFill>
                <a:latin typeface="IBM Plex Sans"/>
              </a:rPr>
              <a:t>Horas / custo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77150" y="2575560"/>
            <a:ext cx="1981199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FFFFFF"/>
                </a:solidFill>
                <a:latin typeface="IBM Plex Sans"/>
              </a:rPr>
              <a:t>Outros custos¹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86950" y="2575560"/>
            <a:ext cx="164973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FFFFFF"/>
                </a:solidFill>
                <a:latin typeface="IBM Plex Sans"/>
              </a:rPr>
              <a:t>Contribuição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280" y="3124200"/>
            <a:ext cx="253365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29143D"/>
                </a:solidFill>
                <a:latin typeface="IBM Plex Sans"/>
              </a:rPr>
              <a:t>Conteúdo / mês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8530" y="3124200"/>
            <a:ext cx="142875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4.500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35880" y="3124200"/>
            <a:ext cx="231267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12h / 1.440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77150" y="3124200"/>
            <a:ext cx="1981199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1.060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86950" y="3124200"/>
            <a:ext cx="164973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2.000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6280" y="3672840"/>
            <a:ext cx="253365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29143D"/>
                </a:solidFill>
                <a:latin typeface="IBM Plex Sans"/>
              </a:rPr>
              <a:t>Código / projeto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8530" y="3672840"/>
            <a:ext cx="142875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18.000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5880" y="3672840"/>
            <a:ext cx="231267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40h / 7.200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77150" y="3672840"/>
            <a:ext cx="1981199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4.200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86950" y="3672840"/>
            <a:ext cx="164973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6.600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280" y="4221480"/>
            <a:ext cx="253365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29143D"/>
                </a:solidFill>
                <a:latin typeface="IBM Plex Sans"/>
              </a:rPr>
              <a:t>Atend. / mês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8530" y="4221480"/>
            <a:ext cx="142875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3.500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35880" y="4221480"/>
            <a:ext cx="231267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8h / 960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77150" y="4221480"/>
            <a:ext cx="1981199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910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86950" y="4221480"/>
            <a:ext cx="164973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1.630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6280" y="4770120"/>
            <a:ext cx="253365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29143D"/>
                </a:solidFill>
                <a:latin typeface="IBM Plex Sans"/>
              </a:rPr>
              <a:t>Setup atend.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78530" y="4770120"/>
            <a:ext cx="142875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6.000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35880" y="4770120"/>
            <a:ext cx="231267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20h / 3.600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77150" y="4770120"/>
            <a:ext cx="1981199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1.400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86950" y="4770120"/>
            <a:ext cx="164973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1.000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280" y="5318760"/>
            <a:ext cx="253365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29143D"/>
                </a:solidFill>
                <a:latin typeface="IBM Plex Sans"/>
              </a:rPr>
              <a:t>Mapa / projeto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78530" y="5318760"/>
            <a:ext cx="142875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30.000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35880" y="5318760"/>
            <a:ext cx="231267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80h / 14.400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77150" y="5318760"/>
            <a:ext cx="1981199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6.000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86950" y="5318760"/>
            <a:ext cx="164973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9.600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1980" y="5989320"/>
            <a:ext cx="10896600" cy="327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685878"/>
                </a:solidFill>
                <a:latin typeface="IBM Plex Sans"/>
              </a:rPr>
              <a:t>¹ Tributos + comercial + ferramentas/meios variáveis. Valores completos e fórmulas no XLSX.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9120" y="2461260"/>
            <a:ext cx="7010400" cy="548640"/>
          </a:xfrm>
          <a:prstGeom prst="rect">
            <a:avLst/>
          </a:prstGeom>
          <a:solidFill>
            <a:srgbClr val="351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9120" y="3009900"/>
            <a:ext cx="7010400" cy="54864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9120" y="3558540"/>
            <a:ext cx="7010400" cy="548640"/>
          </a:xfrm>
          <a:prstGeom prst="rect">
            <a:avLst/>
          </a:prstGeom>
          <a:solidFill>
            <a:srgbClr val="F8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9120" y="4107179"/>
            <a:ext cx="7010400" cy="54864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79120" y="4655820"/>
            <a:ext cx="7010400" cy="548640"/>
          </a:xfrm>
          <a:prstGeom prst="rect">
            <a:avLst/>
          </a:prstGeom>
          <a:solidFill>
            <a:srgbClr val="F8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9120" y="5204460"/>
            <a:ext cx="7010400" cy="54864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A03 / POR PEDIDO APROVADO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Loja: contribuição não é lucro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280" y="2567940"/>
            <a:ext cx="4398264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Componente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3144" y="2567940"/>
            <a:ext cx="2154936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6280" y="3116580"/>
            <a:ext cx="4398264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Ticket / receita após estornos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3144" y="3116580"/>
            <a:ext cx="2154936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29,00000 / 26,68000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6280" y="3665220"/>
            <a:ext cx="4398264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Taxa plataforma após estornos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3144" y="3665220"/>
            <a:ext cx="2154936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−3,56132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6280" y="4213860"/>
            <a:ext cx="4398264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Tributos15% + meios/câmbio3%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3144" y="4213860"/>
            <a:ext cx="2154936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−4,80240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6280" y="4762500"/>
            <a:ext cx="4398264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CAC + suporte por pedido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3144" y="4762500"/>
            <a:ext cx="2154936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−11,00000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6280" y="5311140"/>
            <a:ext cx="4398264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Contribuição por pedido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3144" y="5311140"/>
            <a:ext cx="2154936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7,31628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720340"/>
            <a:ext cx="3383280" cy="716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240" b="1">
                <a:solidFill>
                  <a:srgbClr val="35105C"/>
                </a:solidFill>
                <a:latin typeface="IBM Plex Sans"/>
              </a:rPr>
              <a:t>R$ 36,5814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3596640"/>
            <a:ext cx="3291840" cy="11201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29143D"/>
                </a:solidFill>
                <a:latin typeface="IBM Plex Sans"/>
              </a:rPr>
              <a:t>Por pedido, a câmbio5.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29143D"/>
                </a:solidFill>
                <a:latin typeface="IBM Plex Sans"/>
              </a:rPr>
              <a:t>Hipótese, não cotação.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29143D"/>
                </a:solidFill>
                <a:latin typeface="IBM Plex Sans"/>
              </a:rPr>
              <a:t>Recebimento M+1.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5013960"/>
            <a:ext cx="3291840" cy="10439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9A3D00"/>
                </a:solidFill>
                <a:latin typeface="IBM Plex Sans"/>
              </a:rPr>
              <a:t>CAC15 → contribuição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9A3D00"/>
                </a:solidFill>
                <a:latin typeface="IBM Plex Sans"/>
              </a:rPr>
              <a:t>USD2,31628.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9A3D00"/>
                </a:solidFill>
                <a:latin typeface="IBM Plex Sans"/>
              </a:rPr>
              <a:t>Não presumir tráfego grátis.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9120" y="2476500"/>
            <a:ext cx="6553200" cy="548640"/>
          </a:xfrm>
          <a:prstGeom prst="rect">
            <a:avLst/>
          </a:prstGeom>
          <a:solidFill>
            <a:srgbClr val="351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9120" y="3025140"/>
            <a:ext cx="6553200" cy="54864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9120" y="3573780"/>
            <a:ext cx="6553200" cy="548640"/>
          </a:xfrm>
          <a:prstGeom prst="rect">
            <a:avLst/>
          </a:prstGeom>
          <a:solidFill>
            <a:srgbClr val="F8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9120" y="4122420"/>
            <a:ext cx="6553200" cy="54864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79120" y="4671060"/>
            <a:ext cx="6553200" cy="548640"/>
          </a:xfrm>
          <a:prstGeom prst="rect">
            <a:avLst/>
          </a:prstGeom>
          <a:solidFill>
            <a:srgbClr val="F8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9120" y="5219700"/>
            <a:ext cx="6553200" cy="54864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A04 / EQUIPE E PREPARAÇÃO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O fixo é contado uma vez.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A entrega vem além dele.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280" y="2583180"/>
            <a:ext cx="4751832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Envelope mensal • ano1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6712" y="2583180"/>
            <a:ext cx="1344168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R$ mil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6280" y="3131820"/>
            <a:ext cx="4751832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Produto / engenharia-P&amp;D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6712" y="3131820"/>
            <a:ext cx="1344168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8 / 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6280" y="3680460"/>
            <a:ext cx="4751832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Especialistas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96712" y="3680460"/>
            <a:ext cx="1344168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6280" y="4229100"/>
            <a:ext cx="4751832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Cloud / ferramentas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96712" y="4229100"/>
            <a:ext cx="1344168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 /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6280" y="4777740"/>
            <a:ext cx="4751832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Prospecção / administração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96712" y="4777740"/>
            <a:ext cx="1344168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1,5 /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6280" y="5326380"/>
            <a:ext cx="4751832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Energia / total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96712" y="5326380"/>
            <a:ext cx="1344168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0,5 / 37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58100" y="2567940"/>
            <a:ext cx="3810000" cy="601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340" b="1">
                <a:solidFill>
                  <a:srgbClr val="35105C"/>
                </a:solidFill>
                <a:latin typeface="IBM Plex Sans"/>
              </a:rPr>
              <a:t>ANO 2 / R$ 42 MIL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58100" y="3436620"/>
            <a:ext cx="3886200" cy="1196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9143D"/>
                </a:solidFill>
                <a:latin typeface="IBM Plex Sans"/>
              </a:rPr>
              <a:t>M0 equipamento: 76k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9143D"/>
                </a:solidFill>
                <a:latin typeface="IBM Plex Sans"/>
              </a:rPr>
              <a:t>DGX65 + proteção4 + rede2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9143D"/>
                </a:solidFill>
                <a:latin typeface="IBM Plex Sans"/>
              </a:rPr>
              <a:t>+ backup3 + periféricos2.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58100" y="4846320"/>
            <a:ext cx="3886200" cy="11353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9143D"/>
                </a:solidFill>
                <a:latin typeface="IBM Plex Sans"/>
              </a:rPr>
              <a:t>M0 preparação: 24k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9143D"/>
                </a:solidFill>
                <a:latin typeface="IBM Plex Sans"/>
              </a:rPr>
              <a:t>Jurídico12 + segurança12.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9143D"/>
                </a:solidFill>
                <a:latin typeface="IBM Plex Sans"/>
              </a:rPr>
              <a:t>Cotação e contratos pendentes.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9120" y="2476500"/>
            <a:ext cx="11049000" cy="662940"/>
          </a:xfrm>
          <a:prstGeom prst="rect">
            <a:avLst/>
          </a:prstGeom>
          <a:solidFill>
            <a:srgbClr val="351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9120" y="3139440"/>
            <a:ext cx="11049000" cy="66294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9120" y="3802380"/>
            <a:ext cx="11049000" cy="662940"/>
          </a:xfrm>
          <a:prstGeom prst="rect">
            <a:avLst/>
          </a:prstGeom>
          <a:solidFill>
            <a:srgbClr val="F8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9120" y="4465320"/>
            <a:ext cx="11049000" cy="66294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A05 / CAPACIDADE NO MÊS24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Cenário mensal exige gente e aquisição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280" y="2583180"/>
            <a:ext cx="176022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FFFFFF"/>
                </a:solidFill>
                <a:latin typeface="IBM Plex Sans"/>
              </a:rPr>
              <a:t>M24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05100" y="2583180"/>
            <a:ext cx="209169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FFFFFF"/>
                </a:solidFill>
                <a:latin typeface="IBM Plex Sans"/>
              </a:rPr>
              <a:t>Bruto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5390" y="2583180"/>
            <a:ext cx="220218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FFFFFF"/>
                </a:solidFill>
                <a:latin typeface="IBM Plex Sans"/>
              </a:rPr>
              <a:t>Contribuição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56170" y="2583180"/>
            <a:ext cx="220218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FFFFFF"/>
                </a:solidFill>
                <a:latin typeface="IBM Plex Sans"/>
              </a:rPr>
              <a:t>Após fixo42k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86950" y="2583180"/>
            <a:ext cx="164973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FFFFFF"/>
                </a:solidFill>
                <a:latin typeface="IBM Plex Sans"/>
              </a:rPr>
              <a:t>Horas diretas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6280" y="3246120"/>
            <a:ext cx="176022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29143D"/>
                </a:solidFill>
                <a:latin typeface="IBM Plex Sans"/>
              </a:rPr>
              <a:t>Conservador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05100" y="3246120"/>
            <a:ext cx="209169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R$ 142,8 mil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5390" y="3246120"/>
            <a:ext cx="220218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R$ 41,3 mil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6170" y="3246120"/>
            <a:ext cx="220218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R$ -0,7 mil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86950" y="3246120"/>
            <a:ext cx="164973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80h / 0,5 equiv.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6280" y="3909060"/>
            <a:ext cx="176022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29143D"/>
                </a:solidFill>
                <a:latin typeface="IBM Plex Sans"/>
              </a:rPr>
              <a:t>Base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05100" y="3909060"/>
            <a:ext cx="209169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R$ 615,0 mil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5390" y="3909060"/>
            <a:ext cx="220218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R$ 178,5 mil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6170" y="3909060"/>
            <a:ext cx="220218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R$ 136,5 mil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86950" y="3909060"/>
            <a:ext cx="164973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448h / 2,8 equiv.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6280" y="4572000"/>
            <a:ext cx="176022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29143D"/>
                </a:solidFill>
                <a:latin typeface="IBM Plex Sans"/>
              </a:rPr>
              <a:t>Escala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05100" y="4572000"/>
            <a:ext cx="209169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R$ 1.007,5 mil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5390" y="4572000"/>
            <a:ext cx="220218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R$ 291,0 mil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6170" y="4572000"/>
            <a:ext cx="220218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R$ 249,0 mil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86950" y="4572000"/>
            <a:ext cx="164973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29143D"/>
                </a:solidFill>
                <a:latin typeface="IBM Plex Sans"/>
              </a:rPr>
              <a:t>700h / 4,4 equiv.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5394960"/>
            <a:ext cx="10896600" cy="708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5105C"/>
                </a:solidFill>
                <a:latin typeface="IBM Plex Sans"/>
              </a:rPr>
              <a:t>Horas apenas de serviços. Loja, gestão, comercial e P&amp;D não dimensionados aqui.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5105C"/>
                </a:solidFill>
                <a:latin typeface="IBM Plex Sans"/>
              </a:rPr>
              <a:t>Equivalência em 160h: não é equipe contratada nem capacidade de GPU.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609600" y="3482340"/>
            <a:ext cx="10972800" cy="0"/>
          </a:xfrm>
          <a:prstGeom prst="line">
            <a:avLst/>
          </a:prstGeom>
          <a:ln w="15240">
            <a:solidFill>
              <a:srgbClr val="EEE7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609600" y="4587240"/>
            <a:ext cx="10972800" cy="0"/>
          </a:xfrm>
          <a:prstGeom prst="line">
            <a:avLst/>
          </a:prstGeom>
          <a:ln w="15240">
            <a:solidFill>
              <a:srgbClr val="EEE7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09600" y="5692140"/>
            <a:ext cx="10972800" cy="0"/>
          </a:xfrm>
          <a:prstGeom prst="line">
            <a:avLst/>
          </a:prstGeom>
          <a:ln w="15240">
            <a:solidFill>
              <a:srgbClr val="EEE7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A06 / FÓRMULAS E RECEBIMENTO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Receita, margem e caixa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respondem perguntas diferentes.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514600"/>
            <a:ext cx="22098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35105C"/>
                </a:solidFill>
                <a:latin typeface="IBM Plex Sans"/>
              </a:rPr>
              <a:t>MARGEM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24200" y="2514600"/>
            <a:ext cx="8381999" cy="838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0">
                <a:solidFill>
                  <a:srgbClr val="29143D"/>
                </a:solidFill>
                <a:latin typeface="IBM Plex Sans"/>
              </a:rPr>
              <a:t>Receita após estornos − variáveis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0">
                <a:solidFill>
                  <a:srgbClr val="29143D"/>
                </a:solidFill>
                <a:latin typeface="IBM Plex Sans"/>
              </a:rPr>
              <a:t>= contribuição; depois tirar o fixo.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619500"/>
            <a:ext cx="22098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35105C"/>
                </a:solidFill>
                <a:latin typeface="IBM Plex Sans"/>
              </a:rPr>
              <a:t>CAIXA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24200" y="3619500"/>
            <a:ext cx="8381999" cy="838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0">
                <a:solidFill>
                  <a:srgbClr val="29143D"/>
                </a:solidFill>
                <a:latin typeface="IBM Plex Sans"/>
              </a:rPr>
              <a:t>Recebimentos − saídas do mês.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0">
                <a:solidFill>
                  <a:srgbClr val="29143D"/>
                </a:solidFill>
                <a:latin typeface="IBM Plex Sans"/>
              </a:rPr>
              <a:t>LojaM+1; projetos50/50; recorrência atual.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724400"/>
            <a:ext cx="22098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35105C"/>
                </a:solidFill>
                <a:latin typeface="IBM Plex Sans"/>
              </a:rPr>
              <a:t>CAPITAL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4200" y="4724400"/>
            <a:ext cx="8381999" cy="838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0">
                <a:solidFill>
                  <a:srgbClr val="29143D"/>
                </a:solidFill>
                <a:latin typeface="IBM Plex Sans"/>
              </a:rPr>
              <a:t>Pico de déficit (inclui M0) + R$126k.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0">
                <a:solidFill>
                  <a:srgbClr val="29143D"/>
                </a:solidFill>
                <a:latin typeface="IBM Plex Sans"/>
              </a:rPr>
              <a:t>Arredondar para cima a cada R$10k.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9120" y="2423160"/>
            <a:ext cx="11049000" cy="495299"/>
          </a:xfrm>
          <a:prstGeom prst="rect">
            <a:avLst/>
          </a:prstGeom>
          <a:solidFill>
            <a:srgbClr val="351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9120" y="2918460"/>
            <a:ext cx="11049000" cy="495299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9120" y="3413760"/>
            <a:ext cx="11049000" cy="495299"/>
          </a:xfrm>
          <a:prstGeom prst="rect">
            <a:avLst/>
          </a:prstGeom>
          <a:solidFill>
            <a:srgbClr val="F8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9120" y="3909060"/>
            <a:ext cx="11049000" cy="495299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79120" y="4404360"/>
            <a:ext cx="11049000" cy="495299"/>
          </a:xfrm>
          <a:prstGeom prst="rect">
            <a:avLst/>
          </a:prstGeom>
          <a:solidFill>
            <a:srgbClr val="F8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9120" y="4899660"/>
            <a:ext cx="11049000" cy="495299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9120" y="5394960"/>
            <a:ext cx="11049000" cy="495299"/>
          </a:xfrm>
          <a:prstGeom prst="rect">
            <a:avLst/>
          </a:prstGeom>
          <a:solidFill>
            <a:srgbClr val="F8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A07 / FLUXO AMPLIADO MENSAL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Agenda-base: meses 1 a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6280" y="2529840"/>
            <a:ext cx="8763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Mês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1180" y="25298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Bruto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99510" y="252984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Após estornos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09310" y="25298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Contribuição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98129" y="25298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Caixa líquido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6460" y="25298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Acumulado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6280" y="3025140"/>
            <a:ext cx="8763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1180" y="30251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0,0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99510" y="302514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0,0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09310" y="30251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0,0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98129" y="30251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-37,0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76460" y="30251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-137,0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6280" y="3520440"/>
            <a:ext cx="8763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1180" y="35204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0,0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99510" y="352044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0,0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09310" y="35204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0,0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98129" y="35204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-37,0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76460" y="35204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-174,0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6280" y="4015740"/>
            <a:ext cx="8763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1180" y="40157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59,8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99510" y="401574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59,2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09310" y="40157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20,0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98129" y="40157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-46,0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76460" y="40157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-220,0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280" y="4511040"/>
            <a:ext cx="8763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21180" y="45110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58,2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99510" y="451104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56,5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09310" y="45110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18,7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98129" y="45110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-15,6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76460" y="45110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-235,6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6280" y="5006340"/>
            <a:ext cx="8763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21180" y="50063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118,0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99510" y="500634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114,5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09310" y="50063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37,4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98129" y="50063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-31,2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76460" y="50063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-266,7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6280" y="5501640"/>
            <a:ext cx="8763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821180" y="55016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115,5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99510" y="550164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109,7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09310" y="55016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36,2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98129" y="55016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-9,7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776460" y="55016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-276,5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9600" y="6035040"/>
            <a:ext cx="10668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80" b="0">
                <a:solidFill>
                  <a:srgbClr val="685878"/>
                </a:solidFill>
                <a:latin typeface="IBM Plex Sans"/>
              </a:rPr>
              <a:t>R$ mil • Competência e recebimento separados • Simulação, não pipeline existente.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9120" y="2423160"/>
            <a:ext cx="11049000" cy="495299"/>
          </a:xfrm>
          <a:prstGeom prst="rect">
            <a:avLst/>
          </a:prstGeom>
          <a:solidFill>
            <a:srgbClr val="351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9120" y="2918460"/>
            <a:ext cx="11049000" cy="495299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9120" y="3413760"/>
            <a:ext cx="11049000" cy="495299"/>
          </a:xfrm>
          <a:prstGeom prst="rect">
            <a:avLst/>
          </a:prstGeom>
          <a:solidFill>
            <a:srgbClr val="F8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9120" y="3909060"/>
            <a:ext cx="11049000" cy="495299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79120" y="4404360"/>
            <a:ext cx="11049000" cy="495299"/>
          </a:xfrm>
          <a:prstGeom prst="rect">
            <a:avLst/>
          </a:prstGeom>
          <a:solidFill>
            <a:srgbClr val="F8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9120" y="4899660"/>
            <a:ext cx="11049000" cy="495299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9120" y="5394960"/>
            <a:ext cx="11049000" cy="495299"/>
          </a:xfrm>
          <a:prstGeom prst="rect">
            <a:avLst/>
          </a:prstGeom>
          <a:solidFill>
            <a:srgbClr val="F8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A08 / FLUXO AMPLIADO MENSAL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Agenda-base: meses 7 a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6280" y="2529840"/>
            <a:ext cx="8763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Mês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1180" y="25298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Bruto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99510" y="252984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Após estornos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09310" y="25298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Contribuição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98129" y="25298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Caixa líquido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6460" y="25298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Acumulado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6280" y="3025140"/>
            <a:ext cx="8763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1180" y="30251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213,8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99510" y="302514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205,1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09310" y="30251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66,1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98129" y="30251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-23,0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76460" y="30251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-299,5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6280" y="3520440"/>
            <a:ext cx="8763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1180" y="35204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248,5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99510" y="352044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236,9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09310" y="35204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76,3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98129" y="35204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10,4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76460" y="35204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-289,1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6280" y="4015740"/>
            <a:ext cx="8763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1180" y="40157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298,8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99510" y="401574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284,2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09310" y="40157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90,0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98129" y="40157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24,1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76460" y="40157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-265,0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280" y="4511040"/>
            <a:ext cx="8763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21180" y="45110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333,5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99510" y="451104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316,1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09310" y="45110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100,2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98129" y="45110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34,3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76460" y="45110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-230,7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6280" y="5006340"/>
            <a:ext cx="8763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21180" y="50063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369,8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99510" y="500634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349,4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09310" y="50063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109,3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98129" y="50063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43,4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76460" y="50063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-187,2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6280" y="5501640"/>
            <a:ext cx="8763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12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821180" y="55016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406,0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99510" y="550164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382,8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09310" y="55016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118,5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98129" y="55016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52,6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776460" y="55016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-134,6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9600" y="6035040"/>
            <a:ext cx="10668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80" b="0">
                <a:solidFill>
                  <a:srgbClr val="685878"/>
                </a:solidFill>
                <a:latin typeface="IBM Plex Sans"/>
              </a:rPr>
              <a:t>R$ mil • Competência e recebimento separados • Simulação, não pipeline existente.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9120" y="2423160"/>
            <a:ext cx="11049000" cy="495299"/>
          </a:xfrm>
          <a:prstGeom prst="rect">
            <a:avLst/>
          </a:prstGeom>
          <a:solidFill>
            <a:srgbClr val="351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9120" y="2918460"/>
            <a:ext cx="11049000" cy="495299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9120" y="3413760"/>
            <a:ext cx="11049000" cy="495299"/>
          </a:xfrm>
          <a:prstGeom prst="rect">
            <a:avLst/>
          </a:prstGeom>
          <a:solidFill>
            <a:srgbClr val="F8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9120" y="3909060"/>
            <a:ext cx="11049000" cy="495299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79120" y="4404360"/>
            <a:ext cx="11049000" cy="495299"/>
          </a:xfrm>
          <a:prstGeom prst="rect">
            <a:avLst/>
          </a:prstGeom>
          <a:solidFill>
            <a:srgbClr val="F8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9120" y="4899660"/>
            <a:ext cx="11049000" cy="495299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9120" y="5394960"/>
            <a:ext cx="11049000" cy="495299"/>
          </a:xfrm>
          <a:prstGeom prst="rect">
            <a:avLst/>
          </a:prstGeom>
          <a:solidFill>
            <a:srgbClr val="F8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A09 / FLUXO AMPLIADO MENSAL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Agenda-base: meses 13 a 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6280" y="2529840"/>
            <a:ext cx="8763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Mês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1180" y="25298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Bruto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99510" y="252984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Após estornos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09310" y="25298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Contribuição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98129" y="25298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Caixa líquido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6460" y="25298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Acumulado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6280" y="3025140"/>
            <a:ext cx="8763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1180" y="30251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511,0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99510" y="302514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485,5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09310" y="30251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151,3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98129" y="30251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62,9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76460" y="30251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-71,8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6280" y="3520440"/>
            <a:ext cx="8763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14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1180" y="35204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528,0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99510" y="352044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500,2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09310" y="35204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156,6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98129" y="35204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91,5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76460" y="35204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19,7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6280" y="4015740"/>
            <a:ext cx="8763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15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1180" y="40157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557,0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99510" y="401574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526,8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09310" y="40157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163,9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98129" y="40157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98,8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76460" y="40157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118,5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280" y="4511040"/>
            <a:ext cx="8763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16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21180" y="45110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586,0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99510" y="451104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553,5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09310" y="45110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171,2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98129" y="45110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106,1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76460" y="45110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224,6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6280" y="5006340"/>
            <a:ext cx="8763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21180" y="50063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615,0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99510" y="500634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580,2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09310" y="50063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178,5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98129" y="50063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113,4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76460" y="50063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338,0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6280" y="5501640"/>
            <a:ext cx="8763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18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821180" y="55016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615,0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99510" y="550164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580,2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09310" y="55016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178,5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98129" y="55016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136,5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776460" y="55016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474,5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9600" y="6035040"/>
            <a:ext cx="10668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80" b="0">
                <a:solidFill>
                  <a:srgbClr val="685878"/>
                </a:solidFill>
                <a:latin typeface="IBM Plex Sans"/>
              </a:rPr>
              <a:t>R$ mil • Competência e recebimento separados • Simulação, não pipeline existente.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9120" y="2423160"/>
            <a:ext cx="11049000" cy="495299"/>
          </a:xfrm>
          <a:prstGeom prst="rect">
            <a:avLst/>
          </a:prstGeom>
          <a:solidFill>
            <a:srgbClr val="351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9120" y="2918460"/>
            <a:ext cx="11049000" cy="495299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9120" y="3413760"/>
            <a:ext cx="11049000" cy="495299"/>
          </a:xfrm>
          <a:prstGeom prst="rect">
            <a:avLst/>
          </a:prstGeom>
          <a:solidFill>
            <a:srgbClr val="F8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9120" y="3909060"/>
            <a:ext cx="11049000" cy="495299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79120" y="4404360"/>
            <a:ext cx="11049000" cy="495299"/>
          </a:xfrm>
          <a:prstGeom prst="rect">
            <a:avLst/>
          </a:prstGeom>
          <a:solidFill>
            <a:srgbClr val="F8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9120" y="4899660"/>
            <a:ext cx="11049000" cy="495299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9120" y="5394960"/>
            <a:ext cx="11049000" cy="495299"/>
          </a:xfrm>
          <a:prstGeom prst="rect">
            <a:avLst/>
          </a:prstGeom>
          <a:solidFill>
            <a:srgbClr val="F8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A10 / FLUXO AMPLIADO MENSAL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Agenda-base: meses 19 a 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6280" y="2529840"/>
            <a:ext cx="8763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Mês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1180" y="25298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Bruto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99510" y="252984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Após estornos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09310" y="25298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Contribuição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98129" y="25298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Caixa líquido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6460" y="25298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Acumulado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6280" y="3025140"/>
            <a:ext cx="8763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19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1180" y="30251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615,0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99510" y="302514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580,2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09310" y="30251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178,5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98129" y="30251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136,5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76460" y="30251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611,0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6280" y="3520440"/>
            <a:ext cx="8763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1180" y="35204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615,0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99510" y="352044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580,2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09310" y="35204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178,5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98129" y="35204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136,5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76460" y="35204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747,5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6280" y="4015740"/>
            <a:ext cx="8763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21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1180" y="40157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615,0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99510" y="401574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580,2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09310" y="40157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178,5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98129" y="40157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136,5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76460" y="40157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884,1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280" y="4511040"/>
            <a:ext cx="8763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22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21180" y="45110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615,0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99510" y="451104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580,2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09310" y="45110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178,5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98129" y="45110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136,5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76460" y="45110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1.020,6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6280" y="5006340"/>
            <a:ext cx="8763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23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21180" y="50063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615,0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99510" y="500634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580,2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09310" y="50063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178,5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98129" y="50063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136,5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76460" y="50063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1.157,1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6280" y="5501640"/>
            <a:ext cx="8763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24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821180" y="55016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615,0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99510" y="5501640"/>
            <a:ext cx="1981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580,2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09310" y="55016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178,5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98129" y="5501640"/>
            <a:ext cx="164973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136,5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776460" y="5501640"/>
            <a:ext cx="17602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1.293,6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9600" y="6035040"/>
            <a:ext cx="10668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80" b="0">
                <a:solidFill>
                  <a:srgbClr val="685878"/>
                </a:solidFill>
                <a:latin typeface="IBM Plex Sans"/>
              </a:rPr>
              <a:t>R$ mil • Competência e recebimento separados • Simulação, não pipeline existente.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A11 / EXEMPLO ARITMÉTICO, NÃO PREVISÃO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Equipamento: só contar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o benefício incremental líquido.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6740" y="2674620"/>
            <a:ext cx="3581400" cy="701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35105C"/>
                </a:solidFill>
                <a:latin typeface="IBM Plex Sans"/>
              </a:rPr>
              <a:t>R$ 2 mil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6740" y="3497580"/>
            <a:ext cx="3581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35105C"/>
                </a:solidFill>
                <a:latin typeface="IBM Plex Sans"/>
              </a:rPr>
              <a:t>Por mês: benefício líquido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35105C"/>
                </a:solidFill>
                <a:latin typeface="IBM Plex Sans"/>
              </a:rPr>
              <a:t>incremental hipotético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6740" y="4373880"/>
            <a:ext cx="3550920" cy="838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60" b="1">
                <a:solidFill>
                  <a:srgbClr val="35105C"/>
                </a:solidFill>
                <a:latin typeface="IBM Plex Sans"/>
              </a:rPr>
              <a:t>38,0 meses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58640" y="2674620"/>
            <a:ext cx="3581400" cy="701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35105C"/>
                </a:solidFill>
                <a:latin typeface="IBM Plex Sans"/>
              </a:rPr>
              <a:t>R$ 5 mil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58640" y="3497580"/>
            <a:ext cx="3581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35105C"/>
                </a:solidFill>
                <a:latin typeface="IBM Plex Sans"/>
              </a:rPr>
              <a:t>Por mês: benefício líquido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35105C"/>
                </a:solidFill>
                <a:latin typeface="IBM Plex Sans"/>
              </a:rPr>
              <a:t>incremental hipotético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58640" y="4373880"/>
            <a:ext cx="3550920" cy="838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60" b="1">
                <a:solidFill>
                  <a:srgbClr val="35105C"/>
                </a:solidFill>
                <a:latin typeface="IBM Plex Sans"/>
              </a:rPr>
              <a:t>15,2 meses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0540" y="2674620"/>
            <a:ext cx="3581400" cy="701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35105C"/>
                </a:solidFill>
                <a:latin typeface="IBM Plex Sans"/>
              </a:rPr>
              <a:t>R$ 10 mil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0540" y="3497580"/>
            <a:ext cx="3581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35105C"/>
                </a:solidFill>
                <a:latin typeface="IBM Plex Sans"/>
              </a:rPr>
              <a:t>Por mês: benefício líquido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9" b="0">
                <a:solidFill>
                  <a:srgbClr val="35105C"/>
                </a:solidFill>
                <a:latin typeface="IBM Plex Sans"/>
              </a:rPr>
              <a:t>incremental hipotético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0540" y="4373880"/>
            <a:ext cx="3550920" cy="838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60" b="1">
                <a:solidFill>
                  <a:srgbClr val="35105C"/>
                </a:solidFill>
                <a:latin typeface="IBM Plex Sans"/>
              </a:rPr>
              <a:t>7,6 meses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" y="5722620"/>
            <a:ext cx="11003280" cy="5257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5105C"/>
                </a:solidFill>
                <a:latin typeface="IBM Plex Sans"/>
              </a:rPr>
              <a:t>R$ 76 mil ÷ benefício mensal. Não atribuir toda a receita do negócio à DGX.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9120" y="2476500"/>
            <a:ext cx="11049000" cy="632460"/>
          </a:xfrm>
          <a:prstGeom prst="rect">
            <a:avLst/>
          </a:prstGeom>
          <a:solidFill>
            <a:srgbClr val="351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9120" y="3108960"/>
            <a:ext cx="11049000" cy="63246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9120" y="3741420"/>
            <a:ext cx="11049000" cy="632460"/>
          </a:xfrm>
          <a:prstGeom prst="rect">
            <a:avLst/>
          </a:prstGeom>
          <a:solidFill>
            <a:srgbClr val="F8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9120" y="4373880"/>
            <a:ext cx="11049000" cy="63246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A12 / SENSIBILIDADES DO PORTFÓLIO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Mais aquisição. Menos vendas novas.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O caixa muda antes do discurso.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280" y="2583180"/>
            <a:ext cx="35280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1">
                <a:solidFill>
                  <a:srgbClr val="FFFFFF"/>
                </a:solidFill>
                <a:latin typeface="IBM Plex Sans"/>
              </a:rPr>
              <a:t>Hipótese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72940" y="2583180"/>
            <a:ext cx="22021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1">
                <a:solidFill>
                  <a:srgbClr val="FFFFFF"/>
                </a:solidFill>
                <a:latin typeface="IBM Plex Sans"/>
              </a:rPr>
              <a:t>Capital total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2583180"/>
            <a:ext cx="22021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1">
                <a:solidFill>
                  <a:srgbClr val="FFFFFF"/>
                </a:solidFill>
                <a:latin typeface="IBM Plex Sans"/>
              </a:rPr>
              <a:t>Payback projeto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0" y="2583180"/>
            <a:ext cx="22021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1">
                <a:solidFill>
                  <a:srgbClr val="FFFFFF"/>
                </a:solidFill>
                <a:latin typeface="IBM Plex Sans"/>
              </a:rPr>
              <a:t>Fluxo M24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6280" y="3215640"/>
            <a:ext cx="35280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1">
                <a:solidFill>
                  <a:srgbClr val="29143D"/>
                </a:solidFill>
                <a:latin typeface="IBM Plex Sans"/>
              </a:rPr>
              <a:t>Base ampliada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2940" y="3215640"/>
            <a:ext cx="22021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0">
                <a:solidFill>
                  <a:srgbClr val="29143D"/>
                </a:solidFill>
                <a:latin typeface="IBM Plex Sans"/>
              </a:rPr>
              <a:t>R$ 430 mil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3215640"/>
            <a:ext cx="22021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0">
                <a:solidFill>
                  <a:srgbClr val="29143D"/>
                </a:solidFill>
                <a:latin typeface="IBM Plex Sans"/>
              </a:rPr>
              <a:t>M14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34500" y="3215640"/>
            <a:ext cx="22021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0">
                <a:solidFill>
                  <a:srgbClr val="29143D"/>
                </a:solidFill>
                <a:latin typeface="IBM Plex Sans"/>
              </a:rPr>
              <a:t>R$ 1.293,6 mil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6280" y="3848099"/>
            <a:ext cx="35280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1">
                <a:solidFill>
                  <a:srgbClr val="29143D"/>
                </a:solidFill>
                <a:latin typeface="IBM Plex Sans"/>
              </a:rPr>
              <a:t>CAC loja USD15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2940" y="3848099"/>
            <a:ext cx="22021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0">
                <a:solidFill>
                  <a:srgbClr val="29143D"/>
                </a:solidFill>
                <a:latin typeface="IBM Plex Sans"/>
              </a:rPr>
              <a:t>R$ 500 mil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848099"/>
            <a:ext cx="22021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0">
                <a:solidFill>
                  <a:srgbClr val="29143D"/>
                </a:solidFill>
                <a:latin typeface="IBM Plex Sans"/>
              </a:rPr>
              <a:t>M21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34500" y="3848099"/>
            <a:ext cx="22021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0">
                <a:solidFill>
                  <a:srgbClr val="29143D"/>
                </a:solidFill>
                <a:latin typeface="IBM Plex Sans"/>
              </a:rPr>
              <a:t>R$ 212,4 mil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6280" y="4480560"/>
            <a:ext cx="35280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1">
                <a:solidFill>
                  <a:srgbClr val="29143D"/>
                </a:solidFill>
                <a:latin typeface="IBM Plex Sans"/>
              </a:rPr>
              <a:t>Novas ofertas50%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2940" y="4480560"/>
            <a:ext cx="22021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0">
                <a:solidFill>
                  <a:srgbClr val="29143D"/>
                </a:solidFill>
                <a:latin typeface="IBM Plex Sans"/>
              </a:rPr>
              <a:t>R$ 490 mil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480560"/>
            <a:ext cx="22021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0">
                <a:solidFill>
                  <a:srgbClr val="29143D"/>
                </a:solidFill>
                <a:latin typeface="IBM Plex Sans"/>
              </a:rPr>
              <a:t>M17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34500" y="4480560"/>
            <a:ext cx="22021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39" b="0">
                <a:solidFill>
                  <a:srgbClr val="29143D"/>
                </a:solidFill>
                <a:latin typeface="IBM Plex Sans"/>
              </a:rPr>
              <a:t>R$ 825,1 mil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5372100"/>
            <a:ext cx="10896600" cy="815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35105C"/>
                </a:solidFill>
                <a:latin typeface="IBM Plex Sans"/>
              </a:rPr>
              <a:t>Atendimento sem churn no modelo: retenção não comprovada.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35105C"/>
                </a:solidFill>
                <a:latin typeface="IBM Plex Sans"/>
              </a:rPr>
              <a:t>Muitas frentes disputam a mesma equipe. Volume não substitui margem.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9120" y="2506980"/>
            <a:ext cx="11049000" cy="685800"/>
          </a:xfrm>
          <a:prstGeom prst="rect">
            <a:avLst/>
          </a:prstGeom>
          <a:solidFill>
            <a:srgbClr val="351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9120" y="3192780"/>
            <a:ext cx="11049000" cy="68580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9120" y="3878579"/>
            <a:ext cx="11049000" cy="685800"/>
          </a:xfrm>
          <a:prstGeom prst="rect">
            <a:avLst/>
          </a:prstGeom>
          <a:solidFill>
            <a:srgbClr val="F8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9120" y="4564380"/>
            <a:ext cx="11049000" cy="68580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A13 / RECEITA ANUAL AMPLIADA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Quanto cada agenda precisa vender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280" y="2613660"/>
            <a:ext cx="2312670" cy="5562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BM Plex Sans"/>
              </a:rPr>
              <a:t>Cenário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57550" y="2613660"/>
            <a:ext cx="2312670" cy="5562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BM Plex Sans"/>
              </a:rPr>
              <a:t>Bruto ano1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98820" y="2613660"/>
            <a:ext cx="2312670" cy="5562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BM Plex Sans"/>
              </a:rPr>
              <a:t>Bruto ano2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40090" y="2613660"/>
            <a:ext cx="3196590" cy="5562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BM Plex Sans"/>
              </a:rPr>
              <a:t>Após estornos ano2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6280" y="3299460"/>
            <a:ext cx="2312670" cy="5562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9143D"/>
                </a:solidFill>
                <a:latin typeface="IBM Plex Sans"/>
              </a:rPr>
              <a:t>Conservador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57550" y="3299460"/>
            <a:ext cx="2312670" cy="5562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9143D"/>
                </a:solidFill>
                <a:latin typeface="IBM Plex Sans"/>
              </a:rPr>
              <a:t>R$ 512,5 mil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8820" y="3299460"/>
            <a:ext cx="2312670" cy="5562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9143D"/>
                </a:solidFill>
                <a:latin typeface="IBM Plex Sans"/>
              </a:rPr>
              <a:t>R$ 1.425,8 mil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0090" y="3299460"/>
            <a:ext cx="3196590" cy="5562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9143D"/>
                </a:solidFill>
                <a:latin typeface="IBM Plex Sans"/>
              </a:rPr>
              <a:t>R$ 1.340,5 mil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6280" y="3985260"/>
            <a:ext cx="2312670" cy="5562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9143D"/>
                </a:solidFill>
                <a:latin typeface="IBM Plex Sans"/>
              </a:rPr>
              <a:t>Base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57550" y="3985260"/>
            <a:ext cx="2312670" cy="5562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9143D"/>
                </a:solidFill>
                <a:latin typeface="IBM Plex Sans"/>
              </a:rPr>
              <a:t>R$ 2.221,8 mil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98820" y="3985260"/>
            <a:ext cx="2312670" cy="5562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9143D"/>
                </a:solidFill>
                <a:latin typeface="IBM Plex Sans"/>
              </a:rPr>
              <a:t>R$ 7.102,0 mil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0090" y="3985260"/>
            <a:ext cx="3196590" cy="5562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9143D"/>
                </a:solidFill>
                <a:latin typeface="IBM Plex Sans"/>
              </a:rPr>
              <a:t>R$ 6.707,6 mil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6280" y="4671060"/>
            <a:ext cx="2312670" cy="5562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9143D"/>
                </a:solidFill>
                <a:latin typeface="IBM Plex Sans"/>
              </a:rPr>
              <a:t>Escala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57550" y="4671060"/>
            <a:ext cx="2312670" cy="5562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9143D"/>
                </a:solidFill>
                <a:latin typeface="IBM Plex Sans"/>
              </a:rPr>
              <a:t>R$ 4.620,0 mil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98820" y="4671060"/>
            <a:ext cx="2312670" cy="5562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9143D"/>
                </a:solidFill>
                <a:latin typeface="IBM Plex Sans"/>
              </a:rPr>
              <a:t>R$ 12.114,0 mil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0090" y="4671060"/>
            <a:ext cx="3196590" cy="5562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9143D"/>
                </a:solidFill>
                <a:latin typeface="IBM Plex Sans"/>
              </a:rPr>
              <a:t>R$ 11.418,0 mil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5623560"/>
            <a:ext cx="10820400" cy="563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5105C"/>
                </a:solidFill>
                <a:latin typeface="IBM Plex Sans"/>
              </a:rPr>
              <a:t>Topologic enterprise: R$200k + R$12k/mês é expansão separada, fora da projeção.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9120" y="2484120"/>
            <a:ext cx="11049000" cy="716280"/>
          </a:xfrm>
          <a:prstGeom prst="rect">
            <a:avLst/>
          </a:prstGeom>
          <a:solidFill>
            <a:srgbClr val="351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9120" y="3200400"/>
            <a:ext cx="11049000" cy="71628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9120" y="3916680"/>
            <a:ext cx="11049000" cy="716280"/>
          </a:xfrm>
          <a:prstGeom prst="rect">
            <a:avLst/>
          </a:prstGeom>
          <a:solidFill>
            <a:srgbClr val="F8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9120" y="4632960"/>
            <a:ext cx="11049000" cy="716280"/>
          </a:xfrm>
          <a:prstGeom prst="rect">
            <a:avLst/>
          </a:prstGeom>
          <a:solidFill>
            <a:srgbClr val="EE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A14 / VOLUMES, MÍDIA E VISITAS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Mês24: a agenda comercial por trás da escala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280" y="2590800"/>
            <a:ext cx="1870710" cy="586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M24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15590" y="2590800"/>
            <a:ext cx="2202180" cy="586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Loja / mapas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46370" y="2590800"/>
            <a:ext cx="3417570" cy="586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Conteúdo / código / atend.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2540" y="2590800"/>
            <a:ext cx="2644140" cy="586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IBM Plex Sans"/>
              </a:rPr>
              <a:t>Aquisição / visitas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6280" y="3307080"/>
            <a:ext cx="1870710" cy="586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Conservador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15590" y="3307080"/>
            <a:ext cx="2202180" cy="586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750 /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46370" y="3307080"/>
            <a:ext cx="3417570" cy="586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2 / 1 /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92540" y="3307080"/>
            <a:ext cx="2644140" cy="586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R$ 38 mil / 37.500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6280" y="4023360"/>
            <a:ext cx="1870710" cy="586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Base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15590" y="4023360"/>
            <a:ext cx="2202180" cy="586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3.000 /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46370" y="4023360"/>
            <a:ext cx="3417570" cy="586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10 / 3 / 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92540" y="4023360"/>
            <a:ext cx="2644140" cy="586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R$ 150 mil / 150.000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6280" y="4739640"/>
            <a:ext cx="1870710" cy="586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29143D"/>
                </a:solidFill>
                <a:latin typeface="IBM Plex Sans"/>
              </a:rPr>
              <a:t>Escala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15590" y="4739640"/>
            <a:ext cx="2202180" cy="586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5.000 /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46370" y="4739640"/>
            <a:ext cx="3417570" cy="586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15 / 5 / 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92540" y="4739640"/>
            <a:ext cx="2644140" cy="586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R$ 250 mil / 250.000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5707380"/>
            <a:ext cx="10896600" cy="518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5105C"/>
                </a:solidFill>
                <a:latin typeface="IBM Plex Sans"/>
              </a:rPr>
              <a:t>Conversão de visitas2% é hipótese. Orgânico não torna a aquisição gratuita no modelo.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371600" y="5455920"/>
            <a:ext cx="9982200" cy="0"/>
          </a:xfrm>
          <a:prstGeom prst="line">
            <a:avLst/>
          </a:prstGeom>
          <a:ln w="15240">
            <a:solidFill>
              <a:srgbClr val="EEE7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371600" y="5017970"/>
            <a:ext cx="9982200" cy="0"/>
          </a:xfrm>
          <a:prstGeom prst="line">
            <a:avLst/>
          </a:prstGeom>
          <a:ln w="15240">
            <a:solidFill>
              <a:srgbClr val="351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371600" y="4288054"/>
            <a:ext cx="9982200" cy="0"/>
          </a:xfrm>
          <a:prstGeom prst="line">
            <a:avLst/>
          </a:prstGeom>
          <a:ln w="15240">
            <a:solidFill>
              <a:srgbClr val="EEE7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371600" y="3558138"/>
            <a:ext cx="9982200" cy="0"/>
          </a:xfrm>
          <a:prstGeom prst="line">
            <a:avLst/>
          </a:prstGeom>
          <a:ln w="15240">
            <a:solidFill>
              <a:srgbClr val="EEE7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371600" y="2828223"/>
            <a:ext cx="9982200" cy="0"/>
          </a:xfrm>
          <a:prstGeom prst="line">
            <a:avLst/>
          </a:prstGeom>
          <a:ln w="15240">
            <a:solidFill>
              <a:srgbClr val="EEE7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371600" y="5090962"/>
            <a:ext cx="411480" cy="27006"/>
          </a:xfrm>
          <a:prstGeom prst="line">
            <a:avLst/>
          </a:prstGeom>
          <a:ln w="38100">
            <a:solidFill>
              <a:srgbClr val="9A3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783080" y="5117968"/>
            <a:ext cx="411480" cy="27007"/>
          </a:xfrm>
          <a:prstGeom prst="line">
            <a:avLst/>
          </a:prstGeom>
          <a:ln w="38100">
            <a:solidFill>
              <a:srgbClr val="9A3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194560" y="5144975"/>
            <a:ext cx="411480" cy="28161"/>
          </a:xfrm>
          <a:prstGeom prst="line">
            <a:avLst/>
          </a:prstGeom>
          <a:ln w="38100">
            <a:solidFill>
              <a:srgbClr val="9A3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606040" y="5173136"/>
            <a:ext cx="411480" cy="27626"/>
          </a:xfrm>
          <a:prstGeom prst="line">
            <a:avLst/>
          </a:prstGeom>
          <a:ln w="38100">
            <a:solidFill>
              <a:srgbClr val="9A3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017520" y="5200762"/>
            <a:ext cx="411480" cy="30180"/>
          </a:xfrm>
          <a:prstGeom prst="line">
            <a:avLst/>
          </a:prstGeom>
          <a:ln w="38100">
            <a:solidFill>
              <a:srgbClr val="9A3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429000" y="5230942"/>
            <a:ext cx="411480" cy="17068"/>
          </a:xfrm>
          <a:prstGeom prst="line">
            <a:avLst/>
          </a:prstGeom>
          <a:ln w="38100">
            <a:solidFill>
              <a:srgbClr val="9A3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840480" y="5248010"/>
            <a:ext cx="411480" cy="17315"/>
          </a:xfrm>
          <a:prstGeom prst="line">
            <a:avLst/>
          </a:prstGeom>
          <a:ln w="38100">
            <a:solidFill>
              <a:srgbClr val="9A3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251960" y="5265325"/>
            <a:ext cx="411480" cy="23588"/>
          </a:xfrm>
          <a:prstGeom prst="line">
            <a:avLst/>
          </a:prstGeom>
          <a:ln w="38100">
            <a:solidFill>
              <a:srgbClr val="9A3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663440" y="5288913"/>
            <a:ext cx="411480" cy="24251"/>
          </a:xfrm>
          <a:prstGeom prst="line">
            <a:avLst/>
          </a:prstGeom>
          <a:ln w="38100">
            <a:solidFill>
              <a:srgbClr val="9A3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074920" y="5313164"/>
            <a:ext cx="411480" cy="800"/>
          </a:xfrm>
          <a:prstGeom prst="line">
            <a:avLst/>
          </a:prstGeom>
          <a:ln w="38100">
            <a:solidFill>
              <a:srgbClr val="9A3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486400" y="5313964"/>
            <a:ext cx="411480" cy="16436"/>
          </a:xfrm>
          <a:prstGeom prst="line">
            <a:avLst/>
          </a:prstGeom>
          <a:ln w="38100">
            <a:solidFill>
              <a:srgbClr val="9A3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897880" y="5330400"/>
            <a:ext cx="411480" cy="16852"/>
          </a:xfrm>
          <a:prstGeom prst="line">
            <a:avLst/>
          </a:prstGeom>
          <a:ln w="38100">
            <a:solidFill>
              <a:srgbClr val="9A3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309360" y="5347252"/>
            <a:ext cx="411480" cy="12321"/>
          </a:xfrm>
          <a:prstGeom prst="line">
            <a:avLst/>
          </a:prstGeom>
          <a:ln w="38100">
            <a:solidFill>
              <a:srgbClr val="9A3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720840" y="5359573"/>
            <a:ext cx="411480" cy="2758"/>
          </a:xfrm>
          <a:prstGeom prst="line">
            <a:avLst/>
          </a:prstGeom>
          <a:ln w="38100">
            <a:solidFill>
              <a:srgbClr val="9A3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132320" y="5362331"/>
            <a:ext cx="411480" cy="14378"/>
          </a:xfrm>
          <a:prstGeom prst="line">
            <a:avLst/>
          </a:prstGeom>
          <a:ln w="38100">
            <a:solidFill>
              <a:srgbClr val="9A3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543800" y="5376709"/>
            <a:ext cx="411479" cy="5523"/>
          </a:xfrm>
          <a:prstGeom prst="line">
            <a:avLst/>
          </a:prstGeom>
          <a:ln w="38100">
            <a:solidFill>
              <a:srgbClr val="9A3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955279" y="5382232"/>
            <a:ext cx="411481" cy="14952"/>
          </a:xfrm>
          <a:prstGeom prst="line">
            <a:avLst/>
          </a:prstGeom>
          <a:ln w="38100">
            <a:solidFill>
              <a:srgbClr val="9A3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366760" y="5397184"/>
            <a:ext cx="411480" cy="2374"/>
          </a:xfrm>
          <a:prstGeom prst="line">
            <a:avLst/>
          </a:prstGeom>
          <a:ln w="38100">
            <a:solidFill>
              <a:srgbClr val="9A3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78240" y="5399558"/>
            <a:ext cx="411480" cy="3921"/>
          </a:xfrm>
          <a:prstGeom prst="line">
            <a:avLst/>
          </a:prstGeom>
          <a:ln w="38100">
            <a:solidFill>
              <a:srgbClr val="9A3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189720" y="5403479"/>
            <a:ext cx="411480" cy="9956"/>
          </a:xfrm>
          <a:prstGeom prst="line">
            <a:avLst/>
          </a:prstGeom>
          <a:ln w="38100">
            <a:solidFill>
              <a:srgbClr val="9A3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601200" y="5413435"/>
            <a:ext cx="411480" cy="14568"/>
          </a:xfrm>
          <a:prstGeom prst="line">
            <a:avLst/>
          </a:prstGeom>
          <a:ln w="38100">
            <a:solidFill>
              <a:srgbClr val="9A3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0012680" y="5419920"/>
            <a:ext cx="411480" cy="8083"/>
          </a:xfrm>
          <a:prstGeom prst="line">
            <a:avLst/>
          </a:prstGeom>
          <a:ln w="38100">
            <a:solidFill>
              <a:srgbClr val="9A3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424160" y="5419920"/>
            <a:ext cx="411480" cy="8354"/>
          </a:xfrm>
          <a:prstGeom prst="line">
            <a:avLst/>
          </a:prstGeom>
          <a:ln w="38100">
            <a:solidFill>
              <a:srgbClr val="9A3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835640" y="5428274"/>
            <a:ext cx="411480" cy="11302"/>
          </a:xfrm>
          <a:prstGeom prst="line">
            <a:avLst/>
          </a:prstGeom>
          <a:ln w="38100">
            <a:solidFill>
              <a:srgbClr val="9A3D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371600" y="5090962"/>
            <a:ext cx="411480" cy="27006"/>
          </a:xfrm>
          <a:prstGeom prst="line">
            <a:avLst/>
          </a:prstGeom>
          <a:ln w="38100">
            <a:solidFill>
              <a:srgbClr val="351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783080" y="5117968"/>
            <a:ext cx="411480" cy="27007"/>
          </a:xfrm>
          <a:prstGeom prst="line">
            <a:avLst/>
          </a:prstGeom>
          <a:ln w="38100">
            <a:solidFill>
              <a:srgbClr val="351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194560" y="5144975"/>
            <a:ext cx="411480" cy="33577"/>
          </a:xfrm>
          <a:prstGeom prst="line">
            <a:avLst/>
          </a:prstGeom>
          <a:ln w="38100">
            <a:solidFill>
              <a:srgbClr val="351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606040" y="5178552"/>
            <a:ext cx="411480" cy="11381"/>
          </a:xfrm>
          <a:prstGeom prst="line">
            <a:avLst/>
          </a:prstGeom>
          <a:ln w="38100">
            <a:solidFill>
              <a:srgbClr val="351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3017520" y="5189933"/>
            <a:ext cx="411480" cy="22740"/>
          </a:xfrm>
          <a:prstGeom prst="line">
            <a:avLst/>
          </a:prstGeom>
          <a:ln w="38100">
            <a:solidFill>
              <a:srgbClr val="351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429000" y="5212673"/>
            <a:ext cx="411480" cy="7093"/>
          </a:xfrm>
          <a:prstGeom prst="line">
            <a:avLst/>
          </a:prstGeom>
          <a:ln w="38100">
            <a:solidFill>
              <a:srgbClr val="351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840480" y="5219766"/>
            <a:ext cx="411480" cy="16805"/>
          </a:xfrm>
          <a:prstGeom prst="line">
            <a:avLst/>
          </a:prstGeom>
          <a:ln w="38100">
            <a:solidFill>
              <a:srgbClr val="351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4251960" y="5228999"/>
            <a:ext cx="411480" cy="7572"/>
          </a:xfrm>
          <a:prstGeom prst="line">
            <a:avLst/>
          </a:prstGeom>
          <a:ln w="38100">
            <a:solidFill>
              <a:srgbClr val="351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4663440" y="5211373"/>
            <a:ext cx="411480" cy="17626"/>
          </a:xfrm>
          <a:prstGeom prst="line">
            <a:avLst/>
          </a:prstGeom>
          <a:ln w="38100">
            <a:solidFill>
              <a:srgbClr val="351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5074920" y="5186341"/>
            <a:ext cx="411480" cy="25032"/>
          </a:xfrm>
          <a:prstGeom prst="line">
            <a:avLst/>
          </a:prstGeom>
          <a:ln w="38100">
            <a:solidFill>
              <a:srgbClr val="351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5486400" y="5154635"/>
            <a:ext cx="411480" cy="31706"/>
          </a:xfrm>
          <a:prstGeom prst="line">
            <a:avLst/>
          </a:prstGeom>
          <a:ln w="38100">
            <a:solidFill>
              <a:srgbClr val="351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5897880" y="5116252"/>
            <a:ext cx="411480" cy="38383"/>
          </a:xfrm>
          <a:prstGeom prst="line">
            <a:avLst/>
          </a:prstGeom>
          <a:ln w="38100">
            <a:solidFill>
              <a:srgbClr val="351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6309360" y="5070348"/>
            <a:ext cx="411480" cy="45904"/>
          </a:xfrm>
          <a:prstGeom prst="line">
            <a:avLst/>
          </a:prstGeom>
          <a:ln w="38100">
            <a:solidFill>
              <a:srgbClr val="351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6720840" y="5003592"/>
            <a:ext cx="411480" cy="66756"/>
          </a:xfrm>
          <a:prstGeom prst="line">
            <a:avLst/>
          </a:prstGeom>
          <a:ln w="38100">
            <a:solidFill>
              <a:srgbClr val="351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7132320" y="4931496"/>
            <a:ext cx="411480" cy="72096"/>
          </a:xfrm>
          <a:prstGeom prst="line">
            <a:avLst/>
          </a:prstGeom>
          <a:ln w="38100">
            <a:solidFill>
              <a:srgbClr val="351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7543800" y="4854060"/>
            <a:ext cx="411479" cy="77436"/>
          </a:xfrm>
          <a:prstGeom prst="line">
            <a:avLst/>
          </a:prstGeom>
          <a:ln w="38100">
            <a:solidFill>
              <a:srgbClr val="351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7955279" y="4771283"/>
            <a:ext cx="411481" cy="82777"/>
          </a:xfrm>
          <a:prstGeom prst="line">
            <a:avLst/>
          </a:prstGeom>
          <a:ln w="38100">
            <a:solidFill>
              <a:srgbClr val="351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8366760" y="4671632"/>
            <a:ext cx="411480" cy="99651"/>
          </a:xfrm>
          <a:prstGeom prst="line">
            <a:avLst/>
          </a:prstGeom>
          <a:ln w="38100">
            <a:solidFill>
              <a:srgbClr val="351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8778240" y="4571981"/>
            <a:ext cx="411480" cy="99651"/>
          </a:xfrm>
          <a:prstGeom prst="line">
            <a:avLst/>
          </a:prstGeom>
          <a:ln w="38100">
            <a:solidFill>
              <a:srgbClr val="351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9189720" y="4472330"/>
            <a:ext cx="411480" cy="99651"/>
          </a:xfrm>
          <a:prstGeom prst="line">
            <a:avLst/>
          </a:prstGeom>
          <a:ln w="38100">
            <a:solidFill>
              <a:srgbClr val="351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9601200" y="4372679"/>
            <a:ext cx="411480" cy="99651"/>
          </a:xfrm>
          <a:prstGeom prst="line">
            <a:avLst/>
          </a:prstGeom>
          <a:ln w="38100">
            <a:solidFill>
              <a:srgbClr val="351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10012680" y="4273027"/>
            <a:ext cx="411480" cy="99652"/>
          </a:xfrm>
          <a:prstGeom prst="line">
            <a:avLst/>
          </a:prstGeom>
          <a:ln w="38100">
            <a:solidFill>
              <a:srgbClr val="351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10424160" y="4173376"/>
            <a:ext cx="411480" cy="99651"/>
          </a:xfrm>
          <a:prstGeom prst="line">
            <a:avLst/>
          </a:prstGeom>
          <a:ln w="38100">
            <a:solidFill>
              <a:srgbClr val="351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0835640" y="4073725"/>
            <a:ext cx="411480" cy="99651"/>
          </a:xfrm>
          <a:prstGeom prst="line">
            <a:avLst/>
          </a:prstGeom>
          <a:ln w="38100">
            <a:solidFill>
              <a:srgbClr val="351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371600" y="5090962"/>
            <a:ext cx="411480" cy="27006"/>
          </a:xfrm>
          <a:prstGeom prst="line">
            <a:avLst/>
          </a:prstGeom>
          <a:ln w="38100">
            <a:solidFill>
              <a:srgbClr val="117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783080" y="5117968"/>
            <a:ext cx="411480" cy="27007"/>
          </a:xfrm>
          <a:prstGeom prst="line">
            <a:avLst/>
          </a:prstGeom>
          <a:ln w="38100">
            <a:solidFill>
              <a:srgbClr val="117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194560" y="5144975"/>
            <a:ext cx="411480" cy="35001"/>
          </a:xfrm>
          <a:prstGeom prst="line">
            <a:avLst/>
          </a:prstGeom>
          <a:ln w="38100">
            <a:solidFill>
              <a:srgbClr val="117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606040" y="5179976"/>
            <a:ext cx="411480" cy="17747"/>
          </a:xfrm>
          <a:prstGeom prst="line">
            <a:avLst/>
          </a:prstGeom>
          <a:ln w="38100">
            <a:solidFill>
              <a:srgbClr val="117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3017520" y="5197723"/>
            <a:ext cx="411480" cy="17277"/>
          </a:xfrm>
          <a:prstGeom prst="line">
            <a:avLst/>
          </a:prstGeom>
          <a:ln w="38100">
            <a:solidFill>
              <a:srgbClr val="117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429000" y="5215000"/>
            <a:ext cx="411480" cy="9208"/>
          </a:xfrm>
          <a:prstGeom prst="line">
            <a:avLst/>
          </a:prstGeom>
          <a:ln w="38100">
            <a:solidFill>
              <a:srgbClr val="117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3840480" y="5215745"/>
            <a:ext cx="411480" cy="8463"/>
          </a:xfrm>
          <a:prstGeom prst="line">
            <a:avLst/>
          </a:prstGeom>
          <a:ln w="38100">
            <a:solidFill>
              <a:srgbClr val="117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4251960" y="5194786"/>
            <a:ext cx="411480" cy="20959"/>
          </a:xfrm>
          <a:prstGeom prst="line">
            <a:avLst/>
          </a:prstGeom>
          <a:ln w="38100">
            <a:solidFill>
              <a:srgbClr val="117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4663440" y="5160006"/>
            <a:ext cx="411480" cy="34780"/>
          </a:xfrm>
          <a:prstGeom prst="line">
            <a:avLst/>
          </a:prstGeom>
          <a:ln w="38100">
            <a:solidFill>
              <a:srgbClr val="117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5074920" y="5081198"/>
            <a:ext cx="411480" cy="78808"/>
          </a:xfrm>
          <a:prstGeom prst="line">
            <a:avLst/>
          </a:prstGeom>
          <a:ln w="38100">
            <a:solidFill>
              <a:srgbClr val="117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5486400" y="4978638"/>
            <a:ext cx="411480" cy="102560"/>
          </a:xfrm>
          <a:prstGeom prst="line">
            <a:avLst/>
          </a:prstGeom>
          <a:ln w="38100">
            <a:solidFill>
              <a:srgbClr val="117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5897880" y="4862728"/>
            <a:ext cx="411480" cy="115910"/>
          </a:xfrm>
          <a:prstGeom prst="line">
            <a:avLst/>
          </a:prstGeom>
          <a:ln w="38100">
            <a:solidFill>
              <a:srgbClr val="117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6309360" y="4726810"/>
            <a:ext cx="411480" cy="135918"/>
          </a:xfrm>
          <a:prstGeom prst="line">
            <a:avLst/>
          </a:prstGeom>
          <a:ln w="38100">
            <a:solidFill>
              <a:srgbClr val="117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6720840" y="4545056"/>
            <a:ext cx="411480" cy="181754"/>
          </a:xfrm>
          <a:prstGeom prst="line">
            <a:avLst/>
          </a:prstGeom>
          <a:ln w="38100">
            <a:solidFill>
              <a:srgbClr val="117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7132320" y="4363302"/>
            <a:ext cx="411480" cy="181754"/>
          </a:xfrm>
          <a:prstGeom prst="line">
            <a:avLst/>
          </a:prstGeom>
          <a:ln w="38100">
            <a:solidFill>
              <a:srgbClr val="117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7543800" y="4181548"/>
            <a:ext cx="411479" cy="181754"/>
          </a:xfrm>
          <a:prstGeom prst="line">
            <a:avLst/>
          </a:prstGeom>
          <a:ln w="38100">
            <a:solidFill>
              <a:srgbClr val="117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7955279" y="3999794"/>
            <a:ext cx="411481" cy="181754"/>
          </a:xfrm>
          <a:prstGeom prst="line">
            <a:avLst/>
          </a:prstGeom>
          <a:ln w="38100">
            <a:solidFill>
              <a:srgbClr val="117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8366760" y="3818040"/>
            <a:ext cx="411480" cy="181754"/>
          </a:xfrm>
          <a:prstGeom prst="line">
            <a:avLst/>
          </a:prstGeom>
          <a:ln w="38100">
            <a:solidFill>
              <a:srgbClr val="117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8778240" y="3636285"/>
            <a:ext cx="411480" cy="181755"/>
          </a:xfrm>
          <a:prstGeom prst="line">
            <a:avLst/>
          </a:prstGeom>
          <a:ln w="38100">
            <a:solidFill>
              <a:srgbClr val="117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9189720" y="3454531"/>
            <a:ext cx="411480" cy="181754"/>
          </a:xfrm>
          <a:prstGeom prst="line">
            <a:avLst/>
          </a:prstGeom>
          <a:ln w="38100">
            <a:solidFill>
              <a:srgbClr val="117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9601200" y="3272777"/>
            <a:ext cx="411480" cy="181754"/>
          </a:xfrm>
          <a:prstGeom prst="line">
            <a:avLst/>
          </a:prstGeom>
          <a:ln w="38100">
            <a:solidFill>
              <a:srgbClr val="117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10012680" y="3091023"/>
            <a:ext cx="411480" cy="181754"/>
          </a:xfrm>
          <a:prstGeom prst="line">
            <a:avLst/>
          </a:prstGeom>
          <a:ln w="38100">
            <a:solidFill>
              <a:srgbClr val="117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10424160" y="2909269"/>
            <a:ext cx="411480" cy="181754"/>
          </a:xfrm>
          <a:prstGeom prst="line">
            <a:avLst/>
          </a:prstGeom>
          <a:ln w="38100">
            <a:solidFill>
              <a:srgbClr val="117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10835640" y="2727515"/>
            <a:ext cx="411480" cy="181754"/>
          </a:xfrm>
          <a:prstGeom prst="line">
            <a:avLst/>
          </a:prstGeom>
          <a:ln w="38100">
            <a:solidFill>
              <a:srgbClr val="117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A15 / FLUXO ACUMULADO SEM APORTES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O ponto mais baixo define o capital de giro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79120" y="5334000"/>
            <a:ext cx="73152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685878"/>
                </a:solidFill>
                <a:latin typeface="IBM Plex Sans"/>
              </a:rPr>
              <a:t>-0,6mi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79120" y="4896050"/>
            <a:ext cx="73152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685878"/>
                </a:solidFill>
                <a:latin typeface="IBM Plex Sans"/>
              </a:rPr>
              <a:t>0,0mi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9120" y="4166134"/>
            <a:ext cx="73152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685878"/>
                </a:solidFill>
                <a:latin typeface="IBM Plex Sans"/>
              </a:rPr>
              <a:t>1,0mi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79120" y="3436218"/>
            <a:ext cx="73152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685878"/>
                </a:solidFill>
                <a:latin typeface="IBM Plex Sans"/>
              </a:rPr>
              <a:t>2,0mi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79120" y="2706303"/>
            <a:ext cx="73152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685878"/>
                </a:solidFill>
                <a:latin typeface="IBM Plex Sans"/>
              </a:rPr>
              <a:t>3,0mi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80160" y="5615940"/>
            <a:ext cx="716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685878"/>
                </a:solidFill>
                <a:latin typeface="IBM Plex Sans"/>
              </a:rPr>
              <a:t>M0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749039" y="5615940"/>
            <a:ext cx="716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685878"/>
                </a:solidFill>
                <a:latin typeface="IBM Plex Sans"/>
              </a:rPr>
              <a:t>M6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217920" y="5615940"/>
            <a:ext cx="716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685878"/>
                </a:solidFill>
                <a:latin typeface="IBM Plex Sans"/>
              </a:rPr>
              <a:t>M12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686800" y="5615940"/>
            <a:ext cx="716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685878"/>
                </a:solidFill>
                <a:latin typeface="IBM Plex Sans"/>
              </a:rPr>
              <a:t>M18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1155680" y="5615940"/>
            <a:ext cx="716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685878"/>
                </a:solidFill>
                <a:latin typeface="IBM Plex Sans"/>
              </a:rPr>
              <a:t>M24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28800" y="6012180"/>
            <a:ext cx="3124200" cy="259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39" b="1">
                <a:solidFill>
                  <a:srgbClr val="9A3D00"/>
                </a:solidFill>
                <a:latin typeface="IBM Plex Sans"/>
              </a:rPr>
              <a:t>Conservador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05400" y="6012180"/>
            <a:ext cx="3124200" cy="259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39" b="1">
                <a:solidFill>
                  <a:srgbClr val="35105C"/>
                </a:solidFill>
                <a:latin typeface="IBM Plex Sans"/>
              </a:rPr>
              <a:t>Base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381999" y="6012180"/>
            <a:ext cx="3124200" cy="259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39" b="1">
                <a:solidFill>
                  <a:srgbClr val="117A70"/>
                </a:solidFill>
                <a:latin typeface="IBM Plex Sans"/>
              </a:rPr>
              <a:t>Escala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A16 / REFERÊNCIAS CLICÁVEIS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Fontes e limites da evidência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484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1">
                <a:solidFill>
                  <a:srgbClr val="35105C"/>
                </a:solidFill>
                <a:latin typeface="IBM Plex Sans"/>
                <a:hlinkClick r:id="rId2"/>
              </a:rPr>
              <a:t>Hotmart / mercado 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1980" y="2956560"/>
            <a:ext cx="10934700" cy="67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21/03/2024 • 21 milhões globais; GMV LATAM sem Brasil +50%.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Autorrelatado. Não é nosso TAM.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804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1">
                <a:solidFill>
                  <a:srgbClr val="35105C"/>
                </a:solidFill>
                <a:latin typeface="IBM Plex Sans"/>
                <a:hlinkClick r:id="rId3"/>
              </a:rPr>
              <a:t>Flexera / cloud 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1980" y="4152900"/>
            <a:ext cx="10934700" cy="67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19/03/2025 • 84% de mais de750 profissionais globais.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Não demonstra intenção de comprar AUMI.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876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1">
                <a:solidFill>
                  <a:srgbClr val="35105C"/>
                </a:solidFill>
                <a:latin typeface="IBM Plex Sans"/>
                <a:hlinkClick r:id="rId4"/>
              </a:rPr>
              <a:t>GSMA / contexto regional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80" y="5349240"/>
            <a:ext cx="10934700" cy="67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13/05/2026 • Contexto digital regional.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PIB mobile não é TAM de infoprodutos.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A17 / REFERÊNCIAS CLICÁVEIS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Fontes e limites da evidência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484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1">
                <a:solidFill>
                  <a:srgbClr val="35105C"/>
                </a:solidFill>
                <a:latin typeface="IBM Plex Sans"/>
                <a:hlinkClick r:id="rId2"/>
              </a:rPr>
              <a:t>NVIDIA / hardware DGX Spark 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1980" y="2956560"/>
            <a:ext cx="10934700" cy="67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GB10 •128GB • opção4TB •10GbE.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R$65k é provisão, sem cotação brasileira.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804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1">
                <a:solidFill>
                  <a:srgbClr val="35105C"/>
                </a:solidFill>
                <a:latin typeface="IBM Plex Sans"/>
                <a:hlinkClick r:id="rId3"/>
              </a:rPr>
              <a:t>NVIDIA / vLLM no Spark 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1980" y="4152900"/>
            <a:ext cx="10934700" cy="67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Playbook oficial de serving. Viabilidade técnica documentada.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Não comprova nossa carga, qualidade, throughput ou SLA.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876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1">
                <a:solidFill>
                  <a:srgbClr val="35105C"/>
                </a:solidFill>
                <a:latin typeface="IBM Plex Sans"/>
                <a:hlinkClick r:id="rId4"/>
              </a:rPr>
              <a:t>NVIDIA / SGLang no Spark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80" y="5349240"/>
            <a:ext cx="10934700" cy="67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Playbook oficial; alternativa ao vLLM.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Não somar capacidade. Implementação e carga a homologar.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A18 / REFERÊNCIAS CLICÁVEIS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Fontes e limites da evidência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484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1">
                <a:solidFill>
                  <a:srgbClr val="35105C"/>
                </a:solidFill>
                <a:latin typeface="IBM Plex Sans"/>
                <a:hlinkClick r:id="rId2"/>
              </a:rPr>
              <a:t>Hotmart / tarifas 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1980" y="2956560"/>
            <a:ext cx="10934700" cy="67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Tabela/FAQ:9,9% + USD1; atualização18/09/2026, vigência21/09.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Parágrafo antigo citaUSD0,50: confirmar condições da conta.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804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1">
                <a:solidFill>
                  <a:srgbClr val="35105C"/>
                </a:solidFill>
                <a:latin typeface="IBM Plex Sans"/>
                <a:hlinkClick r:id="rId3"/>
              </a:rPr>
              <a:t>Modelo financeiro ampliado / XLSX 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1980" y="4152900"/>
            <a:ext cx="10934700" cy="67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Premissas gerenciais, agendas, capacidade e sensibilidades.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As ofertas e volumes não são contratos.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876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80" b="1">
                <a:solidFill>
                  <a:srgbClr val="35105C"/>
                </a:solidFill>
                <a:latin typeface="IBM Plex Sans"/>
                <a:hlinkClick r:id="rId4"/>
              </a:rPr>
              <a:t>Séries mensais / CSV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80" y="5349240"/>
            <a:ext cx="10934700" cy="67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Valores completos por cenário e sensibilidade.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29143D"/>
                </a:solidFill>
                <a:latin typeface="IBM Plex Sans"/>
              </a:rPr>
              <a:t>Este portfólio substitui a tese estreita do pitch anterior.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5814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5105C"/>
                </a:solidFill>
                <a:latin typeface="IBM Plex Sans"/>
              </a:rPr>
              <a:t>A19 / PERGUNTAS E ARQUIVOS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9400" y="320040"/>
            <a:ext cx="121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35105C"/>
                </a:solidFill>
                <a:latin typeface="IBM Plex Sans"/>
              </a:rPr>
              <a:t>aumi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06780"/>
            <a:ext cx="11049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A conversa pode terminar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79" b="1">
                <a:solidFill>
                  <a:srgbClr val="29143D"/>
                </a:solidFill>
                <a:latin typeface="IBM Plex Sans"/>
              </a:rPr>
              <a:t>com uma decisão verificável.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552700"/>
            <a:ext cx="5791200" cy="3032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0">
                <a:solidFill>
                  <a:srgbClr val="29143D"/>
                </a:solidFill>
                <a:latin typeface="IBM Plex Sans"/>
              </a:rPr>
              <a:t>1. Qual comprador e oferta validar primeiro?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0">
                <a:solidFill>
                  <a:srgbClr val="29143D"/>
                </a:solidFill>
                <a:latin typeface="IBM Plex Sans"/>
              </a:rPr>
              <a:t/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0">
                <a:solidFill>
                  <a:srgbClr val="29143D"/>
                </a:solidFill>
                <a:latin typeface="IBM Plex Sans"/>
              </a:rPr>
              <a:t>2. Quem aporta, quanto e por quais marcos?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0">
                <a:solidFill>
                  <a:srgbClr val="29143D"/>
                </a:solidFill>
                <a:latin typeface="IBM Plex Sans"/>
              </a:rPr>
              <a:t/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0">
                <a:solidFill>
                  <a:srgbClr val="29143D"/>
                </a:solidFill>
                <a:latin typeface="IBM Plex Sans"/>
              </a:rPr>
              <a:t>3. Qual limite de perda e regra de parada?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0">
                <a:solidFill>
                  <a:srgbClr val="29143D"/>
                </a:solidFill>
                <a:latin typeface="IBM Plex Sans"/>
              </a:rPr>
              <a:t/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0">
                <a:solidFill>
                  <a:srgbClr val="29143D"/>
                </a:solidFill>
                <a:latin typeface="IBM Plex Sans"/>
              </a:rPr>
              <a:t>4. Quem aprova orçamento e publicação?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24700" y="2613660"/>
            <a:ext cx="4465320" cy="5257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35105C"/>
                </a:solidFill>
                <a:latin typeface="IBM Plex Sans"/>
                <a:hlinkClick r:id="rId2"/>
              </a:rPr>
              <a:t>Pitch em PDF 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24700" y="3261360"/>
            <a:ext cx="4465320" cy="5257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35105C"/>
                </a:solidFill>
                <a:latin typeface="IBM Plex Sans"/>
                <a:hlinkClick r:id="rId3"/>
              </a:rPr>
              <a:t>PowerPoint editável 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24700" y="3909060"/>
            <a:ext cx="4465320" cy="5257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35105C"/>
                </a:solidFill>
                <a:latin typeface="IBM Plex Sans"/>
                <a:hlinkClick r:id="rId4"/>
              </a:rPr>
              <a:t>Modelo financeiro ampliado 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24700" y="4556760"/>
            <a:ext cx="4465320" cy="5257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35105C"/>
                </a:solidFill>
                <a:latin typeface="IBM Plex Sans"/>
                <a:hlinkClick r:id="rId5"/>
              </a:rPr>
              <a:t>Cenários e sensibilidades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24700" y="5204460"/>
            <a:ext cx="4465320" cy="5257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35105C"/>
                </a:solidFill>
                <a:latin typeface="IBM Plex Sans"/>
                <a:hlinkClick r:id="rId6"/>
              </a:rPr>
              <a:t>Topologic empresarial: modelo separado ↗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316980"/>
            <a:ext cx="11094720" cy="0"/>
          </a:xfrm>
          <a:prstGeom prst="line">
            <a:avLst/>
          </a:prstGeom>
          <a:ln w="7620">
            <a:solidFill>
              <a:srgbClr val="D8C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56260" y="64389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105C"/>
                </a:solidFill>
                <a:latin typeface="IBM Plex Sans"/>
              </a:rPr>
              <a:t>Proposta para discussão • 02/10/2026 • Sem promessa de retorno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68000" y="6438900"/>
            <a:ext cx="990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35105C"/>
                </a:solidFill>
                <a:latin typeface="IBM Plex Sans"/>
              </a:rPr>
              <a:t>AUMI / 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541C80"/>
      </a:hlink>
      <a:folHlink>
        <a:srgbClr val="8B2F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AUMI | Uma operação de IA para vender pela AUMI</dc:title>
  <dc:subject>Proposta de negócio para Dani: compradores, entregas, receita e participação</dc:subject>
  <dc:creator>AUMI</dc:creator>
  <cp:keywords>conteúdo, código, atendimento, LATAM, Topologic, DGX, cenário, capital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