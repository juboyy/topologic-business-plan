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máquina é uma base de produção compartilhada para toda a AUMI: conteúdo, software, atendimento, produtos digitais e mapas de TI. Hoje discutimos uma proposta, não uma empresa com esses contratos já vendidos. O objetivo é validar compradores, custos e execução antes de liberar compra e expansão.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tese é transformar uma infraestrutura comum em entregas úteis. O cliente compra um resultado delimitado, não uma quantidade abstrata de tokens. Receita depende de oferta, venda, pessoas e qualidade, não apenas da máquina.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usamos uma estatística inventada. Estes são problemas que queremos verificar com compradores e na própria operação: pesquisa sem contexto compartilhado, produção repetitiva e revisão tardia. O custo deve ser medido em horas, retrabalho e contribuição, antes de prometer economia.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desenho é proposto. Fontes entram com autorização e limites. Os agentes usam contexto e ferramentas, mas a revisão humana continua responsável pela qualidade e pela liberação. Publicação, contrato e pagamento não ficam livres para automação.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linhas compartilham infraestrutura e gestão, mas não o mesmo comprador. Não presumimos que o comprador de um infoproduto vira cliente de TI. Todas as ofertas são propostas para validação. A venda de inferência genérica não é o único negócio.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exemplos são diagramas de entregas propostas, não produtos lançados nem dados de clientes. O conteúdo nasce de um briefing e passa por revisão. O código processa um fluxo autorizado e para em exceções. O atendimento consulta uma fonte e escalona quando não tem certeza. Nenhum exemplo representa benchmark.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loja significa infoprodutos para LATAM, vendidos em USD. Espanhol é hipótese inicial de idioma. Vários nichos, escolhidos por validação. Começar com até três, usando dor verificável, disposição de pagar, utilidade demonstrável e baixo risco regulatório. A plataforma é existente, com Hotmart como candidata; não construir marketplace próprio. CAC significa custo para adquirir um pedido e é cobrado em todas as vendas na simulação.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Topologic relaciona fontes, sistemas e responsáveis. O mapa inicial custa R$30 mil como preço proposto, com 80 horas diretas e 2 a 4 semanas após contrato e acesso. Limite: um domínio, até 40 componentes e 80 relações, duas fontes documentais ou exportações autorizadas e duas sessões de validação. Entregas: inventário, mapa 2D/3D, dependências, lacunas, PDF executivo e exportação. Inferência não é fato. Não inclui pentest, conector produtivo automático, mudança em sistemas ou economia garantida. Topologic empresarial, R$200 mil mais R$12 mil mensais, é expansão separada, não somada à projeção.</a:t>
            </a:r>
          </a:p>
          <a:p/>
          <a:p>
            <a:r>
              <a:t>Mapa ilustrativo, sem dados de cliente. Oferta e prazo sujeitos a validação.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Preços de teste, não pesquisa de preço nem contratos assinados. Conteúdo: R$4.500 por mês por 12 peças e 4 roteiros, uma rodada de revisão; vídeo final e mídia avançada à parte. Código: R$18 mil por fluxo delimitado, até 40h diretas. Atendimento: R$6 mil setup mais R$3.500 mensais, com limites a homologar. Loja: ticket hipotético USD29. Mapa: R$30 mil. As horas diretas, tributos, comercial e meios entram nos custos variáveis; o fixo é contado uma vez.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DGX Spark GB10, 128GB de memória unificada, 20 núcleos ARM, 4TB provisionados e 10GbE. A NVIDIA publica playbooks oficiais de vLLM e SGLang para Spark. São alternativas conforme modelo e carga, não duas capacidades somadas. Autenticação, isolamento, fila, permissões mínimas e backup fazem parte da implantação a validar. Imagem, áudio e vídeo exigem pipelines próprios. Aplicação, checkout e entrega digital ficam fora da máquina local. R$65 mil é provisão, não cotação brasileira. Uma máquina não tem redundância.</a:t>
            </a:r>
          </a:p>
          <a:p/>
          <a:p>
            <a:r>
              <a:t>Fontes: NVIDIA DGX Spark Hardware e playbooks vLLM / SGLang. Links no apêndice.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Precisamos medir a carga real, não inferir capacidade por memória ou por um playbook do fabricante. Atendimento tem prioridade planejada; conteúdo e tarefas longas podem ser agendados. A decisão depende de latência, qualidade, concorrência, memória, custo e tempo humano. Uma segunda máquina só entra depois de utilização, vendas e capacidade justificarem. Não traduzimos horas humanas em tokens por segundo.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Hotmart e Teachable reportaram 21 milhões de consumidores globais nos 12 meses anteriores a março de 2024. LATAM sem Brasil teve crescimento de 50% em GMV entre 2022 e 2023, segundo a empresa. Flexera 2025: 84% de mais de 750 profissionais globais apontam gestão do gasto cloud como principal desafio. Nada disso é nosso TAM ou prova de intenção de compra. Conteúdo concorre com gratuito, criadores e marketplaces; automação e atendimento com SaaS e agências; TI com consultorias, draw.io, LeanIX e ServiceNow.</a:t>
            </a:r>
          </a:p>
          <a:p/>
          <a:p>
            <a:r>
              <a:t>Fontes públicas: Hotmart, 21/03/2024; Flexera, 19/03/2025. Não são demanda validada da AUMI.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Proposta a implantar, não painel já integrado. Fontes autorizadas: checkout, banco, anúncios, CRM e projetos. Os agentes reconciliam receitas, estornos, custos, horas e caixa com evidência. Painel somente leitura para sócios, relatório diário, reunião semanal e prestação mensal. AUMI e Dani aprovam orçamento e despesas relevantes, com limites a formalizar. Pagamentos, contratos, publicação e compras exigem pessoa responsável. Agentes não têm acesso financeiro irrestrito.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Contribuição é o que sobra depois dos custos variáveis. Ainda precisa pagar fixos e não é lucro nem caixa. Conteúdo contribui R$2 mil por cliente/mês; código R$6.600 por projeto; atendimento R$1.630 por mês mais R$1 mil por setup; mapa R$9.600 por projeto. Loja contribui USD7,31628 por pedido aprovado a CAC10. Horas diretas são variáveis, separadas da equipe fixa de pesquisa e estrutura. Todas são hipóteses; impostos precisam de contador.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cenários incluem loja, mapas, conteúdo, código e atendimento. Não são probabilidades nem pipeline existente. Capital inclui M0 dentro do pico de déficit, mais R$126 mil de reserva, arredondado para cima em R$10 mil. Payback é o primeiro mês de fluxo acumulado não negativo, sem aportes. Não é o retorno de Dani. O fluxo de 24 meses só pode ser executado com capital e capacidade suficientes. Valores do novo resumo financeiro ampliado.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M0: R$76 mil de equipamentos e R$24 mil de preparação. Equipamentos: DGX65k, proteção4k, rede2k, backup3k e periféricos2k. Preparação: jurídico12k e segurança12k. Fixos37k por mês no ano1 e42k no ano2. Um cheque100k deixa zero após M0;150k deixa50k e200k deixa100k. Isso equivale a0/1,35/2,70 meses só de fixos sem vendas, não ao fôlego completo com aquisição e entregas. O cenário-base ampliado exige R$ 430.000 no total; inclui reserva126k. Não somar M0 novamente ao pico de déficit.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Retorno do negócio usa o fluxo do portfólio inteiro. Retorno do equipamento usa apenas benefício líquido incremental frente a operar sem compra, por exemplo com APIs alternativas. Não atribuir toda receita à DGX. Benefício incremental é margem adicional mais economia efetiva menos custos incrementais. Horas poupadas não viram caixa automaticamente. Exemplo aritmético: R$76 mil divididos por R$5 mil por mês são15,2 meses; não é benchmark nem resultado do modelo, não inclui rampa, juros ou valor residual. Dani tem retorno indefinido porque aporte e distribuição não foram acordados.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Dias1–30: conversar com10 compradores de nichos e5 contatos de TI, escolher até3 nichos e uma oferta B2B prioritária. Dias31–60: preparar até3 ofertas testáveis, validar checkout, dados, entrega e segurança; homologar modelo/carga. Dias61–90: alvo condicional50 vendas de loja e1 mapa pago, com caixa e qualidade. Conteúdo e código entram em piloto delimitado; atendimento só após base, escalonamento e limite homologados. A agenda financeira é hipótese de venda e não cronograma garantido; capacidade e aquisição precisam ser contratadas antes de escalar.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AUMI50% em conjunto: Marcos, Luciana e João, divisão interna a definir. Dani50%. Isso não define aportes iguais, cargos, trabalho ou remuneração. Precisamos acordar aportes, chamadas de capital, remuneração, distribuição, propriedade intelectual, veículo, orçamento, impasse e saída. Aprovação conjunta de orçamento e despesas relevantes, com limites formalizados. Retorno da empresa não é devolução automática do capital de Dani.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decisão proposta é avançar para diligência com responsabilidades e limites claros. Validar compradores e números, formalizar a sociedade e aprovar financiamento por marcos. Se o capital disponível for menor que o exigido, redimensionar e recalcular antes de executar. Não há autorização automática de compra, retorno garantido ou contrato já existente.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Todas as ofertas e seus preços são hipóteses gerenciais para validar. Alterações de escopo exigem nova cotação. Os exemplos da apresentação não são produtos ou clientes reais.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diretos por hora: conteúdo e suporte recorrenteR$120; código, setup e mapaR$180. Todos os valores em BRL. Provisão tributária15% e comercial5%. O setup não é recorrência. O mapa tem comercial de caixa sobre recebido e de competência sobre faturado. Horas diretas pagas à parte, não capacidade já contratada.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TicketUSD29, câmbio hipotético5, estornos8%. Taxa de plataforma9,9%+USD1 aplicada após estornos, tributos15%, reserva meios/câmbio3%, CAC10 e suporte1 por pedido. Tarifa Hotmart: tabela/FAQ atualizadas, com divergência de parágrafo antigo que precisa confirmação na conta. Tributos do comprador podem ser acrescidos ao checkout; não compõem o ticket. O modelo cobra CAC em todas as vendas e recebe em M+1.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Envelopes gerenciais e não salários pesquisados ou cargos atribuídos. Produto e engenharia/P&amp;D não substituem as horas variáveis de entrega. Ano2R$42mil é envelope ampliado a detalhar. M0R$100mil já entra no fluxo e no pico de déficit.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Horas diretas incluem B2B de todas as linhas modeladas, setup quando há ativação, além de P&amp;D/estrutura fixa. Dividir por160 dá equivalentes de dedicação, não pessoas já contratadas. Suporte de loja é custeado por pedido, sem tempo humano medido. Não converter essas horas em capacidade GPU. Conversão de visita2% é hipótese e não performance observada. Detalhes de mídia e visitas na planilha.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Receita após estornos não desconta todos os custos. Contribuição é receita menos variáveis. Resultado operacional desconta fixos. Caixa segue recebimentos e pagamentos efetivos. Loja recebeM+1 após plataforma; mapa e código50% atual/50% seguinte; conteúdo, atendimento e setup no mês. Capital requerido usa pico negativo do fluxo incluindoM0 mais126k, arredondado para cima10k. Dividendos, dívida, juros, inflação, tributos pessoais e segundaDGX não modelados. Provisão fiscal precisa regime e limites validados.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os valores em BRLmil, arredondados para apresentação. Fluxo acumulado começa em menos100mil noM0 e não inclui aportes, dividendos ou juros. A planilha traz todas as linhas, componentes e centavos. Vendas são hipóteses e dependem de aquisição, capacidade e financiamento. Não somar projeção Topologic empresarial.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os valores em BRLmil, arredondados para apresentação. Fluxo acumulado começa em menos100mil noM0 e não inclui aportes, dividendos ou juros. A planilha traz todas as linhas, componentes e centavos. Vendas são hipóteses e dependem de aquisição, capacidade e financiamento. Não somar projeção Topologic empresarial.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os valores em BRLmil, arredondados para apresentação. Fluxo acumulado começa em menos100mil noM0 e não inclui aportes, dividendos ou juros. A planilha traz todas as linhas, componentes e centavos. Vendas são hipóteses e dependem de aquisição, capacidade e financiamento. Não somar projeção Topologic empresarial.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os valores em BRLmil, arredondados para apresentação. Fluxo acumulado começa em menos100mil noM0 e não inclui aportes, dividendos ou juros. A planilha traz todas as linhas, componentes e centavos. Vendas são hipóteses e dependem de aquisição, capacidade e financiamento. Não somar projeção Topologic empresarial.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 de equipamentoR$76mil. Benefício incremental líquido precisa ser medido contra operação sem compra ou com APIs alternativas. Pode incluir margem adicional e economia efetiva, descontados custos incrementais. Não duplicar benefícios e não converter hora poupada automaticamente em dinheiro. Esses exemplos não incluem rampa, valor residual ou juros. Não são benchmark, resultado operacional do portfólio nem retorno de Dani.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Sensibilidades independentes. CAC15 mantém as vendas da base e muda apenas aquisição da loja. Novas50 mantém loja/mapa e fixos, reduz para50% os volumes de conteúdo/código/atendimento com piso mensal e recalcula ativações. Não é modelo explícito de churn. Atendimento não tem churn no modelo-base: retenção precisa ser comprovada. Não usar os antigos530k/M19 como resultado deste portfólio.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Valores emBRL. Bruto é o faturamento antes de estornos; receita após estornos ainda precisa pagar todos os variáveis. Não é lucro. As agendas não são probabilidades, pipeline ou contratos. O modelo projeta financiamento integral e capacidade de entregar. Topologic enterprise não está incluído.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Conteúdo e atendimento são clientes ativos; código e mapas são projetos no mês; loja são pedidos. Setup só aparece quando clientes de atendimento crescem. CACUSD10 e câmbio5: aquisiçãoBRL50 por pedido. Conversão2% pressupõe50 visitas por pedido. Tudo é hipótese. Equipe direta, aquisição e capacidade precisam ser financiadas.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Curvas comM0=-100mil e24meses do fluxo ampliado. Sem aportes, dividendos, juros ou segundaDGX. O ponto mais baixo determina o déficit a financiar; adicionar reserva126mil e arredondar para cima10mil. Cruzar zero é payback do projeto, não retorno de Dani.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Todas as fontes e downloads têm hyperlinks absolutos. Fontes de mercado são contextuais. Playbooks demonstram suporte técnico documentado, não capacidade ou retorno da nossa implantação. A planilha é a autoridade das hipóteses financeiras ampliadas.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Todas as fontes e downloads têm hyperlinks absolutos. Fontes de mercado são contextuais. Playbooks demonstram suporte técnico documentado, não capacidade ou retorno da nossa implantação. A planilha é a autoridade das hipóteses financeiras ampliadas.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Todas as fontes e downloads têm hyperlinks absolutos. Fontes de mercado são contextuais. Playbooks demonstram suporte técnico documentado, não capacidade ou retorno da nossa implantação. A planilha é a autoridade das hipóteses financeiras ampliadas.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Registrar o próximo passo, responsáveis, limite de perda e condições de financiamento. PDF para compartilhar, PowerPoint para editar, planilha e CSV para auditar. O material Topologic empresarial anterior é um modelo separado e não compõe as projeções ampliadas.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ress.hotmart.com/hotmart-company-announces-record-breaking-10-billion-in-global-creator-earnings" TargetMode="External"/><Relationship Id="rId3" Type="http://schemas.openxmlformats.org/officeDocument/2006/relationships/hyperlink" Target="https://www.flexera.com/about-us/press-center/new-flexera-report-finds-84-percent-of-organizations-struggle-to-manage-cloud-spend" TargetMode="External"/><Relationship Id="rId4" Type="http://schemas.openxmlformats.org/officeDocument/2006/relationships/hyperlink" Target="https://www.gsma.com/about-us/regions/latin-america-and-the-caribbean/gsma_resources/the-mobile-economy-latin-america-2026/" TargetMode="External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nvidia.com/dgx/dgx-spark/hardware.html" TargetMode="External"/><Relationship Id="rId3" Type="http://schemas.openxmlformats.org/officeDocument/2006/relationships/hyperlink" Target="https://build.nvidia.com/spark/vllm" TargetMode="External"/><Relationship Id="rId4" Type="http://schemas.openxmlformats.org/officeDocument/2006/relationships/hyperlink" Target="https://build.nvidia.com/spark/sglang" TargetMode="External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portehotmart.zendesk.com/hc/en-us/articles/208298448-What-are-the-fees-charged-by-Hotmart" TargetMode="External"/><Relationship Id="rId3" Type="http://schemas.openxmlformats.org/officeDocument/2006/relationships/hyperlink" Target="https://juboyy.github.io/topologic-business-plan/modelo-portfolio.xlsx" TargetMode="External"/><Relationship Id="rId4" Type="http://schemas.openxmlformats.org/officeDocument/2006/relationships/hyperlink" Target="https://juboyy.github.io/topologic-business-plan/cenarios-portfolio.csv" TargetMode="External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juboyy.github.io/topologic-business-plan/pitch-deck.pdf" TargetMode="External"/><Relationship Id="rId3" Type="http://schemas.openxmlformats.org/officeDocument/2006/relationships/hyperlink" Target="https://juboyy.github.io/topologic-business-plan/pitch-deck.pptx" TargetMode="External"/><Relationship Id="rId4" Type="http://schemas.openxmlformats.org/officeDocument/2006/relationships/hyperlink" Target="https://juboyy.github.io/topologic-business-plan/modelo-portfolio.xlsx" TargetMode="External"/><Relationship Id="rId5" Type="http://schemas.openxmlformats.org/officeDocument/2006/relationships/hyperlink" Target="https://juboyy.github.io/topologic-business-plan/cenarios-portfolio.csv" TargetMode="External"/><Relationship Id="rId6" Type="http://schemas.openxmlformats.org/officeDocument/2006/relationships/hyperlink" Target="https://juboyy.github.io/topologic-business-plan/plano-completo.html" TargetMode="External"/><Relationship Id="rId7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10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48700" y="1295400"/>
            <a:ext cx="2362200" cy="838200"/>
          </a:xfrm>
          <a:prstGeom prst="rect">
            <a:avLst/>
          </a:prstGeom>
          <a:solidFill>
            <a:srgbClr val="FF7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01000" y="2324100"/>
            <a:ext cx="30099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48700" y="3352800"/>
            <a:ext cx="2362200" cy="838200"/>
          </a:xfrm>
          <a:prstGeom prst="rect">
            <a:avLst/>
          </a:prstGeom>
          <a:solidFill>
            <a:srgbClr val="FF7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01000" y="4381500"/>
            <a:ext cx="3009900" cy="838200"/>
          </a:xfrm>
          <a:prstGeom prst="rect">
            <a:avLst/>
          </a:prstGeom>
          <a:solidFill>
            <a:srgbClr val="6C45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1500" y="472440"/>
            <a:ext cx="419099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aumi / INFRAESTRUTURA PRODUTIVA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24940"/>
            <a:ext cx="7543800" cy="3314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59" b="1">
                <a:solidFill>
                  <a:srgbClr val="FFFFFF"/>
                </a:solidFill>
                <a:latin typeface="IBM Plex Sans"/>
              </a:rPr>
              <a:t>PRODUZIR.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59" b="1">
                <a:solidFill>
                  <a:srgbClr val="FFFFFF"/>
                </a:solidFill>
                <a:latin typeface="IBM Plex Sans"/>
              </a:rPr>
              <a:t>ENTREGAR.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959" b="1">
                <a:solidFill>
                  <a:srgbClr val="FFFFFF"/>
                </a:solidFill>
                <a:latin typeface="IBM Plex Sans"/>
              </a:rPr>
              <a:t>ESCALAR.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892040"/>
            <a:ext cx="67437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20" b="1">
                <a:solidFill>
                  <a:srgbClr val="FF7B22"/>
                </a:solidFill>
                <a:latin typeface="IBM Plex Sans"/>
              </a:rPr>
              <a:t>Inteligência que trabalha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20" b="1">
                <a:solidFill>
                  <a:srgbClr val="FF7B22"/>
                </a:solidFill>
                <a:latin typeface="IBM Plex Sans"/>
              </a:rPr>
              <a:t>para a AUMI.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560320"/>
            <a:ext cx="2286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35105C"/>
                </a:solidFill>
                <a:latin typeface="IBM Plex Sans"/>
              </a:rPr>
              <a:t>CRIAR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600" y="3581400"/>
            <a:ext cx="19431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35105C"/>
                </a:solidFill>
                <a:latin typeface="IBM Plex Sans"/>
              </a:rPr>
              <a:t>OPERAR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5800" y="461772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FFFFFF"/>
                </a:solidFill>
                <a:latin typeface="IBM Plex Sans"/>
              </a:rPr>
              <a:t>EVOLUIR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8C9E7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D8C9E7"/>
                </a:solidFill>
                <a:latin typeface="IBM Plex Sans"/>
              </a:rPr>
              <a:t>AUMI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7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4602480"/>
            <a:ext cx="838200" cy="9144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01 / A PROPOSTA DE 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1417320"/>
            <a:ext cx="110490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40" b="1">
                <a:solidFill>
                  <a:srgbClr val="35105C"/>
                </a:solidFill>
                <a:latin typeface="IBM Plex Sans"/>
              </a:rPr>
              <a:t>Uma base de IA.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40" b="1">
                <a:solidFill>
                  <a:srgbClr val="35105C"/>
                </a:solidFill>
                <a:latin typeface="IBM Plex Sans"/>
              </a:rPr>
              <a:t>Entregas que alguém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40" b="1">
                <a:solidFill>
                  <a:srgbClr val="35105C"/>
                </a:solidFill>
                <a:latin typeface="IBM Plex Sans"/>
              </a:rPr>
              <a:t>paga para receber.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2600" y="4488180"/>
            <a:ext cx="9448800" cy="112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60" b="0">
                <a:solidFill>
                  <a:srgbClr val="35105C"/>
                </a:solidFill>
                <a:latin typeface="IBM Plex Sans"/>
              </a:rPr>
              <a:t>Conteúdo, software e atendimento.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60" b="0">
                <a:solidFill>
                  <a:srgbClr val="35105C"/>
                </a:solidFill>
                <a:latin typeface="IBM Plex Sans"/>
              </a:rPr>
              <a:t>Produtos LATAM e inteligência visual de TI.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667000"/>
            <a:ext cx="3543300" cy="25679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51020" y="2667000"/>
            <a:ext cx="3543300" cy="25679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2920" y="2667000"/>
            <a:ext cx="3543300" cy="25679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02 / O PROBLEMA ECONÔMICO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Hoje, o trabalho se perde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entre uma ferramenta e outra.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1470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31470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Contexto espalhado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91939"/>
            <a:ext cx="314706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Documentos, conversas e decisões em lugares diferentes.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9140" y="2834640"/>
            <a:ext cx="31470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40" y="3291840"/>
            <a:ext cx="31470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Produção repetida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9140" y="4091939"/>
            <a:ext cx="314706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A mesma pesquisa refeita para texto, código e resposta.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834640"/>
            <a:ext cx="31470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291840"/>
            <a:ext cx="31470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Revisão no fim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091939"/>
            <a:ext cx="314706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Erros e retrabalho aparecem perto da entrega.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" y="571500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Oportunidade a medir: menos retrabalho e mais entregas úteis por ciclo.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10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834640"/>
            <a:ext cx="2628900" cy="18668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59480" y="2834640"/>
            <a:ext cx="2628900" cy="18668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39840" y="2834640"/>
            <a:ext cx="2628900" cy="1866899"/>
          </a:xfrm>
          <a:prstGeom prst="rect">
            <a:avLst/>
          </a:prstGeom>
          <a:solidFill>
            <a:srgbClr val="FF7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220200" y="2834640"/>
            <a:ext cx="2628900" cy="18668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230880" y="3733799"/>
            <a:ext cx="160020" cy="0"/>
          </a:xfrm>
          <a:prstGeom prst="line">
            <a:avLst/>
          </a:prstGeom>
          <a:ln w="30480">
            <a:solidFill>
              <a:srgbClr val="FF7B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111240" y="3733799"/>
            <a:ext cx="160020" cy="0"/>
          </a:xfrm>
          <a:prstGeom prst="line">
            <a:avLst/>
          </a:prstGeom>
          <a:ln w="30480">
            <a:solidFill>
              <a:srgbClr val="FF7B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991600" y="3733799"/>
            <a:ext cx="160020" cy="0"/>
          </a:xfrm>
          <a:prstGeom prst="line">
            <a:avLst/>
          </a:prstGeom>
          <a:ln w="30480">
            <a:solidFill>
              <a:srgbClr val="FF7B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FF7B22"/>
                </a:solidFill>
                <a:latin typeface="IBM Plex Sans"/>
              </a:rPr>
              <a:t>03 / O SISTEMA PRODUTIVO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Do contexto autorizado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à entrega aprovada.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760" y="2987040"/>
            <a:ext cx="22936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Fontes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760" y="3444240"/>
            <a:ext cx="2293620" cy="1181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Documentos, briefing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e sistemas autorizados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7120" y="2987040"/>
            <a:ext cx="22936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Agentes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7120" y="3444240"/>
            <a:ext cx="2293620" cy="1181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Contexto, ferramentas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e tarefas delimitadas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480" y="2987040"/>
            <a:ext cx="22936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Revisão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480" y="3444240"/>
            <a:ext cx="2293620" cy="1181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Especialista confere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fonte, teste e qualidade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840" y="2987040"/>
            <a:ext cx="22936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Entrega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7840" y="3444240"/>
            <a:ext cx="2293620" cy="1181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Cliente recebe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um resultado definido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120640"/>
            <a:ext cx="10896600" cy="746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20" b="0">
                <a:solidFill>
                  <a:srgbClr val="FFFFFF"/>
                </a:solidFill>
                <a:latin typeface="IBM Plex Sans"/>
              </a:rPr>
              <a:t>Conteúdo e código entram em produção.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20" b="0">
                <a:solidFill>
                  <a:srgbClr val="FFFFFF"/>
                </a:solidFill>
                <a:latin typeface="IBM Plex Sans"/>
              </a:rPr>
              <a:t>Dinheiro, contratos e publicação passam por pessoas.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8C9E7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D8C9E7"/>
                </a:solidFill>
                <a:latin typeface="IBM Plex Sans"/>
              </a:rPr>
              <a:t>AUMI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659380"/>
            <a:ext cx="2110740" cy="273558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57500" y="2659380"/>
            <a:ext cx="2110740" cy="273558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35880" y="2659380"/>
            <a:ext cx="2110740" cy="273558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14259" y="2659380"/>
            <a:ext cx="2110740" cy="273558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92640" y="2659380"/>
            <a:ext cx="2110740" cy="273558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04 / PORTFÓLIO AUMI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Um parque produtivo.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Compradores e contratos distintos.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2933700"/>
            <a:ext cx="1783080" cy="632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CONTEÚDO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764279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Marcas e equipes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Pacote mensal de produção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5140" y="2933700"/>
            <a:ext cx="1783080" cy="632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CÓDIGO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5140" y="3764279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Operações e produto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Projeto de automação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933700"/>
            <a:ext cx="1783080" cy="632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ATENDIMENTO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764279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Equipes de serviço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Setup + mensalidade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1899" y="2933700"/>
            <a:ext cx="1783080" cy="632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LOJA LATAM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1899" y="3764279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Pessoas com dor específica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Produto digital em USD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60280" y="2933700"/>
            <a:ext cx="1783080" cy="632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BM Plex Sans"/>
              </a:rPr>
              <a:t>TOPOLOGIC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60280" y="3764279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TI e arquitetura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Mapa de um domínio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71500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Infraestrutura compartilhada não significa capacidade infinita.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781300"/>
            <a:ext cx="3543300" cy="27813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51020" y="2781300"/>
            <a:ext cx="3543300" cy="27813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2920" y="2781300"/>
            <a:ext cx="3543300" cy="27813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4860" y="3535680"/>
            <a:ext cx="876300" cy="147828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05 / PROPOSTAS ILUSTRATIVAS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Veja o tipo de entrega.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120" y="2164080"/>
            <a:ext cx="109728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685878"/>
                </a:solidFill>
                <a:latin typeface="IBM Plex Sans"/>
              </a:rPr>
              <a:t>Exemplos criados para esta conversa. Não são produtos ou clientes reais.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620" y="2971800"/>
            <a:ext cx="3162300" cy="335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5105C"/>
                </a:solidFill>
                <a:latin typeface="IBM Plex Sans"/>
              </a:rPr>
              <a:t>CONTEÚDO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1520" y="2971800"/>
            <a:ext cx="3162300" cy="335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5105C"/>
                </a:solidFill>
                <a:latin typeface="IBM Plex Sans"/>
              </a:rPr>
              <a:t>CÓDIGO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3420" y="2971800"/>
            <a:ext cx="3162300" cy="335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5105C"/>
                </a:solidFill>
                <a:latin typeface="IBM Plex Sans"/>
              </a:rPr>
              <a:t>ATENDIMENTO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6780" y="3688080"/>
            <a:ext cx="67056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BM Plex Sans"/>
              </a:rPr>
              <a:t>01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BM Plex Sans"/>
              </a:rPr>
              <a:t>IDEIA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BM Plex Sans"/>
              </a:rPr>
              <a:t>ÚTIL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9280" y="3550920"/>
            <a:ext cx="1981199" cy="601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5105C"/>
                </a:solidFill>
                <a:latin typeface="IBM Plex Sans"/>
              </a:rPr>
              <a:t>Um roteiro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5105C"/>
                </a:solidFill>
                <a:latin typeface="IBM Plex Sans"/>
              </a:rPr>
              <a:t>vira peças.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6899" y="4312920"/>
            <a:ext cx="192024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Gancho → exemplo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→ ação sugerida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→ revisão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1520" y="3543300"/>
            <a:ext cx="3147060" cy="16078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1">
                <a:solidFill>
                  <a:srgbClr val="35105C"/>
                </a:solidFill>
                <a:latin typeface="IBM Plex Sans"/>
              </a:rPr>
              <a:t>entrada autorizada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1">
                <a:solidFill>
                  <a:srgbClr val="35105C"/>
                </a:solidFill>
                <a:latin typeface="IBM Plex Sans"/>
              </a:rPr>
              <a:t>        ↓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1">
                <a:solidFill>
                  <a:srgbClr val="35105C"/>
                </a:solidFill>
                <a:latin typeface="IBM Plex Sans"/>
              </a:rPr>
              <a:t>validar → transformar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1">
                <a:solidFill>
                  <a:srgbClr val="35105C"/>
                </a:solidFill>
                <a:latin typeface="IBM Plex Sans"/>
              </a:rPr>
              <a:t>        ↓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1">
                <a:solidFill>
                  <a:srgbClr val="35105C"/>
                </a:solidFill>
                <a:latin typeface="IBM Plex Sans"/>
              </a:rPr>
              <a:t>exceção → revisão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8659" y="3558540"/>
            <a:ext cx="3124200" cy="57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1">
                <a:solidFill>
                  <a:srgbClr val="35105C"/>
                </a:solidFill>
                <a:latin typeface="IBM Plex Sans"/>
              </a:rPr>
              <a:t>“Como faço a troca?”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8659" y="4290060"/>
            <a:ext cx="3063240" cy="1028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Consulta a política.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Responde com fonte.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Dúvida? Chama humano.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120" y="585216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Não prometer alcance, automação sem erro ou atendimento ilimitado.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81800" y="0"/>
            <a:ext cx="5410200" cy="624840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84520"/>
            <a:ext cx="12192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06 / PRODUTOS PRÓPRIOS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06780"/>
            <a:ext cx="5943600" cy="1790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Loja LATAM: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validar antes de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multiplicar.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3528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1980" y="2697480"/>
            <a:ext cx="5600700" cy="906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80" b="1">
                <a:solidFill>
                  <a:srgbClr val="35105C"/>
                </a:solidFill>
                <a:latin typeface="IBM Plex Sans"/>
              </a:rPr>
              <a:t>PDFs práticos, templates,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80" b="1">
                <a:solidFill>
                  <a:srgbClr val="35105C"/>
                </a:solidFill>
                <a:latin typeface="IBM Plex Sans"/>
              </a:rPr>
              <a:t>kits e minicursos.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1980" y="4038600"/>
            <a:ext cx="5562600" cy="1249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9143D"/>
                </a:solidFill>
                <a:latin typeface="IBM Plex Sans"/>
              </a:rPr>
              <a:t>Até 3 nichos em teste.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9143D"/>
                </a:solidFill>
                <a:latin typeface="IBM Plex Sans"/>
              </a:rPr>
              <a:t>Oferta curta, revisão especializada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9143D"/>
                </a:solidFill>
                <a:latin typeface="IBM Plex Sans"/>
              </a:rPr>
              <a:t>e checkout existente.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407920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920" b="1">
                <a:solidFill>
                  <a:srgbClr val="FF7B22"/>
                </a:solidFill>
                <a:latin typeface="IBM Plex Sans"/>
              </a:rPr>
              <a:t>USD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38060" y="3246120"/>
            <a:ext cx="4229100" cy="708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Ticket médio hipotético.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Não é preço já validado.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8060" y="4297680"/>
            <a:ext cx="4229100" cy="1348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Medir CAC, estornos e suporte.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Parar se não houver margem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ou qualidade suficiente.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120" y="579120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Nenhum catálogo pronto ou nicho escolhido. Espanhol é hipótese inicial.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788920"/>
            <a:ext cx="2133600" cy="11049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0" y="2788920"/>
            <a:ext cx="2133600" cy="110490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52600" y="4328160"/>
            <a:ext cx="2133600" cy="11049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51960" y="4328160"/>
            <a:ext cx="2133600" cy="11049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781300" y="3345180"/>
            <a:ext cx="876300" cy="0"/>
          </a:xfrm>
          <a:prstGeom prst="line">
            <a:avLst/>
          </a:prstGeom>
          <a:ln w="30480">
            <a:solidFill>
              <a:srgbClr val="3510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2819400" y="3893820"/>
            <a:ext cx="1371599" cy="434340"/>
          </a:xfrm>
          <a:prstGeom prst="line">
            <a:avLst/>
          </a:prstGeom>
          <a:ln w="30480">
            <a:solidFill>
              <a:srgbClr val="3510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257800" y="3893820"/>
            <a:ext cx="60960" cy="434340"/>
          </a:xfrm>
          <a:prstGeom prst="line">
            <a:avLst/>
          </a:prstGeom>
          <a:ln w="30480">
            <a:solidFill>
              <a:srgbClr val="3510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07 / MAPA INICIAL DE 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Topologic: enxergar relações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antes de decidir uma mudança.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340" y="294132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Portal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340" y="339852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Fonte: documento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5240" y="294132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FFFFFF"/>
                </a:solidFill>
                <a:latin typeface="IBM Plex Sans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5240" y="339852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IBM Plex Sans"/>
              </a:rPr>
              <a:t>Dono: operações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8056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Dados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93776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Relação a validar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9600" y="448056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Identidade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9600" y="493776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Fonte: exportação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900" y="2575560"/>
            <a:ext cx="441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380" b="1">
                <a:solidFill>
                  <a:srgbClr val="35105C"/>
                </a:solidFill>
                <a:latin typeface="IBM Plex Sans"/>
              </a:rPr>
              <a:t>R$ 30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8520" y="3368040"/>
            <a:ext cx="4305300" cy="1341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80h diretas • 1 domínio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Até 40 sistemas / 80 relações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2 fontes / 2 validações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8520" y="5036820"/>
            <a:ext cx="43053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Inventário + mapa + lacunas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+ PDF executivo + exportação.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Mapa ilustrativo, sem dados de cliente. Oferta e prazo sujeitos a validação.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10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FF7B22"/>
                </a:solidFill>
                <a:latin typeface="IBM Plex Sans"/>
              </a:rPr>
              <a:t>08 / MODELO COMERCIAL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Projetos. Recorrência.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Produtos próprios.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2697480"/>
            <a:ext cx="3543300" cy="373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7B22"/>
                </a:solidFill>
                <a:latin typeface="IBM Plex Sans"/>
              </a:rPr>
              <a:t>PROJETOS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9120" y="3284220"/>
            <a:ext cx="3543300" cy="6934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40" b="1">
                <a:solidFill>
                  <a:srgbClr val="FFFFFF"/>
                </a:solidFill>
                <a:latin typeface="IBM Plex Sans"/>
              </a:rPr>
              <a:t>R$ 18k / 30k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4206240"/>
            <a:ext cx="33909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Código / mapa TI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Escopo e aceite definidos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1020" y="2697480"/>
            <a:ext cx="3543300" cy="373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7B22"/>
                </a:solidFill>
                <a:latin typeface="IBM Plex Sans"/>
              </a:rPr>
              <a:t>RECORRÊNCIA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1020" y="3284220"/>
            <a:ext cx="3543300" cy="6934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40" b="1">
                <a:solidFill>
                  <a:srgbClr val="FFFFFF"/>
                </a:solidFill>
                <a:latin typeface="IBM Plex Sans"/>
              </a:rPr>
              <a:t>R$ 4,5k / 3,5k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1020" y="4206240"/>
            <a:ext cx="33909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Conteúdo / atendimento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Atendimento: setup R$ 6k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2920" y="2697480"/>
            <a:ext cx="3543300" cy="373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7B22"/>
                </a:solidFill>
                <a:latin typeface="IBM Plex Sans"/>
              </a:rPr>
              <a:t>PRODUTO PRÓPRIO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2920" y="3284220"/>
            <a:ext cx="3543300" cy="6934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40" b="1">
                <a:solidFill>
                  <a:srgbClr val="FFFFFF"/>
                </a:solidFill>
                <a:latin typeface="IBM Plex Sans"/>
              </a:rPr>
              <a:t>USD 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2920" y="4206240"/>
            <a:ext cx="33909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Loja LATAM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Por pedido aprovado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" y="571500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7B22"/>
                </a:solidFill>
                <a:latin typeface="IBM Plex Sans"/>
              </a:rPr>
              <a:t>Todos os preços são hipóteses comerciais. Não há contratos comprovados.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8C9E7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D8C9E7"/>
                </a:solidFill>
                <a:latin typeface="IBM Plex Sans"/>
              </a:rPr>
              <a:t>AUMI /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667000"/>
            <a:ext cx="2606040" cy="24003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703320" y="2667000"/>
            <a:ext cx="4732020" cy="240030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53500" y="2667000"/>
            <a:ext cx="2644140" cy="24003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3215640" y="3733799"/>
            <a:ext cx="388620" cy="0"/>
          </a:xfrm>
          <a:prstGeom prst="line">
            <a:avLst/>
          </a:prstGeom>
          <a:ln w="30480">
            <a:solidFill>
              <a:srgbClr val="3510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473440" y="3733799"/>
            <a:ext cx="381000" cy="0"/>
          </a:xfrm>
          <a:prstGeom prst="line">
            <a:avLst/>
          </a:prstGeom>
          <a:ln w="30480">
            <a:solidFill>
              <a:srgbClr val="3510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09 / ARQUITETURA PROPOSTA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Uma DGX desde o início.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Uma infraestrutura para toda a AUMI.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2819400"/>
            <a:ext cx="227076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ENTRADAS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276600"/>
            <a:ext cx="227076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Equipe e ferramentas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Autenticação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Isolamento por cliente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Fontes autorizadas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70960" y="2819400"/>
            <a:ext cx="439674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FFFFFF"/>
                </a:solidFill>
                <a:latin typeface="IBM Plex Sans"/>
              </a:rPr>
              <a:t>1 × DGX SPARK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70960" y="3276600"/>
            <a:ext cx="439674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IBM Plex Sans"/>
              </a:rPr>
              <a:t>128 GB • 4 TB • GB10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IBM Plex Sans"/>
              </a:rPr>
              <a:t>Fila e produção agendada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IBM Plex Sans"/>
              </a:rPr>
              <a:t>vLLM OU SGLang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IBM Plex Sans"/>
              </a:rPr>
              <a:t>Modelos e cargas a homologar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1140" y="2819400"/>
            <a:ext cx="230886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FORA DA DGX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3276600"/>
            <a:ext cx="230886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Cloud / aplicação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Checkout e downloads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Backup separado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Revisão humana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120" y="571500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Imagem, áudio e vídeo: pipelines específicos. Sem throughput ou SLA prometido.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Fontes: NVIDIA DGX Spark Hardware e playbooks vLLM / SGLang. Links no apêndice.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934200" y="0"/>
            <a:ext cx="5257800" cy="624840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84520"/>
            <a:ext cx="12192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10 / CAPACIDADE E CONTROLE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06780"/>
            <a:ext cx="5943600" cy="1790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A mesma GPU.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A mesma equipe.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Uma fila com prioridades.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3528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5699760" cy="167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0">
                <a:solidFill>
                  <a:srgbClr val="29143D"/>
                </a:solidFill>
                <a:latin typeface="IBM Plex Sans"/>
              </a:rPr>
              <a:t>Homologar modelo + carga + qualidade.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0">
                <a:solidFill>
                  <a:srgbClr val="29143D"/>
                </a:solidFill>
                <a:latin typeface="IBM Plex Sans"/>
              </a:rPr>
              <a:t>Medir tempo humano e margem.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0">
                <a:solidFill>
                  <a:srgbClr val="29143D"/>
                </a:solidFill>
                <a:latin typeface="IBM Plex Sans"/>
              </a:rPr>
              <a:t>Só depois assumir compromisso.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99960" y="1676400"/>
            <a:ext cx="436626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7B22"/>
                </a:solidFill>
                <a:latin typeface="IBM Plex Sans"/>
              </a:rPr>
              <a:t>01 / PRIORITÁRIO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99960" y="2194560"/>
            <a:ext cx="424434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BM Plex Sans"/>
              </a:rPr>
              <a:t>Atendimento com limites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99960" y="3086100"/>
            <a:ext cx="436626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7B22"/>
                </a:solidFill>
                <a:latin typeface="IBM Plex Sans"/>
              </a:rPr>
              <a:t>02 / AGENDADO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9960" y="3604260"/>
            <a:ext cx="424434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BM Plex Sans"/>
              </a:rPr>
              <a:t>Produção de conteúdo e código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9960" y="4495800"/>
            <a:ext cx="436626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7B22"/>
                </a:solidFill>
                <a:latin typeface="IBM Plex Sans"/>
              </a:rPr>
              <a:t>03 / CONTROLADO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9960" y="5013960"/>
            <a:ext cx="424434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BM Plex Sans"/>
              </a:rPr>
              <a:t>P&amp;D, mapas e testes de modelos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" y="579120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Nova máquina só com utilização e receita justificadas. Sem capacidade duplicada.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096000" y="2667000"/>
            <a:ext cx="0" cy="2933700"/>
          </a:xfrm>
          <a:prstGeom prst="line">
            <a:avLst/>
          </a:prstGeom>
          <a:ln w="22859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11 / EVIDÊNCIA E CONCORRÊNCIA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Há sinais de mercado.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 nossa venda ainda precisa ser provada.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740" y="2644140"/>
            <a:ext cx="506730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5105C"/>
                </a:solidFill>
                <a:latin typeface="IBM Plex Sans"/>
              </a:rPr>
              <a:t>21 milhões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740" y="3467100"/>
            <a:ext cx="50673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Compradores globais Hotmart / Teachable.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Dado autorrelatado; 12 meses até mar/2024.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6540" y="2644140"/>
            <a:ext cx="501396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5105C"/>
                </a:solidFill>
                <a:latin typeface="IBM Plex Sans"/>
              </a:rPr>
              <a:t>84%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6540" y="3467100"/>
            <a:ext cx="5013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Gestão do gasto cloud como desafio.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Pesquisa global Flexera 2025.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740" y="4709160"/>
            <a:ext cx="5143500" cy="876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Conteúdo gratuito, criadores,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marketplaces, SaaS e agências.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6540" y="4709160"/>
            <a:ext cx="4953000" cy="876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Consultorias, draw.io,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LeanIX e ServiceNow.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120" y="582930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Hipótese de valor: resultado delimitado, contexto, fonte e revisão humana.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Fontes públicas: Hotmart, 21/03/2024; Flexera, 19/03/2025. Não são demanda validada da AUMI.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10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720340"/>
            <a:ext cx="3505200" cy="20040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51020" y="2720340"/>
            <a:ext cx="3505200" cy="20040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2920" y="2720340"/>
            <a:ext cx="3505200" cy="20040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5105400"/>
            <a:ext cx="11049000" cy="784860"/>
          </a:xfrm>
          <a:prstGeom prst="rect">
            <a:avLst/>
          </a:prstGeom>
          <a:solidFill>
            <a:srgbClr val="FF7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4107179" y="3726180"/>
            <a:ext cx="175261" cy="0"/>
          </a:xfrm>
          <a:prstGeom prst="line">
            <a:avLst/>
          </a:prstGeom>
          <a:ln w="30480">
            <a:solidFill>
              <a:srgbClr val="FF7B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879080" y="3726180"/>
            <a:ext cx="175260" cy="0"/>
          </a:xfrm>
          <a:prstGeom prst="line">
            <a:avLst/>
          </a:prstGeom>
          <a:ln w="30480">
            <a:solidFill>
              <a:srgbClr val="FF7B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FF7B22"/>
                </a:solidFill>
                <a:latin typeface="IBM Plex Sans"/>
              </a:rPr>
              <a:t>12 / COMO OS SÓCIOS ACOMPANHAM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Gestão visível.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Decisão humana.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2872740"/>
            <a:ext cx="31699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760" y="3329940"/>
            <a:ext cx="3169920" cy="1318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Checkout • banco • anúncios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CRM • projetos • horas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8660" y="2872740"/>
            <a:ext cx="31699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RECONCILIAÇÃO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8660" y="3329940"/>
            <a:ext cx="3169920" cy="1318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Receita • estornos • custos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Fonte, regra e alerta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0560" y="2872740"/>
            <a:ext cx="31699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PAINEL DOS SÓCIOS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3329940"/>
            <a:ext cx="3169920" cy="1318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Diário • semanal • mensal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Caixa e margem por oferta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" y="5303520"/>
            <a:ext cx="1059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PESSOAS APROVAM  /  dinheiro • contratos • publicação • compras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8C9E7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D8C9E7"/>
                </a:solidFill>
                <a:latin typeface="IBM Plex Sans"/>
              </a:rPr>
              <a:t>AUMI /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667000"/>
            <a:ext cx="2118360" cy="2461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57500" y="2667000"/>
            <a:ext cx="2118360" cy="2461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35880" y="2667000"/>
            <a:ext cx="2118360" cy="2461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14259" y="2667000"/>
            <a:ext cx="2118360" cy="2461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92640" y="2667000"/>
            <a:ext cx="2118360" cy="2461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13 / ECONOMIA DO PORTFÓLIO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 receita paga entrega e aquisição.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 contribuição paga a estrutura.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2887980"/>
            <a:ext cx="17907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</a:rPr>
              <a:t>CONTEÚDO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64236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35105C"/>
                </a:solidFill>
                <a:latin typeface="IBM Plex Sans"/>
              </a:rPr>
              <a:t>R$ 2.000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760" y="4511040"/>
            <a:ext cx="176784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9143D"/>
                </a:solidFill>
                <a:latin typeface="IBM Plex Sans"/>
              </a:rPr>
              <a:t>12h / cliente-mês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5140" y="2887980"/>
            <a:ext cx="17907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</a:rPr>
              <a:t>CÓDIGO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5140" y="364236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35105C"/>
                </a:solidFill>
                <a:latin typeface="IBM Plex Sans"/>
              </a:rPr>
              <a:t>R$ 6.600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5140" y="4511040"/>
            <a:ext cx="176784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9143D"/>
                </a:solidFill>
                <a:latin typeface="IBM Plex Sans"/>
              </a:rPr>
              <a:t>40h /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87980"/>
            <a:ext cx="17907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</a:rPr>
              <a:t>ATENDIMENTO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64236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35105C"/>
                </a:solidFill>
                <a:latin typeface="IBM Plex Sans"/>
              </a:rPr>
              <a:t>R$ 1.630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511040"/>
            <a:ext cx="176784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9143D"/>
                </a:solidFill>
                <a:latin typeface="IBM Plex Sans"/>
              </a:rPr>
              <a:t>8h / cliente-mês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1899" y="2887980"/>
            <a:ext cx="17907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</a:rPr>
              <a:t>MAPA 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1899" y="364236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35105C"/>
                </a:solidFill>
                <a:latin typeface="IBM Plex Sans"/>
              </a:rPr>
              <a:t>R$ 9.600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1899" y="4511040"/>
            <a:ext cx="176784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9143D"/>
                </a:solidFill>
                <a:latin typeface="IBM Plex Sans"/>
              </a:rPr>
              <a:t>80h /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60280" y="2887980"/>
            <a:ext cx="17907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</a:rPr>
              <a:t>LOJA LATAM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0280" y="364236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35105C"/>
                </a:solidFill>
                <a:latin typeface="IBM Plex Sans"/>
              </a:rPr>
              <a:t>USD 7,32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60280" y="4511040"/>
            <a:ext cx="176784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9143D"/>
                </a:solidFill>
                <a:latin typeface="IBM Plex Sans"/>
              </a:rPr>
              <a:t>CAC USD 10 / pedido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120" y="553212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Antes dos fixos: R$ 37 mil/mês no ano 1; R$ 42 mil/mês no ano 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74080"/>
            <a:ext cx="108204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685878"/>
                </a:solidFill>
                <a:latin typeface="IBM Plex Sans"/>
              </a:rPr>
              <a:t>Atendimento: setup contribui R$ 1.000 (20h). Custos completos no apêndice e na planilha.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10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FF7B22"/>
                </a:solidFill>
                <a:latin typeface="IBM Plex Sans"/>
              </a:rPr>
              <a:t>14 / SIMULAÇÃO DE 24 MESES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Três agendas de venda.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Três necessidades de capital.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2606040"/>
            <a:ext cx="34975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7B22"/>
                </a:solidFill>
                <a:latin typeface="IBM Plex Sans"/>
              </a:rPr>
              <a:t>CONSERVADOR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9120" y="3200400"/>
            <a:ext cx="3573780" cy="655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IBM Plex Sans"/>
              </a:rPr>
              <a:t>R$ 710 mil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3977639"/>
            <a:ext cx="345186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capital total com reserva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4594860"/>
            <a:ext cx="345186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FF7B22"/>
                </a:solidFill>
                <a:latin typeface="IBM Plex Sans"/>
              </a:rPr>
              <a:t>PAYBACK DO PROJETO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120" y="4930140"/>
            <a:ext cx="345186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FF7B22"/>
                </a:solidFill>
                <a:latin typeface="IBM Plex Sans"/>
              </a:rPr>
              <a:t>Sem retorno em 24m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120" y="5478780"/>
            <a:ext cx="345186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Fluxo M24: R$ -577,6 mil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1020" y="2606040"/>
            <a:ext cx="34975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7B22"/>
                </a:solidFill>
                <a:latin typeface="IBM Plex Sans"/>
              </a:rPr>
              <a:t>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1020" y="3200400"/>
            <a:ext cx="3573780" cy="655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IBM Plex Sans"/>
              </a:rPr>
              <a:t>R$ 430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1020" y="3977639"/>
            <a:ext cx="345186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capital total com reserva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1020" y="4594860"/>
            <a:ext cx="345186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FF7B22"/>
                </a:solidFill>
                <a:latin typeface="IBM Plex Sans"/>
              </a:rPr>
              <a:t>PAYBACK DO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1020" y="4930140"/>
            <a:ext cx="345186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FF7B22"/>
                </a:solidFill>
                <a:latin typeface="IBM Plex Sans"/>
              </a:rPr>
              <a:t>M14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1020" y="5478780"/>
            <a:ext cx="345186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Fluxo M24: R$ 1.293,6 mil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2920" y="2606040"/>
            <a:ext cx="34975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7B22"/>
                </a:solidFill>
                <a:latin typeface="IBM Plex Sans"/>
              </a:rPr>
              <a:t>ESCALA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2920" y="3200400"/>
            <a:ext cx="3573780" cy="655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IBM Plex Sans"/>
              </a:rPr>
              <a:t>R$ 410 mil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2920" y="3977639"/>
            <a:ext cx="345186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capital total com reserva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2920" y="4594860"/>
            <a:ext cx="345186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FF7B22"/>
                </a:solidFill>
                <a:latin typeface="IBM Plex Sans"/>
              </a:rPr>
              <a:t>PAYBACK DO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2920" y="4930140"/>
            <a:ext cx="345186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FF7B22"/>
                </a:solidFill>
                <a:latin typeface="IBM Plex Sans"/>
              </a:rPr>
              <a:t>M11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2920" y="5478780"/>
            <a:ext cx="345186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Fluxo M24: R$ 3.138,0 mil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996940"/>
            <a:ext cx="108204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FF7B22"/>
                </a:solidFill>
                <a:latin typeface="IBM Plex Sans"/>
              </a:rPr>
              <a:t>Risco: com CAC USD15, a base exige R$ 500 mil e recupera em M21.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8C9E7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D8C9E7"/>
                </a:solidFill>
                <a:latin typeface="IBM Plex Sans"/>
              </a:rPr>
              <a:t>AUMI /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4724400"/>
            <a:ext cx="11049000" cy="103632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15 / INVESTIMENTO E CAPITAL DE GIRO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R$ 100 mil montam a base.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Não financiam toda a operação.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740" y="2628900"/>
            <a:ext cx="533400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5105C"/>
                </a:solidFill>
                <a:latin typeface="IBM Plex Sans"/>
              </a:rPr>
              <a:t>R$ 76 mil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740" y="3451860"/>
            <a:ext cx="533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Equipamento, proteção, rede,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backup e periféricos.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59880" y="2628900"/>
            <a:ext cx="494538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5105C"/>
                </a:solidFill>
                <a:latin typeface="IBM Plex Sans"/>
              </a:rPr>
              <a:t>R$ 24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9880" y="3451860"/>
            <a:ext cx="49453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Jurídico e segurança.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Preparação antes de operar.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" y="4930140"/>
            <a:ext cx="1057656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FFFFFF"/>
                </a:solidFill>
                <a:latin typeface="IBM Plex Sans"/>
              </a:rPr>
              <a:t>Cheque R$ 100k / 150k / 200k → sobra R$ 0 / 50k / 100k.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FFFFFF"/>
                </a:solidFill>
                <a:latin typeface="IBM Plex Sans"/>
              </a:rPr>
              <a:t>Base ampliada: R$ 430 mil de capital total com reserva.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80" y="5981700"/>
            <a:ext cx="108966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685878"/>
                </a:solidFill>
                <a:latin typeface="IBM Plex Sans"/>
              </a:rPr>
              <a:t>Cotação brasileira pendente. Não comprar a máquina com caixa operacional insuficiente.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0"/>
            <a:ext cx="5334000" cy="624840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84520"/>
            <a:ext cx="12192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16 / DOIS RETORNOS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06780"/>
            <a:ext cx="5943600" cy="1790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A máquina precisa provar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seu benefício incremental.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3528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04160"/>
            <a:ext cx="5638800" cy="57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NEGÓCIO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505200"/>
            <a:ext cx="5646420" cy="1790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0">
                <a:solidFill>
                  <a:srgbClr val="29143D"/>
                </a:solidFill>
                <a:latin typeface="IBM Plex Sans"/>
              </a:rPr>
              <a:t>Vendas − custos − fixos.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0">
                <a:solidFill>
                  <a:srgbClr val="29143D"/>
                </a:solidFill>
                <a:latin typeface="IBM Plex Sans"/>
              </a:rPr>
              <a:t>Capital de giro e recebimento.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0">
                <a:solidFill>
                  <a:srgbClr val="29143D"/>
                </a:solidFill>
                <a:latin typeface="IBM Plex Sans"/>
              </a:rPr>
              <a:t>Base simulada: projeto em M14.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0">
                <a:solidFill>
                  <a:srgbClr val="29143D"/>
                </a:solidFill>
                <a:latin typeface="IBM Plex Sans"/>
              </a:rPr>
              <a:t>Depende de caixa e vendas.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4720" y="2598420"/>
            <a:ext cx="4419600" cy="541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FF7B22"/>
                </a:solidFill>
                <a:latin typeface="IBM Plex Sans"/>
              </a:rPr>
              <a:t>EQUIPAMENTO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4720" y="3307080"/>
            <a:ext cx="4419600" cy="1303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80" b="1">
                <a:solidFill>
                  <a:srgbClr val="FFFFFF"/>
                </a:solidFill>
                <a:latin typeface="IBM Plex Sans"/>
              </a:rPr>
              <a:t>R$ 76 mil ÷ R$ 5 mil/mês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80" b="1">
                <a:solidFill>
                  <a:srgbClr val="FFFFFF"/>
                </a:solidFill>
                <a:latin typeface="IBM Plex Sans"/>
              </a:rPr>
              <a:t>= 15,2 meses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4720" y="4747260"/>
            <a:ext cx="4290060" cy="1013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BM Plex Sans"/>
              </a:rPr>
              <a:t>Exemplo de benefício líquido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BM Plex Sans"/>
              </a:rPr>
              <a:t>incremental. Medir contra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BM Plex Sans"/>
              </a:rPr>
              <a:t>operar sem compra.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120" y="581406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Toda receita não é receita causada pela máquina. Retorno de Dani: indefinido.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667000"/>
            <a:ext cx="3543300" cy="28727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51020" y="2667000"/>
            <a:ext cx="3543300" cy="28727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2920" y="2667000"/>
            <a:ext cx="3543300" cy="28727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17 / EXECUÇÃO POR MARCOS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Começar com contratos e testes.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Abrir frentes conforme a evidência.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1470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1–30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31470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Escolher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91939"/>
            <a:ext cx="31470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10 conversas de nichos + 5 TI.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Até 3 nichos; uma oferta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B2B prioritária.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9140" y="2834640"/>
            <a:ext cx="31470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31–60 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40" y="3291840"/>
            <a:ext cx="31470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Demonstrar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9140" y="4091939"/>
            <a:ext cx="31470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Até 3 ofertas testáveis.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Checkout, entrega e dados.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Modelo/carga homologados.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834640"/>
            <a:ext cx="31470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61–90 DIAS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291840"/>
            <a:ext cx="31470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Cobrar e medir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091939"/>
            <a:ext cx="31470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Alvo condicional: 50 vendas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e 1 mapa pago.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Margem, caixa e qualidade.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" y="587502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Atendimento e novas ofertas entram progressivamente. Sem lançar tudo de uma vez.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105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4640580"/>
            <a:ext cx="10988040" cy="0"/>
          </a:xfrm>
          <a:prstGeom prst="line">
            <a:avLst/>
          </a:prstGeom>
          <a:ln w="22859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FF7B22"/>
                </a:solidFill>
                <a:latin typeface="IBM Plex Sans"/>
              </a:rPr>
              <a:t>18 / PARTICIPAÇÃO E GOVERNANÇA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Sociedade 50/50.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Regras antes do aporte.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740" y="2545080"/>
            <a:ext cx="525780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7B22"/>
                </a:solidFill>
                <a:latin typeface="IBM Plex Sans"/>
              </a:rPr>
              <a:t>50% 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740" y="3368040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FF7B22"/>
                </a:solidFill>
                <a:latin typeface="IBM Plex Sans"/>
              </a:rPr>
              <a:t>Marcos, Luciana e João, em conjunto.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FF7B22"/>
                </a:solidFill>
                <a:latin typeface="IBM Plex Sans"/>
              </a:rPr>
              <a:t>Divisão interna ainda a definir.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4180" y="2545080"/>
            <a:ext cx="480060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IBM Plex Sans"/>
              </a:rPr>
              <a:t>50% Dani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4180" y="3368040"/>
            <a:ext cx="4800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FFFFFF"/>
                </a:solidFill>
                <a:latin typeface="IBM Plex Sans"/>
              </a:rPr>
              <a:t>Aporte, função e remuneração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FFFFFF"/>
                </a:solidFill>
                <a:latin typeface="IBM Plex Sans"/>
              </a:rPr>
              <a:t>ainda não acordados.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953000"/>
            <a:ext cx="109194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BM Plex Sans"/>
              </a:rPr>
              <a:t>Formalizar capital, remuneração, distribuição e propriedade intelectual.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BM Plex Sans"/>
              </a:rPr>
              <a:t>Definir orçamento, limites de aprovação, impasse e saída.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8C9E7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D8C9E7"/>
                </a:solidFill>
                <a:latin typeface="IBM Plex Sans"/>
              </a:rPr>
              <a:t>AUMI /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7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19 / A DECISÃO DE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120" y="1356360"/>
            <a:ext cx="11049000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920" b="1">
                <a:solidFill>
                  <a:srgbClr val="35105C"/>
                </a:solidFill>
                <a:latin typeface="IBM Plex Sans"/>
              </a:rPr>
              <a:t>VALIDAR.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920" b="1">
                <a:solidFill>
                  <a:srgbClr val="35105C"/>
                </a:solidFill>
                <a:latin typeface="IBM Plex Sans"/>
              </a:rPr>
              <a:t>FORMALIZAR.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920" b="1">
                <a:solidFill>
                  <a:srgbClr val="35105C"/>
                </a:solidFill>
                <a:latin typeface="IBM Plex Sans"/>
              </a:rPr>
              <a:t>FINANCIAR POR MARCOS.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4840" y="4434840"/>
            <a:ext cx="10820400" cy="1120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35105C"/>
                </a:solidFill>
                <a:latin typeface="IBM Plex Sans"/>
              </a:rPr>
              <a:t>Comprador real. Escopo testado. Números conferidos.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35105C"/>
                </a:solidFill>
                <a:latin typeface="IBM Plex Sans"/>
              </a:rPr>
              <a:t>Sociedade e caixa definidos antes de comprar.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" y="5821680"/>
            <a:ext cx="10820400" cy="327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>
                <a:solidFill>
                  <a:srgbClr val="35105C"/>
                </a:solidFill>
                <a:latin typeface="IBM Plex Sans"/>
              </a:rPr>
              <a:t>Decisão proposta: diligência e limite de risco. Não é autorização de compra.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76500"/>
            <a:ext cx="11049000" cy="55626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032760"/>
            <a:ext cx="11049000" cy="556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589020"/>
            <a:ext cx="11049000" cy="55626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145280"/>
            <a:ext cx="11049000" cy="556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701540"/>
            <a:ext cx="11049000" cy="55626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5257800"/>
            <a:ext cx="11049000" cy="556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A01 / ESCOPO PROPOSTO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Ofertas de teste: o que entra no preço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" y="2583180"/>
            <a:ext cx="275463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Oferta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9510" y="2583180"/>
            <a:ext cx="783717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Preço e escopo delimitado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" y="3139440"/>
            <a:ext cx="275463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Conteúdo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9510" y="3139440"/>
            <a:ext cx="783717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R$4.500/mês • 12 peças + 4 roteiros • 1 revisão • 12h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80" y="3695700"/>
            <a:ext cx="275463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9510" y="3695700"/>
            <a:ext cx="783717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R$18.000/projeto • 1 fluxo autorizado • até 40h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" y="4251960"/>
            <a:ext cx="275463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Atendimento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9510" y="4251960"/>
            <a:ext cx="783717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R$3.500/mês • 8h revisão/suporte • limites a homologar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80" y="4808220"/>
            <a:ext cx="275463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Setup atendimento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9510" y="4808220"/>
            <a:ext cx="783717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R$6.000/novo cliente • 20h • base e escalonamento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5364480"/>
            <a:ext cx="275463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Mapa 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9510" y="5364480"/>
            <a:ext cx="783717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R$30.000 • 80h • 1 domínio • 2 fontes e 2 validações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1980" y="6042660"/>
            <a:ext cx="10896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Conteúdo: vídeo final, voz e imagem avançada fora do pacote. Atendimento não é ilimitado.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68880"/>
            <a:ext cx="11049000" cy="54864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017520"/>
            <a:ext cx="110490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566160"/>
            <a:ext cx="11049000" cy="5486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114800"/>
            <a:ext cx="110490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663440"/>
            <a:ext cx="11049000" cy="5486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5212080"/>
            <a:ext cx="110490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A02 / ECONOMIA UNITÁRIA B2B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Custos por oferta antes da estrutura fixa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" y="2575560"/>
            <a:ext cx="25336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Oferta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8530" y="2575560"/>
            <a:ext cx="14287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Preço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5880" y="2575560"/>
            <a:ext cx="231267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Horas / custo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77150" y="2575560"/>
            <a:ext cx="1981199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Outros custos¹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86950" y="2575560"/>
            <a:ext cx="164973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Contribuição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" y="3124200"/>
            <a:ext cx="25336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Conteúdo / mês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8530" y="3124200"/>
            <a:ext cx="14287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4.500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5880" y="3124200"/>
            <a:ext cx="231267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12h / 1.440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7150" y="3124200"/>
            <a:ext cx="1981199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1.060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86950" y="3124200"/>
            <a:ext cx="164973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2.000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3672840"/>
            <a:ext cx="25336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Código /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8530" y="3672840"/>
            <a:ext cx="14287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18.000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5880" y="3672840"/>
            <a:ext cx="231267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40h / 7.200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77150" y="3672840"/>
            <a:ext cx="1981199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4.200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6950" y="3672840"/>
            <a:ext cx="164973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6.600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280" y="4221480"/>
            <a:ext cx="25336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Atend. / mês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8530" y="4221480"/>
            <a:ext cx="14287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3.500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5880" y="4221480"/>
            <a:ext cx="231267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8h / 960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7150" y="4221480"/>
            <a:ext cx="1981199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910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86950" y="4221480"/>
            <a:ext cx="164973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1.630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280" y="4770120"/>
            <a:ext cx="25336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Setup atend.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8530" y="4770120"/>
            <a:ext cx="14287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6.000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35880" y="4770120"/>
            <a:ext cx="231267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20h / 3.600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77150" y="4770120"/>
            <a:ext cx="1981199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1.400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86950" y="4770120"/>
            <a:ext cx="164973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1.000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5318760"/>
            <a:ext cx="25336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Mapa /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8530" y="5318760"/>
            <a:ext cx="14287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30.000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5880" y="5318760"/>
            <a:ext cx="231267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80h / 14.400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77150" y="5318760"/>
            <a:ext cx="1981199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6.000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6950" y="5318760"/>
            <a:ext cx="164973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9.600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1980" y="5989320"/>
            <a:ext cx="10896600" cy="327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¹ Tributos + comercial + ferramentas/meios variáveis. Valores completos e fórmulas no XLSX.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61260"/>
            <a:ext cx="7010400" cy="54864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009900"/>
            <a:ext cx="70104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558540"/>
            <a:ext cx="7010400" cy="5486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107179"/>
            <a:ext cx="70104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655820"/>
            <a:ext cx="7010400" cy="5486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5204460"/>
            <a:ext cx="70104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A03 / POR PEDIDO APROVADO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Loja: contribuição não é lucro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" y="2567940"/>
            <a:ext cx="4398264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Componente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3144" y="2567940"/>
            <a:ext cx="2154936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" y="3116580"/>
            <a:ext cx="4398264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Ticket / receita após estornos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3144" y="3116580"/>
            <a:ext cx="2154936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29,00000 / 26,68000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80" y="3665220"/>
            <a:ext cx="4398264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Taxa plataforma após estornos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3144" y="3665220"/>
            <a:ext cx="2154936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−3,56132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" y="4213860"/>
            <a:ext cx="4398264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Tributos15% + meios/câmbio3%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3144" y="4213860"/>
            <a:ext cx="2154936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−4,80240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80" y="4762500"/>
            <a:ext cx="4398264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CAC + suporte por pedido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3144" y="4762500"/>
            <a:ext cx="2154936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−11,00000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5311140"/>
            <a:ext cx="4398264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Contribuição por pedido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3144" y="5311140"/>
            <a:ext cx="2154936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7,31628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720340"/>
            <a:ext cx="3383280" cy="71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40" b="1">
                <a:solidFill>
                  <a:srgbClr val="35105C"/>
                </a:solidFill>
                <a:latin typeface="IBM Plex Sans"/>
              </a:rPr>
              <a:t>R$ 36,5814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596640"/>
            <a:ext cx="3291840" cy="1120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Por pedido, a câmbio5.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Hipótese, não cotação.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Recebimento M+1.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013960"/>
            <a:ext cx="3291840" cy="10439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3D00"/>
                </a:solidFill>
                <a:latin typeface="IBM Plex Sans"/>
              </a:rPr>
              <a:t>CAC15 → contribuição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3D00"/>
                </a:solidFill>
                <a:latin typeface="IBM Plex Sans"/>
              </a:rPr>
              <a:t>USD2,31628.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3D00"/>
                </a:solidFill>
                <a:latin typeface="IBM Plex Sans"/>
              </a:rPr>
              <a:t>Não presumir tráfego grátis.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76500"/>
            <a:ext cx="6553200" cy="54864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025140"/>
            <a:ext cx="65532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573780"/>
            <a:ext cx="6553200" cy="5486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122420"/>
            <a:ext cx="65532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671060"/>
            <a:ext cx="6553200" cy="5486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5219700"/>
            <a:ext cx="65532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A04 / EQUIPE E PREPARAÇÃO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 fixo é contado uma vez.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 entrega vem além dele.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" y="2583180"/>
            <a:ext cx="4751832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Envelope mensal • ano1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6712" y="2583180"/>
            <a:ext cx="1344168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R$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" y="3131820"/>
            <a:ext cx="4751832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Produto / engenharia-P&amp;D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6712" y="3131820"/>
            <a:ext cx="1344168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8 / 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80" y="3680460"/>
            <a:ext cx="4751832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Especialistas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6712" y="3680460"/>
            <a:ext cx="1344168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" y="4229100"/>
            <a:ext cx="4751832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Cloud / ferramentas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96712" y="4229100"/>
            <a:ext cx="1344168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 /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80" y="4777740"/>
            <a:ext cx="4751832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Prospecção / administração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96712" y="4777740"/>
            <a:ext cx="1344168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1,5 /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5326380"/>
            <a:ext cx="4751832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Energia / 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96712" y="5326380"/>
            <a:ext cx="1344168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0,5 / 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8100" y="2567940"/>
            <a:ext cx="3810000" cy="601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35105C"/>
                </a:solidFill>
                <a:latin typeface="IBM Plex Sans"/>
              </a:rPr>
              <a:t>ANO 2 / R$ 42 MIL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8100" y="3436620"/>
            <a:ext cx="3886200" cy="1196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M0 equipamento: 76k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DGX65 + proteção4 + rede2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+ backup3 + periféricos2.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58100" y="4846320"/>
            <a:ext cx="3886200" cy="1135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M0 preparação: 24k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Jurídico12 + segurança12.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Cotação e contratos pendentes.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76500"/>
            <a:ext cx="11049000" cy="66294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139440"/>
            <a:ext cx="11049000" cy="6629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802380"/>
            <a:ext cx="11049000" cy="6629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465320"/>
            <a:ext cx="11049000" cy="6629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A05 / CAPACIDADE NO MÊS24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Cenário mensal exige gente e aquisição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80" y="2583180"/>
            <a:ext cx="176022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M24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5100" y="2583180"/>
            <a:ext cx="209169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Bruto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5390" y="258318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Contribuição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6170" y="258318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Após fixo42k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86950" y="2583180"/>
            <a:ext cx="164973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Horas diretas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280" y="3246120"/>
            <a:ext cx="176022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Conservador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5100" y="3246120"/>
            <a:ext cx="209169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R$ 142,8 mil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5390" y="324612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R$ 41,3 mil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6170" y="324612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-0,7 mil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86950" y="3246120"/>
            <a:ext cx="164973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80h / 0,5 equiv.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80" y="3909060"/>
            <a:ext cx="176022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5100" y="3909060"/>
            <a:ext cx="209169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R$ 615,0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5390" y="390906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R$ 178,5 mil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6170" y="390906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R$ 136,5 mil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6950" y="3909060"/>
            <a:ext cx="164973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448h / 2,8 equiv.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280" y="4572000"/>
            <a:ext cx="176022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Escala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05100" y="4572000"/>
            <a:ext cx="209169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R$ 1.007,5 mil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5390" y="457200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R$ 291,0 mil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6170" y="457200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R$ 249,0 mil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86950" y="4572000"/>
            <a:ext cx="164973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700h / 4,4 equiv.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394960"/>
            <a:ext cx="10896600" cy="708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Horas apenas de serviços. Loja, gestão, comercial e P&amp;D não dimensionados aqui.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Equivalência em 160h: não é equipe contratada nem capacidade de GPU.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09600" y="3482340"/>
            <a:ext cx="109728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9600" y="4587240"/>
            <a:ext cx="109728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600" y="5692140"/>
            <a:ext cx="109728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A06 / FÓRMULAS E RECEBIMENTO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Receita, margem e caixa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respondem perguntas diferentes.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514600"/>
            <a:ext cx="2209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MARGEM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4200" y="2514600"/>
            <a:ext cx="8381999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Receita após estornos − variáveis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= contribuição; depois tirar o fixo.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619500"/>
            <a:ext cx="2209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CAIXA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200" y="3619500"/>
            <a:ext cx="8381999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Recebimentos − saídas do mês.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LojaM+1; projetos50/50; recorrência atual.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724400"/>
            <a:ext cx="2209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CAPITAL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4200" y="4724400"/>
            <a:ext cx="8381999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Pico de déficit (inclui M0) + R$126k.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Arredondar para cima a cada R$10k.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23160"/>
            <a:ext cx="11049000" cy="495299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29184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4137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39090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4043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48996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9120" y="53949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A07 / FLUXO AMPLIADO MENSAL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Agenda-base: meses 1 a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" y="25298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Mês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1180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Bruto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9510" y="25298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Após estornos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931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Contribuição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8129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Caixa líquido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646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Acumulado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80" y="30251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1180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9510" y="30251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931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8129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-37,0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646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-137,0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280" y="35204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1180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9510" y="35204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931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98129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-37,0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646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-174,0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280" y="40157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1180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59,8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99510" y="40157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59,2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0931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20,0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8129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-46,0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646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-220,0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45110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1180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58,2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9510" y="45110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56,5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931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18,7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98129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-15,6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7646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-235,6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280" y="50063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1180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118,0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99510" y="50063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114,5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0931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37,4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98129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-31,2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646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-266,7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280" y="55016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1180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115,5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9510" y="55016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109,7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0931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36,2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98129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-9,7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7646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-276,5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035040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685878"/>
                </a:solidFill>
                <a:latin typeface="IBM Plex Sans"/>
              </a:rPr>
              <a:t>R$ mil • Competência e recebimento separados • Simulação, não pipeline existente.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23160"/>
            <a:ext cx="11049000" cy="495299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29184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4137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39090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4043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48996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9120" y="53949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A08 / FLUXO AMPLIADO MENSAL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Agenda-base: meses 7 a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" y="25298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Mês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1180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Bruto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9510" y="25298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Após estornos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931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Contribuição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8129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Caixa líquido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646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Acumulado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80" y="30251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1180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213,8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9510" y="30251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205,1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931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66,1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8129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-23,0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646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-299,5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280" y="35204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1180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248,5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9510" y="35204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236,9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931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76,3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98129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10,4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646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-289,1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280" y="40157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1180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298,8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99510" y="40157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284,2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0931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90,0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8129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24,1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646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-265,0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45110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1180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333,5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9510" y="45110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316,1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931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100,2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98129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34,3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7646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-230,7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280" y="50063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1180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369,8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99510" y="50063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349,4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0931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109,3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98129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43,4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646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-187,2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280" y="55016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1180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406,0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9510" y="55016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382,8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0931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118,5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98129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52,6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7646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-134,6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035040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685878"/>
                </a:solidFill>
                <a:latin typeface="IBM Plex Sans"/>
              </a:rPr>
              <a:t>R$ mil • Competência e recebimento separados • Simulação, não pipeline existente.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23160"/>
            <a:ext cx="11049000" cy="495299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29184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4137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39090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4043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48996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9120" y="53949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A09 / FLUXO AMPLIADO MENSAL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Agenda-base: meses 13 a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" y="25298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Mês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1180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Bruto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9510" y="25298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Após estornos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931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Contribuição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8129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Caixa líquido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646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Acumulado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80" y="30251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1180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511,0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9510" y="30251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485,5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931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151,3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8129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62,9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646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-71,8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280" y="35204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1180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528,0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9510" y="35204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500,2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931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156,6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98129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91,5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646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19,7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280" y="40157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1180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557,0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99510" y="40157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526,8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0931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163,9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8129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98,8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646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118,5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45110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1180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586,0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9510" y="45110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553,5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931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171,2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98129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106,1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7646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224,6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280" y="50063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1180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99510" y="50063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0931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98129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113,4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646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338,0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280" y="55016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1180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9510" y="55016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0931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98129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7646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474,5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035040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685878"/>
                </a:solidFill>
                <a:latin typeface="IBM Plex Sans"/>
              </a:rPr>
              <a:t>R$ mil • Competência e recebimento separados • Simulação, não pipeline existente.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23160"/>
            <a:ext cx="11049000" cy="495299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29184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4137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39090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4043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48996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9120" y="53949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A10 / FLUXO AMPLIADO MENSAL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Agenda-base: meses 19 a 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" y="25298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Mês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1180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Bruto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9510" y="25298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Após estornos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931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Contribuição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8129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Caixa líquido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646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Acumulado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80" y="30251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1180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9510" y="30251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931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8129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646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611,0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280" y="35204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1180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9510" y="35204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931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98129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646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747,5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280" y="40157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1180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99510" y="40157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0931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8129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646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884,1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45110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1180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9510" y="45110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931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98129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7646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1.020,6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280" y="50063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1180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99510" y="50063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0931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98129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646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1.157,1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280" y="55016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1180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9510" y="55016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0931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98129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7646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1.293,6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035040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685878"/>
                </a:solidFill>
                <a:latin typeface="IBM Plex Sans"/>
              </a:rPr>
              <a:t>R$ mil • Competência e recebimento separados • Simulação, não pipeline existente.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A11 / EXEMPLO ARITMÉTICO, NÃO PREVISÃO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Equipamento: só contar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 benefício incremental líquido.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6740" y="2674620"/>
            <a:ext cx="358140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5105C"/>
                </a:solidFill>
                <a:latin typeface="IBM Plex Sans"/>
              </a:rPr>
              <a:t>R$ 2 mil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740" y="3497580"/>
            <a:ext cx="3581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Por mês: benefício líquido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incremental hipotético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740" y="4373880"/>
            <a:ext cx="3550920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60" b="1">
                <a:solidFill>
                  <a:srgbClr val="35105C"/>
                </a:solidFill>
                <a:latin typeface="IBM Plex Sans"/>
              </a:rPr>
              <a:t>38,0 meses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8640" y="2674620"/>
            <a:ext cx="358140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5105C"/>
                </a:solidFill>
                <a:latin typeface="IBM Plex Sans"/>
              </a:rPr>
              <a:t>R$ 5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8640" y="3497580"/>
            <a:ext cx="3581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Por mês: benefício líquido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incremental hipotético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8640" y="4373880"/>
            <a:ext cx="3550920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60" b="1">
                <a:solidFill>
                  <a:srgbClr val="35105C"/>
                </a:solidFill>
                <a:latin typeface="IBM Plex Sans"/>
              </a:rPr>
              <a:t>15,2 meses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0540" y="2674620"/>
            <a:ext cx="358140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5105C"/>
                </a:solidFill>
                <a:latin typeface="IBM Plex Sans"/>
              </a:rPr>
              <a:t>R$ 10 mil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0540" y="3497580"/>
            <a:ext cx="3581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Por mês: benefício líquido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incremental hipotético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0540" y="4373880"/>
            <a:ext cx="3550920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60" b="1">
                <a:solidFill>
                  <a:srgbClr val="35105C"/>
                </a:solidFill>
                <a:latin typeface="IBM Plex Sans"/>
              </a:rPr>
              <a:t>7,6 meses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" y="572262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R$ 76 mil ÷ benefício mensal. Não atribuir toda a receita do negócio à DGX.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76500"/>
            <a:ext cx="11049000" cy="63246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108960"/>
            <a:ext cx="11049000" cy="6324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741420"/>
            <a:ext cx="11049000" cy="63246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373880"/>
            <a:ext cx="11049000" cy="6324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A12 / SENSIBILIDADES DO PORTFÓLIO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Mais aquisição. Menos vendas novas.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 caixa muda antes do discurso.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80" y="2583180"/>
            <a:ext cx="35280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FFFFFF"/>
                </a:solidFill>
                <a:latin typeface="IBM Plex Sans"/>
              </a:rPr>
              <a:t>Hipótese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2940" y="258318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FFFFFF"/>
                </a:solidFill>
                <a:latin typeface="IBM Plex Sans"/>
              </a:rPr>
              <a:t>Capital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258318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FFFFFF"/>
                </a:solidFill>
                <a:latin typeface="IBM Plex Sans"/>
              </a:rPr>
              <a:t>Payback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0" y="258318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FFFFFF"/>
                </a:solidFill>
                <a:latin typeface="IBM Plex Sans"/>
              </a:rPr>
              <a:t>Fluxo M24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" y="3215640"/>
            <a:ext cx="35280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29143D"/>
                </a:solidFill>
                <a:latin typeface="IBM Plex Sans"/>
              </a:rPr>
              <a:t>Base ampliada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2940" y="321564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R$ 430 mil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21564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M14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321564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R$ 1.293,6 mil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" y="3848099"/>
            <a:ext cx="35280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29143D"/>
                </a:solidFill>
                <a:latin typeface="IBM Plex Sans"/>
              </a:rPr>
              <a:t>CAC loja USD15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2940" y="3848099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R$ 500 mil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848099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M21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3848099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R$ 212,4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4480560"/>
            <a:ext cx="35280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29143D"/>
                </a:solidFill>
                <a:latin typeface="IBM Plex Sans"/>
              </a:rPr>
              <a:t>Novas ofertas50%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940" y="448056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R$ 490 mil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8056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M17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4500" y="448056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R$ 825,1 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372100"/>
            <a:ext cx="10896600" cy="815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Atendimento sem churn no modelo: retenção não comprovada.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Muitas frentes disputam a mesma equipe. Volume não substitui margem.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506980"/>
            <a:ext cx="11049000" cy="68580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192780"/>
            <a:ext cx="11049000" cy="6858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878579"/>
            <a:ext cx="11049000" cy="68580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564380"/>
            <a:ext cx="11049000" cy="6858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A13 / RECEITA ANUAL AMPLIADA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Quanto cada agenda precisa vender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80" y="26136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BM Plex Sans"/>
              </a:rPr>
              <a:t>Cenário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7550" y="26136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BM Plex Sans"/>
              </a:rPr>
              <a:t>Bruto ano1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8820" y="26136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BM Plex Sans"/>
              </a:rPr>
              <a:t>Bruto ano2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0090" y="2613660"/>
            <a:ext cx="319659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BM Plex Sans"/>
              </a:rPr>
              <a:t>Após estornos ano2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" y="32994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9143D"/>
                </a:solidFill>
                <a:latin typeface="IBM Plex Sans"/>
              </a:rPr>
              <a:t>Conservador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7550" y="32994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R$ 512,5 mil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8820" y="32994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R$ 1.425,8 mil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0090" y="3299460"/>
            <a:ext cx="319659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R$ 1.340,5 mil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" y="39852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9143D"/>
                </a:solidFill>
                <a:latin typeface="IBM Plex Sans"/>
              </a:rPr>
              <a:t>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57550" y="39852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R$ 2.221,8 mil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8820" y="39852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R$ 7.102,0 mil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090" y="3985260"/>
            <a:ext cx="319659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R$ 6.707,6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46710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9143D"/>
                </a:solidFill>
                <a:latin typeface="IBM Plex Sans"/>
              </a:rPr>
              <a:t>Escala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57550" y="46710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R$ 4.620,0 mil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8820" y="46710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R$ 12.114,0 mil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0090" y="4671060"/>
            <a:ext cx="319659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R$ 11.418,0 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23560"/>
            <a:ext cx="10820400" cy="563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Topologic enterprise: R$200k + R$12k/mês é expansão separada, fora da projeção.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84120"/>
            <a:ext cx="11049000" cy="71628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200400"/>
            <a:ext cx="11049000" cy="71628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916680"/>
            <a:ext cx="11049000" cy="71628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632960"/>
            <a:ext cx="11049000" cy="71628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A14 / VOLUMES, MÍDIA E VISITAS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Mês24: a agenda comercial por trás da escala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80" y="2590800"/>
            <a:ext cx="187071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M24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5590" y="2590800"/>
            <a:ext cx="220218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Loja / mapas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46370" y="2590800"/>
            <a:ext cx="341757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Conteúdo / código / atend.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2540" y="2590800"/>
            <a:ext cx="264414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Aquisição / visitas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" y="3307080"/>
            <a:ext cx="187071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Conservador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5590" y="3307080"/>
            <a:ext cx="220218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750 /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6370" y="3307080"/>
            <a:ext cx="341757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 / 1 /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2540" y="3307080"/>
            <a:ext cx="264414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R$ 38 mil / 37.500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" y="4023360"/>
            <a:ext cx="187071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5590" y="4023360"/>
            <a:ext cx="220218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3.000 /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6370" y="4023360"/>
            <a:ext cx="341757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10 / 3 /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2540" y="4023360"/>
            <a:ext cx="264414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R$ 150 mil / 150.000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4739640"/>
            <a:ext cx="187071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Escala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5590" y="4739640"/>
            <a:ext cx="220218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5.000 /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6370" y="4739640"/>
            <a:ext cx="341757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15 / 5 /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2540" y="4739640"/>
            <a:ext cx="264414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R$ 250 mil / 250.000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707380"/>
            <a:ext cx="10896600" cy="518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Conversão de visitas2% é hipótese. Orgânico não torna a aquisição gratuita no modelo.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371600" y="5455920"/>
            <a:ext cx="99822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371600" y="5017970"/>
            <a:ext cx="9982200" cy="0"/>
          </a:xfrm>
          <a:prstGeom prst="line">
            <a:avLst/>
          </a:prstGeom>
          <a:ln w="1524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371600" y="4288054"/>
            <a:ext cx="99822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71600" y="3558138"/>
            <a:ext cx="99822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371600" y="2828223"/>
            <a:ext cx="99822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371600" y="5090962"/>
            <a:ext cx="411480" cy="27006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783080" y="5117968"/>
            <a:ext cx="411480" cy="27007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94560" y="5144975"/>
            <a:ext cx="411480" cy="28161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606040" y="5173136"/>
            <a:ext cx="411480" cy="27626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17520" y="5200762"/>
            <a:ext cx="411480" cy="30180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429000" y="5230942"/>
            <a:ext cx="411480" cy="17068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840480" y="5248010"/>
            <a:ext cx="411480" cy="17315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51960" y="5265325"/>
            <a:ext cx="411480" cy="23588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663440" y="5288913"/>
            <a:ext cx="411480" cy="24251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074920" y="5313164"/>
            <a:ext cx="411480" cy="800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86400" y="5313964"/>
            <a:ext cx="411480" cy="16436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897880" y="5330400"/>
            <a:ext cx="411480" cy="16852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309360" y="5347252"/>
            <a:ext cx="411480" cy="12321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720840" y="5359573"/>
            <a:ext cx="411480" cy="2758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32320" y="5362331"/>
            <a:ext cx="411480" cy="14378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543800" y="5376709"/>
            <a:ext cx="411479" cy="5523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955279" y="5382232"/>
            <a:ext cx="411481" cy="14952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66760" y="5397184"/>
            <a:ext cx="411480" cy="2374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78240" y="5399558"/>
            <a:ext cx="411480" cy="3921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189720" y="5403479"/>
            <a:ext cx="411480" cy="9956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01200" y="5413435"/>
            <a:ext cx="411480" cy="14568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0012680" y="5419920"/>
            <a:ext cx="411480" cy="8083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424160" y="5419920"/>
            <a:ext cx="411480" cy="8354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835640" y="5428274"/>
            <a:ext cx="411480" cy="11302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371600" y="5090962"/>
            <a:ext cx="411480" cy="27006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783080" y="5117968"/>
            <a:ext cx="411480" cy="27007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194560" y="5144975"/>
            <a:ext cx="411480" cy="33577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606040" y="5178552"/>
            <a:ext cx="411480" cy="1138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017520" y="5189933"/>
            <a:ext cx="411480" cy="22740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429000" y="5212673"/>
            <a:ext cx="411480" cy="7093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840480" y="5219766"/>
            <a:ext cx="411480" cy="16805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251960" y="5228999"/>
            <a:ext cx="411480" cy="7572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663440" y="5211373"/>
            <a:ext cx="411480" cy="17626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074920" y="5186341"/>
            <a:ext cx="411480" cy="25032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486400" y="5154635"/>
            <a:ext cx="411480" cy="31706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897880" y="5116252"/>
            <a:ext cx="411480" cy="38383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309360" y="5070348"/>
            <a:ext cx="411480" cy="45904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720840" y="5003592"/>
            <a:ext cx="411480" cy="66756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7132320" y="4931496"/>
            <a:ext cx="411480" cy="72096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7543800" y="4854060"/>
            <a:ext cx="411479" cy="77436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7955279" y="4771283"/>
            <a:ext cx="411481" cy="82777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366760" y="4671632"/>
            <a:ext cx="411480" cy="9965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778240" y="4571981"/>
            <a:ext cx="411480" cy="9965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189720" y="4472330"/>
            <a:ext cx="411480" cy="9965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601200" y="4372679"/>
            <a:ext cx="411480" cy="9965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0012680" y="4273027"/>
            <a:ext cx="411480" cy="99652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0424160" y="4173376"/>
            <a:ext cx="411480" cy="9965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0835640" y="4073725"/>
            <a:ext cx="411480" cy="9965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71600" y="5090962"/>
            <a:ext cx="411480" cy="27006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783080" y="5117968"/>
            <a:ext cx="411480" cy="27007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194560" y="5144975"/>
            <a:ext cx="411480" cy="35001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06040" y="5179976"/>
            <a:ext cx="411480" cy="17747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017520" y="5197723"/>
            <a:ext cx="411480" cy="17277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429000" y="5215000"/>
            <a:ext cx="411480" cy="9208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840480" y="5215745"/>
            <a:ext cx="411480" cy="8463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251960" y="5194786"/>
            <a:ext cx="411480" cy="20959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663440" y="5160006"/>
            <a:ext cx="411480" cy="34780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074920" y="5081198"/>
            <a:ext cx="411480" cy="78808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486400" y="4978638"/>
            <a:ext cx="411480" cy="102560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5897880" y="4862728"/>
            <a:ext cx="411480" cy="115910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6309360" y="4726810"/>
            <a:ext cx="411480" cy="135918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6720840" y="4545056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132320" y="4363302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543800" y="4181548"/>
            <a:ext cx="411479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7955279" y="3999794"/>
            <a:ext cx="411481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366760" y="3818040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8778240" y="3636285"/>
            <a:ext cx="411480" cy="181755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9189720" y="3454531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9601200" y="3272777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012680" y="3091023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0424160" y="2909269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0835640" y="2727515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A15 / FLUXO ACUMULADO SEM APORTES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 ponto mais baixo define o capital de giro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79120" y="5334000"/>
            <a:ext cx="7315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-0,6mi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" y="4896050"/>
            <a:ext cx="7315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0,0mi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9120" y="4166134"/>
            <a:ext cx="7315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1,0mi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9120" y="3436218"/>
            <a:ext cx="7315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2,0mi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9120" y="2706303"/>
            <a:ext cx="7315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3,0mi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0160" y="5615940"/>
            <a:ext cx="716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M0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49039" y="5615940"/>
            <a:ext cx="716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M6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17920" y="5615940"/>
            <a:ext cx="716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M12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86800" y="5615940"/>
            <a:ext cx="716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M18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55680" y="5615940"/>
            <a:ext cx="716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M24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28800" y="6012180"/>
            <a:ext cx="31242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>
                <a:solidFill>
                  <a:srgbClr val="9A3D00"/>
                </a:solidFill>
                <a:latin typeface="IBM Plex Sans"/>
              </a:rPr>
              <a:t>Conservador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05400" y="6012180"/>
            <a:ext cx="31242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>
                <a:solidFill>
                  <a:srgbClr val="35105C"/>
                </a:solidFill>
                <a:latin typeface="IBM Plex Sans"/>
              </a:rPr>
              <a:t>Base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81999" y="6012180"/>
            <a:ext cx="31242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>
                <a:solidFill>
                  <a:srgbClr val="117A70"/>
                </a:solidFill>
                <a:latin typeface="IBM Plex Sans"/>
              </a:rPr>
              <a:t>Escala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A16 / REFERÊNCIAS CLICÁVEIS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Fontes e limites da evidência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484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2"/>
              </a:rPr>
              <a:t>Hotmart / mercado 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1980" y="295656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21/03/2024 • 21 milhões globais; GMV LATAM sem Brasil +50%.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Autorrelatado. Não é nosso TAM.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804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3"/>
              </a:rPr>
              <a:t>Flexera / cloud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1980" y="415290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19/03/2025 • 84% de mais de750 profissionais globais.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Não demonstra intenção de comprar AUMI.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76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4"/>
              </a:rPr>
              <a:t>GSMA / contexto regional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80" y="534924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13/05/2026 • Contexto digital regional.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PIB mobile não é TAM de infoprodutos.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A17 / REFERÊNCIAS CLICÁVEIS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Fontes e limites da evidência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484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2"/>
              </a:rPr>
              <a:t>NVIDIA / hardware DGX Spark 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1980" y="295656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GB10 •128GB • opção4TB •10GbE.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R$65k é provisão, sem cotação brasileira.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804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3"/>
              </a:rPr>
              <a:t>NVIDIA / vLLM no Spark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1980" y="415290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Playbook oficial de serving. Viabilidade técnica documentada.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Não comprova nossa carga, qualidade, throughput ou SLA.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76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4"/>
              </a:rPr>
              <a:t>NVIDIA / SGLang no Spark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80" y="534924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Playbook oficial; alternativa ao vLLM.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Não somar capacidade. Implementação e carga a homologar.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A18 / REFERÊNCIAS CLICÁVEIS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Fontes e limites da evidência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484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2"/>
              </a:rPr>
              <a:t>Hotmart / tarifas 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1980" y="295656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Tabela/FAQ:9,9% + USD1; atualização18/09/2026, vigência21/09.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Parágrafo antigo citaUSD0,50: confirmar condições da conta.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804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3"/>
              </a:rPr>
              <a:t>Modelo financeiro ampliado / XLSX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1980" y="415290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Premissas gerenciais, agendas, capacidade e sensibilidades.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As ofertas e volumes não são contratos.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76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4"/>
              </a:rPr>
              <a:t>Séries mensais / CSV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80" y="534924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Valores completos por cenário e sensibilidade.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Este portfólio substitui a tese estreita do pitch anterior.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A19 / PERGUNTAS E ARQUIVOS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 conversa pode terminar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com uma decisão verificável.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52700"/>
            <a:ext cx="5791200" cy="3032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>1. Qual comprador e oferta validar primeiro?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/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>2. Quem aporta, quanto e por quais marcos?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/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>3. Qual limite de perda e regra de parada?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/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>4. Quem aprova orçamento e publicação?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700" y="2613660"/>
            <a:ext cx="446532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  <a:hlinkClick r:id="rId2"/>
              </a:rPr>
              <a:t>Pitch em PDF 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24700" y="3261360"/>
            <a:ext cx="446532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  <a:hlinkClick r:id="rId3"/>
              </a:rPr>
              <a:t>PowerPoint editável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4700" y="3909060"/>
            <a:ext cx="446532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  <a:hlinkClick r:id="rId4"/>
              </a:rPr>
              <a:t>Modelo financeiro ampliado 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4700" y="4556760"/>
            <a:ext cx="446532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  <a:hlinkClick r:id="rId5"/>
              </a:rPr>
              <a:t>Cenários e sensibilidades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4700" y="5204460"/>
            <a:ext cx="446532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  <a:hlinkClick r:id="rId6"/>
              </a:rPr>
              <a:t>Topologic empresarial: modelo separado ↗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541C80"/>
      </a:hlink>
      <a:folHlink>
        <a:srgbClr val="8B2F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AUMI | Produzir. Entregar. Escalar.</dc:title>
  <dc:subject>Infraestrutura produtiva compartilhada e portfólio ampliado; proposta para Dani</dc:subject>
  <dc:creator>AUMI</dc:creator>
  <cp:keywords>conteúdo, código, atendimento, LATAM, Topologic, DGX, cenário, capital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