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proposta reúne duas atividades: produtos digitais para consumidores na América Latina e mapas de arquitetura para empresas. Compartilham tecnologia e gestão, mas têm clientes e vendas diferentes. Ainda não há demanda comprovada, produtos escolhidos ou promessa de retorno. A ideia hoje é decidir se vale fazer a diligência e como financiar com segurança.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Infoproduto é um material digital útil, como um guia, modelo ou minicurso. A loja vende em volume. O mapa de TI é um projeto contratado por uma empresa. Não estamos supondo que o público da loja vai comprar consultoria de TI.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USD 29 é o ticket médio hipotético da loja antes de impostos cobrados do comprador. O mapa de R$ 30 mil é uma oferta inicial, não a plataforma empresarial completa. A entrega do mapa depende de acesso autorizado e contrato.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nicho é escolhido depois de conversar com compradores, observar uma dor concreta e testar pagamento. CAC significa custo para adquirir uma venda. O teto de gasto de cada experimento ainda deve ser aprovado. Não escalar anúncio com contribuição negativa, reembolso acima da hipótese ou qualidade insuficiente.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comprador pode ser a equipe de TI, arquitetura ou operações enfrentando mudança relevante ou documentação incompleta. Duas fontes são documentos ou exportações autorizadas, não acesso irrestrito à rede. As relações são conferidas por pessoas; inferência é marcada como inferência. Não inclui pentest, conector automático de produção, mudanças de sistema ou economia garantida.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21 milhões são consumidores globais nas plataformas Hotmart e Teachable, não consumidores de um nicho escolhido pela AUMI. O crescimento de GMV é valor transacionado na América Latina sem Brasil, segundo a própria empresa. A pesquisa Flexera é global e indica uma dor de gestão, não intenção de comprar nosso mapa. Não calculamos um TAM artificial com esses dados.</a:t>
            </a:r>
          </a:p>
          <a:p/>
          <a:p>
            <a:r>
              <a:t>Fontes: Hotmart, 21/03/2024; Flexera, 19/03/2025. URLs e limites no apêndice.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DGX Spark é um computador local para produção e inferência de IA. GB10 é o chip; 128 GB é a memória unificada. Selecionamos a versão de 4 TB no orçamento, mas a cotação brasileira ainda está pendente. Uma máquina não oferece redundância. A loja e seu checkout ficam em serviços separados. Baixar um PDF não exige uma inferência a cada comprador.</a:t>
            </a:r>
          </a:p>
          <a:p/>
          <a:p>
            <a:r>
              <a:t>Especificações: NVIDIA DGX Spark Hardware, 10/09/2026. R$ 65 mil é provisão, não cotação.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fixo paga a base da operação. Engenharia e produto representam construção e pesquisa, não as horas de entrega que são cobradas como custo variável do mapa. Suporte por pedido da loja também está nos variáveis. Portanto, fixo não é todo custo. No segundo ano o modelo usa R$ 42 mil por mês, um envelope ampliado ainda a detalhar por função.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agentes recebem somente dados autorizados. Reconciliar é conferir se a venda, o estorno, a cobrança e o recebimento combinam entre as fontes. Os sócios veem um painel somente leitura. Pagamentos, contratos, publicação e compras exigem decisão humana. Precisamos definir formalmente limites de aprovação conjunta AUMI e Dani. Os agentes nunca recebem acesso financeiro irrestrito.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primeiros marcos evitam financiar produção sem ouvir compradores. A meta do terceiro mês é condicional, com 50 vendas de loja e um mapa pago. Em M6 e M12 os números de mapas são acumulados, enquanto os pedidos da loja são por mês. Os R$ 200 mil não financiam sozinhos este plano.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Estornos de 8% reduzem a receita de USD 29 para USD 26,68 por pedido original. A tarifa de plataforma é aplicada às vendas não estornadas, inclusive a parcela fixa. Tributos e reserva de meios/câmbio incidem após estornos. CAC e suporte são por pedido aprovado, inclusive os que depois forem estornados. A simulação cobra CAC em todas as vendas, mesmo que parte venha de orgânico. A tarifa deve ser confirmada na conta e os tributos com contador.</a:t>
            </a:r>
          </a:p>
          <a:p/>
          <a:p>
            <a:r>
              <a:t>Hotmart: tabela/FAQ atualizada em 18/09/2026, efetiva 21/09/2026: 9,9% + USD 1. Ver ressalva no apêndice.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São 80 horas diretas a R$ 180, total de R$ 14.400. Somando R$ 4.500 de tributos provisionados e R$ 1.500 comerciais, a contribuição é R$ 9.600, antes dos fixos. O pagamento simulado é metade no início e metade no mês seguinte após entrega e aceite. Vender três mapas num mês implica 240 horas diretas e precisa de capacidade disponível, além de P&amp;D.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Todas as colunas são mensais. Receita total inclui loja convertida a câmbio 5 e mapas. O resultado operacional tira os custos variáveis e R$ 42 mil de fixo; não é caixa recebido. Visitas qualificadas supõem conversão de 2%. CAC é USD 10 por pedido: 5 mil pedidos exigem R$ 250 mil de aquisição e 250 mil visitas por mês. Não é tráfego gratuito nem demanda observada.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Venda bruta é o valor total dos pedidos e projetos do mês. Receita após estornos desconta devoluções, mas ainda não taxas e demais despesas. O recebimento da loja entra no mês seguinte já descontada a plataforma. Os mapas recebem 50% no início e 50% no mês seguinte. Caixa líquido é recebimento menos saídas; caixa acumulado também inclui M0. A planilha contém os centavos e a série inteira.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Payback é o primeiro mês em que o fluxo acumulado do projeto, incluindo M0 e sem contar aportes, deixa de ser negativo. Não é o retorno da Dani. O cenário conservador continua consumindo caixa em 24 meses. O capital requerido inclui a pior falta de caixa mais três meses de fixo do segundo ano, com arredondamento. Não devemos juntar estes números ao plano antigo Topologic empresarial.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 consome R$ 100 mil em infraestrutura e pré-operação. Um cheque de R$ 200 mil deixa R$ 100 mil, ou 2,70 meses de fixo sem vendas; isso não cobre o plano completo. Capital de giro é o dinheiro que mantém a operação enquanto as vendas ainda não pagam tudo e os recebimentos demoram. O pico de déficit de R$ 398.842,40 já inclui M0: não se deve somar M0 de novo. A reserva de R$ 126 mil equivale a três meses de R$ 42 mil; total arredondado para R$ 530 mil.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CAC é o gasto para gerar um pedido. Aumentá-lo de 10 para 15 dólares não muda a quantidade de vendas nesta sensibilidade. Mesmo assim, o capital necessário vai de R$ 530 mil para R$ 830 mil e o projeto não recupera o investimento em 24 meses. A contribuição unitária cai para USD 2,31628. Não basta observar faturamento crescendo: temos de observar aquisição, estornos, suporte e caixa.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AUMI tem 50% conjuntamente para Marcos, Luciana e João. Não foi definida a divisão interna. Dani tem 50%. Não supomos que a participação exige aportes iguais. Precisamos formalizar aportes, remuneração, propriedade intelectual, veículo societário, orçamento, impasse e saída. A gestão financeira exige aprovação conjunta de AUMI e Dani para despesas relevantes, com limites ainda a acordar.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Estas são possibilidades futuras, não promessas de catálogo. A plataforma empresarial Topologic é um modelo separado, com R$ 200 mil de implantação e R$ 12 mil mensais, e não deve ser confundida com o mapa inicial de R$ 30 mil. Uma expansão só merece investimento se houver compra comprovada, qualidade, capacidade e margem.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reunião pode terminar com acordo para fazer diligência, não com a compra de uma máquina. Primeiro confirmar interesse e responsabilidades; depois validar compradores, cotação, contabilidade, segurança e capacidade; por fim aprovar capital e desembolsos por marcos. Se só houver R$ 200 mil disponíveis, o plano deve ser redimensionado e recalculado antes de executar, não apenas receber o rótulo de suficiente.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fórmula da contribuição é ticket vezes um menos estorno, menos tarifa percentual e fixa nas vendas não estornadas, tributos, reserva cambial, CAC e suporte. O break-even só da loja cobre R$ 42 mil de fixo, sem mapas; não contempla um retorno sobre o investimento.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Capital requerido é calculado com pico de déficit, incluindo M0, mais reserva de três meses a R$ 42 mil, arredondado para cima em blocos de R$ 10 mil. Não há dívida, juros, inflação, dividendos ou segunda DGX no modelo. Os tributos são provisão gerencial e não parecer fiscal. A escala exige validar regime tributário e seus limites com contador.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linha atravessa zero quando o projeto recupera o caixa consumido. O ponto mais baixo determina a necessidade de financiar o déficit. A reserva vem além desse déficit. A linha conservadora ainda cai no mês 24. O gráfico não representa saldo bancário após aportes.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Pedidos são da loja; mapas são projetos vendidos no mês. Bruto inclui loja convertida a câmbio 5 mais projetos. A coluna receita desconta apenas estornos. Caixa líquido é recebimento menos saídas. Acumulado começa com menos R$ 100 mil no M0 e não inclui aportes. Use a planilha para valores exatos.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Pedidos são da loja; mapas são projetos vendidos no mês. Bruto inclui loja convertida a câmbio 5 mais projetos. A coluna receita desconta apenas estornos. Caixa líquido é recebimento menos saídas. Acumulado começa com menos R$ 100 mil no M0 e não inclui aportes. Use a planilha para valores exatos.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vendas diferem em cada cenário e precisam de aquisição, suporte e entrega. Os três cenários não são probabilidades. Não há dados de tração por trás dessas séries. A tabela é uma agenda de simulação para tornar o capital e o risco verificáveis.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vendas diferem em cada cenário e precisam de aquisição, suporte e entrega. Os três cenários não são probabilidades. Não há dados de tração por trás dessas séries. A tabela é uma agenda de simulação para tornar o capital e o risco verificáveis.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Neste exemplo apenas, Dani financia sozinha todo o capital requerido e recebe 50% do excedente acumulado positivo depois que o projeto se recupera, sem reinvestimento. Isso não é a devolução automática do capital e não é uma regra já aceita. Há exigência de lucro legalmente distribuível, tributos pessoais e decisões de caixa. O resultado da Dani é diferente do payback da empresa.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fontes são públicas e devem ser lidas com seus limites. Hotmart publica seus próprios resultados; Flexera pesquisa profissionais globalmente. As especificações da NVIDIA não são uma cotação brasileira. A tarifa Hotmart usada segue a tabela e FAQ atualizados; um parágrafo antigo ainda cita USD 0,50, por isso precisa de confirmação na conta.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fontes são públicas e devem ser lidas com seus limites. Hotmart publica seus próprios resultados; Flexera pesquisa profissionais globalmente. As especificações da NVIDIA não são uma cotação brasileira. A tarifa Hotmart usada segue a tabela e FAQ atualizados; um parágrafo antigo ainda cita USD 0,50, por isso precisa de confirmação na conta.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é preciso decidir cada detalhe técnico na conversa. A prioridade é saber se Dani quer avançar para diligência e sob quais condições. Os arquivos são complementares: PDF para compartilhar, PowerPoint para editar, planilha e CSV para auditar. A galáxia e o modelo empresarial antigo são apenas apoio separado, não a fonte financeira deste pitch.</a:t>
            </a:r>
          </a:p>
          <a:p/>
          <a:p>
            <a:r>
              <a:t>Proposta • 02/10/2026 • Valores e capacidades ainda sujeitos a validação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ess.hotmart.com/hotmart-company-announces-record-breaking-10-billion-in-global-creator-earnings" TargetMode="External"/><Relationship Id="rId3" Type="http://schemas.openxmlformats.org/officeDocument/2006/relationships/hyperlink" Target="https://www.flexera.com/about-us/press-center/new-flexera-report-finds-84-percent-of-organizations-struggle-to-manage-cloud-spend" TargetMode="External"/><Relationship Id="rId4" Type="http://schemas.openxmlformats.org/officeDocument/2006/relationships/hyperlink" Target="https://www.gsma.com/about-us/regions/latin-america-and-the-caribbean/gsma_resources/the-mobile-economy-latin-america-2026/" TargetMode="External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uportehotmart.zendesk.com/hc/en-us/articles/208298448-What-are-the-fees-charged-by-Hotmart" TargetMode="External"/><Relationship Id="rId3" Type="http://schemas.openxmlformats.org/officeDocument/2006/relationships/hyperlink" Target="https://docs.nvidia.com/dgx/dgx-spark/hardware.html" TargetMode="Externa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boyy.github.io/topologic-business-plan/pitch-deck.pdf" TargetMode="External"/><Relationship Id="rId3" Type="http://schemas.openxmlformats.org/officeDocument/2006/relationships/hyperlink" Target="https://juboyy.github.io/topologic-business-plan/pitch-deck.pptx" TargetMode="External"/><Relationship Id="rId4" Type="http://schemas.openxmlformats.org/officeDocument/2006/relationships/hyperlink" Target="https://juboyy.github.io/topologic-business-plan/modelo-portfolio.xlsx" TargetMode="External"/><Relationship Id="rId5" Type="http://schemas.openxmlformats.org/officeDocument/2006/relationships/hyperlink" Target="https://juboyy.github.io/topologic-business-plan/cenarios-portfolio.csv" TargetMode="External"/><Relationship Id="rId6" Type="http://schemas.openxmlformats.org/officeDocument/2006/relationships/hyperlink" Target="https://juboyy.github.io/topologic-business-plan/index.html" TargetMode="External"/><Relationship Id="rId7" Type="http://schemas.openxmlformats.org/officeDocument/2006/relationships/hyperlink" Target="https://juboyy.github.io/topologic-business-plan/plano-completo.html" TargetMode="External"/><Relationship Id="rId8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tch-galaxy-ear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840" y="548640"/>
            <a:ext cx="5334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2"/>
              </a:spcAft>
              <a:defRPr sz="1320" b="1">
                <a:solidFill>
                  <a:srgbClr val="7CE7D4"/>
                </a:solidFill>
                <a:latin typeface="IBM Plex Sans"/>
              </a:defRPr>
            </a:pPr>
            <a:r>
              <a:t>AUMI  /  CONVERSA COM 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39240"/>
            <a:ext cx="7162800" cy="167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37"/>
              </a:spcAft>
              <a:defRPr sz="4019" b="1">
                <a:solidFill>
                  <a:srgbClr val="F3F5EF"/>
                </a:solidFill>
                <a:latin typeface="IBM Plex Sans"/>
              </a:defRPr>
            </a:pPr>
            <a:r>
              <a:t>Negócios digitais</a:t>
            </a:r>
          </a:p>
          <a:p>
            <a:pPr>
              <a:spcAft>
                <a:spcPts val="737"/>
              </a:spcAft>
              <a:defRPr sz="4019" b="1">
                <a:solidFill>
                  <a:srgbClr val="F3F5EF"/>
                </a:solidFill>
                <a:latin typeface="IBM Plex Sans"/>
              </a:defRPr>
            </a:pPr>
            <a:r>
              <a:t>e inteligência de 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3703320"/>
            <a:ext cx="56007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63"/>
              </a:spcAft>
              <a:defRPr sz="1980" b="0">
                <a:solidFill>
                  <a:srgbClr val="F3F5EF"/>
                </a:solidFill>
                <a:latin typeface="IBM Plex Sans"/>
              </a:defRPr>
            </a:pPr>
            <a:r>
              <a:t>Duas frentes comerciais.</a:t>
            </a:r>
          </a:p>
          <a:p>
            <a:pPr>
              <a:spcAft>
                <a:spcPts val="363"/>
              </a:spcAft>
              <a:defRPr sz="1980" b="0">
                <a:solidFill>
                  <a:srgbClr val="F3F5EF"/>
                </a:solidFill>
                <a:latin typeface="IBM Plex Sans"/>
              </a:defRPr>
            </a:pPr>
            <a:r>
              <a:t>Uma base tecnológica. Gestão acompanhável.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5227320"/>
            <a:ext cx="5334000" cy="62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1">
                <a:solidFill>
                  <a:srgbClr val="7CE7D4"/>
                </a:solidFill>
                <a:latin typeface="IBM Plex Sans"/>
              </a:defRPr>
            </a:pPr>
            <a:r>
              <a:t>Loja LATAM em USD + mapas de arquitetura de 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5943600"/>
            <a:ext cx="66294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20"/>
              </a:spcAft>
              <a:defRPr sz="1200" b="0">
                <a:solidFill>
                  <a:srgbClr val="B4C5CD"/>
                </a:solidFill>
                <a:latin typeface="IBM Plex Sans"/>
              </a:defRPr>
            </a:pPr>
            <a:r>
              <a:t>Proposta de negócio • 02 outubro 2026 • Sem promessa de retorno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02 / O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Duas rotas de receita. A mesma operação.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Pesquisa, produção, venda e medição: o ciclo se repete com aprovação humana.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453640"/>
            <a:ext cx="5212080" cy="1866899"/>
          </a:xfrm>
          <a:prstGeom prst="rect">
            <a:avLst/>
          </a:prstGeom>
          <a:solidFill>
            <a:srgbClr val="10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2636520"/>
            <a:ext cx="4815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1">
                <a:solidFill>
                  <a:srgbClr val="7CE7D4"/>
                </a:solidFill>
                <a:latin typeface="IBM Plex Sans"/>
              </a:defRPr>
            </a:pPr>
            <a:r>
              <a:t>LOJA LATAM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" y="3162300"/>
            <a:ext cx="4815840" cy="1013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Pessoas compram materiais práticos.</a:t>
            </a:r>
          </a:p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PDFs, templates, kits e minicursos.</a:t>
            </a:r>
          </a:p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Receita por pedido em USD.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2453640"/>
            <a:ext cx="5516880" cy="1866899"/>
          </a:xfrm>
          <a:prstGeom prst="rect">
            <a:avLst/>
          </a:prstGeom>
          <a:solidFill>
            <a:srgbClr val="10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8880" y="263652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1">
                <a:solidFill>
                  <a:srgbClr val="F5CA80"/>
                </a:solidFill>
                <a:latin typeface="IBM Plex Sans"/>
              </a:defRPr>
            </a:pPr>
            <a:r>
              <a:t>MAPAS DE 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880" y="3162300"/>
            <a:ext cx="5120640" cy="1013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Empresas contratam um escopo delimitado.</a:t>
            </a:r>
          </a:p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Inventário, relações e visão executiva.</a:t>
            </a:r>
          </a:p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Receita por projeto em BRL.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62500"/>
            <a:ext cx="2621280" cy="335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97"/>
              </a:spcAft>
              <a:defRPr sz="1620" b="1">
                <a:solidFill>
                  <a:srgbClr val="7CE7D4"/>
                </a:solidFill>
                <a:latin typeface="IBM Plex Sans"/>
              </a:defRPr>
            </a:pPr>
            <a:r>
              <a:t>01 Pesquisar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189220"/>
            <a:ext cx="25374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2"/>
              </a:spcAft>
              <a:defRPr sz="1320" b="0">
                <a:solidFill>
                  <a:srgbClr val="B4C5CD"/>
                </a:solidFill>
                <a:latin typeface="IBM Plex Sans"/>
              </a:defRPr>
            </a:pPr>
            <a:r>
              <a:t>Dor + disposição de pagar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762500"/>
            <a:ext cx="2621280" cy="335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97"/>
              </a:spcAft>
              <a:defRPr sz="1620" b="1">
                <a:solidFill>
                  <a:srgbClr val="7CE7D4"/>
                </a:solidFill>
                <a:latin typeface="IBM Plex Sans"/>
              </a:defRPr>
            </a:pPr>
            <a:r>
              <a:t>02 Construir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189220"/>
            <a:ext cx="25374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2"/>
              </a:spcAft>
              <a:defRPr sz="1320" b="0">
                <a:solidFill>
                  <a:srgbClr val="B4C5CD"/>
                </a:solidFill>
                <a:latin typeface="IBM Plex Sans"/>
              </a:defRPr>
            </a:pPr>
            <a:r>
              <a:t>Curadoria + revisão humana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762500"/>
            <a:ext cx="2621280" cy="335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97"/>
              </a:spcAft>
              <a:defRPr sz="1620" b="1">
                <a:solidFill>
                  <a:srgbClr val="7CE7D4"/>
                </a:solidFill>
                <a:latin typeface="IBM Plex Sans"/>
              </a:defRPr>
            </a:pPr>
            <a:r>
              <a:t>03 Vender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5189220"/>
            <a:ext cx="25374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2"/>
              </a:spcAft>
              <a:defRPr sz="1320" b="0">
                <a:solidFill>
                  <a:srgbClr val="B4C5CD"/>
                </a:solidFill>
                <a:latin typeface="IBM Plex Sans"/>
              </a:defRPr>
            </a:pPr>
            <a:r>
              <a:t>Checkout ou contrato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4762500"/>
            <a:ext cx="2621280" cy="335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97"/>
              </a:spcAft>
              <a:defRPr sz="1620" b="1">
                <a:solidFill>
                  <a:srgbClr val="7CE7D4"/>
                </a:solidFill>
                <a:latin typeface="IBM Plex Sans"/>
              </a:defRPr>
            </a:pPr>
            <a:r>
              <a:t>04 Medir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5189220"/>
            <a:ext cx="25374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2"/>
              </a:spcAft>
              <a:defRPr sz="1320" b="0">
                <a:solidFill>
                  <a:srgbClr val="B4C5CD"/>
                </a:solidFill>
                <a:latin typeface="IBM Plex Sans"/>
              </a:defRPr>
            </a:pPr>
            <a:r>
              <a:t>Margem, qualidade e caixa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753100"/>
            <a:ext cx="1100328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1">
                <a:solidFill>
                  <a:srgbClr val="F5CA80"/>
                </a:solidFill>
                <a:latin typeface="IBM Plex Sans"/>
              </a:defRPr>
            </a:pPr>
            <a:r>
              <a:t>Clientes diferentes; não há conversão automática de consumidor em comprador B2B.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03 / PRODUTOS PROPOSTOS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O que vamos oferecer primeiro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Preços de teste. Nenhum nicho, catálogo ou comprador está confirmado.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76500"/>
            <a:ext cx="49530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15"/>
              </a:spcAft>
              <a:defRPr sz="3900" b="1">
                <a:solidFill>
                  <a:srgbClr val="7CE7D4"/>
                </a:solidFill>
                <a:latin typeface="IBM Plex Sans"/>
              </a:defRPr>
            </a:pPr>
            <a:r>
              <a:t>USD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85160"/>
            <a:ext cx="495300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Ticket médio hipotético da loja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2476500"/>
            <a:ext cx="49530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15"/>
              </a:spcAft>
              <a:defRPr sz="3900" b="1">
                <a:solidFill>
                  <a:srgbClr val="F5CA80"/>
                </a:solidFill>
                <a:latin typeface="IBM Plex Sans"/>
              </a:defRPr>
            </a:pPr>
            <a:r>
              <a:t>R$ 30 mil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3185160"/>
            <a:ext cx="495300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Preço proposto por mapa de 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0"/>
            <a:ext cx="4800600" cy="1295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19"/>
              </a:spcAft>
              <a:defRPr sz="1739" b="0">
                <a:solidFill>
                  <a:srgbClr val="F3F5EF"/>
                </a:solidFill>
                <a:latin typeface="IBM Plex Sans"/>
              </a:defRPr>
            </a:pPr>
            <a:r>
              <a:t>Vários nichos, escolhidos por validação.</a:t>
            </a:r>
          </a:p>
          <a:p>
            <a:pPr>
              <a:spcAft>
                <a:spcPts val="319"/>
              </a:spcAft>
              <a:defRPr sz="1739" b="0">
                <a:solidFill>
                  <a:srgbClr val="F3F5EF"/>
                </a:solidFill>
                <a:latin typeface="IBM Plex Sans"/>
              </a:defRPr>
            </a:pPr>
            <a:r>
              <a:t>Espanhol como hipótese inicial de idioma.</a:t>
            </a:r>
          </a:p>
          <a:p>
            <a:pPr>
              <a:spcAft>
                <a:spcPts val="319"/>
              </a:spcAft>
              <a:defRPr sz="1739" b="0">
                <a:solidFill>
                  <a:srgbClr val="F3F5EF"/>
                </a:solidFill>
                <a:latin typeface="IBM Plex Sans"/>
              </a:defRPr>
            </a:pPr>
            <a:r>
              <a:t>Entrega digital em plataforma existente.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4114800"/>
            <a:ext cx="48768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19"/>
              </a:spcAft>
              <a:defRPr sz="1739" b="0">
                <a:solidFill>
                  <a:srgbClr val="F3F5EF"/>
                </a:solidFill>
                <a:latin typeface="IBM Plex Sans"/>
              </a:defRPr>
            </a:pPr>
            <a:r>
              <a:t>80 horas diretas por projeto.</a:t>
            </a:r>
          </a:p>
          <a:p>
            <a:pPr>
              <a:spcAft>
                <a:spcPts val="319"/>
              </a:spcAft>
              <a:defRPr sz="1739" b="0">
                <a:solidFill>
                  <a:srgbClr val="F3F5EF"/>
                </a:solidFill>
                <a:latin typeface="IBM Plex Sans"/>
              </a:defRPr>
            </a:pPr>
            <a:r>
              <a:t>Entrega proposta em 2 a 4 semanas.</a:t>
            </a:r>
          </a:p>
          <a:p>
            <a:pPr>
              <a:spcAft>
                <a:spcPts val="319"/>
              </a:spcAft>
              <a:defRPr sz="1739" b="0">
                <a:solidFill>
                  <a:srgbClr val="F3F5EF"/>
                </a:solidFill>
                <a:latin typeface="IBM Plex Sans"/>
              </a:defRPr>
            </a:pPr>
            <a:r>
              <a:t>Um domínio de TI delimitado.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28360" y="2461260"/>
            <a:ext cx="0" cy="3048000"/>
          </a:xfrm>
          <a:prstGeom prst="line">
            <a:avLst/>
          </a:prstGeom>
          <a:ln w="1524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" y="5753100"/>
            <a:ext cx="1100328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1">
                <a:solidFill>
                  <a:srgbClr val="F5CA80"/>
                </a:solidFill>
                <a:latin typeface="IBM Plex Sans"/>
              </a:defRPr>
            </a:pPr>
            <a:r>
              <a:t>Não construir marketplace próprio antes de provar que há compra.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04 / LOJA LATAM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Validar poucos nichos. Interromper perdas cedo.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Até três nichos em teste, não dezenas de produtos lançados ao mesmo tempo.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2438400"/>
            <a:ext cx="495299" cy="44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73"/>
              </a:spcAft>
              <a:defRPr sz="2580" b="1">
                <a:solidFill>
                  <a:srgbClr val="7CE7D4"/>
                </a:solidFill>
                <a:latin typeface="IBM Plex San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800" y="2438400"/>
            <a:ext cx="32004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41"/>
              </a:spcAft>
              <a:defRPr sz="1859" b="1">
                <a:solidFill>
                  <a:srgbClr val="F3F5EF"/>
                </a:solidFill>
                <a:latin typeface="IBM Plex Sans"/>
              </a:defRPr>
            </a:pPr>
            <a:r>
              <a:t>Ouvir antes de produzir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0" y="2438400"/>
            <a:ext cx="63627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97"/>
              </a:spcAft>
              <a:defRPr sz="1620" b="0">
                <a:solidFill>
                  <a:srgbClr val="B4C5CD"/>
                </a:solidFill>
                <a:latin typeface="IBM Plex Sans"/>
              </a:defRPr>
            </a:pPr>
            <a:r>
              <a:t>Dor verificável; disposição de pagar; entrega demonstrável; baixo risco regulatório.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47800" y="3291840"/>
            <a:ext cx="9906000" cy="0"/>
          </a:xfrm>
          <a:prstGeom prst="line">
            <a:avLst/>
          </a:prstGeom>
          <a:ln w="1524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7700" y="3444240"/>
            <a:ext cx="495299" cy="44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73"/>
              </a:spcAft>
              <a:defRPr sz="2580" b="1">
                <a:solidFill>
                  <a:srgbClr val="7CE7D4"/>
                </a:solidFill>
                <a:latin typeface="IBM Plex San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7800" y="3444240"/>
            <a:ext cx="32004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41"/>
              </a:spcAft>
              <a:defRPr sz="1859" b="1">
                <a:solidFill>
                  <a:srgbClr val="F3F5EF"/>
                </a:solidFill>
                <a:latin typeface="IBM Plex Sans"/>
              </a:defRPr>
            </a:pPr>
            <a:r>
              <a:t>Testar uma oferta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3000" y="3444240"/>
            <a:ext cx="63627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97"/>
              </a:spcAft>
              <a:defRPr sz="1620" b="0">
                <a:solidFill>
                  <a:srgbClr val="B4C5CD"/>
                </a:solidFill>
                <a:latin typeface="IBM Plex Sans"/>
              </a:defRPr>
            </a:pPr>
            <a:r>
              <a:t>Material curto e útil, revisão de especialista, página e checkout funcionando.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47800" y="4297680"/>
            <a:ext cx="9906000" cy="0"/>
          </a:xfrm>
          <a:prstGeom prst="line">
            <a:avLst/>
          </a:prstGeom>
          <a:ln w="1524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7700" y="4450080"/>
            <a:ext cx="495299" cy="44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73"/>
              </a:spcAft>
              <a:defRPr sz="2580" b="1">
                <a:solidFill>
                  <a:srgbClr val="7CE7D4"/>
                </a:solidFill>
                <a:latin typeface="IBM Plex San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7800" y="4450080"/>
            <a:ext cx="32004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41"/>
              </a:spcAft>
              <a:defRPr sz="1859" b="1">
                <a:solidFill>
                  <a:srgbClr val="F3F5EF"/>
                </a:solidFill>
                <a:latin typeface="IBM Plex Sans"/>
              </a:defRPr>
            </a:pPr>
            <a:r>
              <a:t>Medir e decidir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4450080"/>
            <a:ext cx="63627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97"/>
              </a:spcAft>
              <a:defRPr sz="1620" b="0">
                <a:solidFill>
                  <a:srgbClr val="B4C5CD"/>
                </a:solidFill>
                <a:latin typeface="IBM Plex Sans"/>
              </a:defRPr>
            </a:pPr>
            <a:r>
              <a:t>Medir estornos, CAC e suporte. Parar com contribuição negativa ou qualidade insuficiente; aprovar teto de teste antes.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47800" y="5303520"/>
            <a:ext cx="9906000" cy="0"/>
          </a:xfrm>
          <a:prstGeom prst="line">
            <a:avLst/>
          </a:prstGeom>
          <a:ln w="1524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5753100"/>
            <a:ext cx="1100328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1">
                <a:solidFill>
                  <a:srgbClr val="F5CA80"/>
                </a:solidFill>
                <a:latin typeface="IBM Plex Sans"/>
              </a:defRPr>
            </a:pPr>
            <a:r>
              <a:t>IA ajuda a produzir e revisar; não substitui utilidade, direitos autorais ou especialista.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05 / OFERTA DE R$ 30 MIL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Mapa de TI: um escopo que o comprador entende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Exemplo ilustrativo de relações. Não representa dados de cliente.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85900" y="2933700"/>
            <a:ext cx="2514600" cy="0"/>
          </a:xfrm>
          <a:prstGeom prst="line">
            <a:avLst/>
          </a:prstGeom>
          <a:ln w="22859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2705100" y="2933700"/>
            <a:ext cx="1295400" cy="1219200"/>
          </a:xfrm>
          <a:prstGeom prst="line">
            <a:avLst/>
          </a:prstGeom>
          <a:ln w="22859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000500" y="2933700"/>
            <a:ext cx="838200" cy="2057400"/>
          </a:xfrm>
          <a:prstGeom prst="line">
            <a:avLst/>
          </a:prstGeom>
          <a:ln w="22859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85900" y="2933700"/>
            <a:ext cx="3352800" cy="2057400"/>
          </a:xfrm>
          <a:prstGeom prst="line">
            <a:avLst/>
          </a:prstGeom>
          <a:ln w="22859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85800" y="2628900"/>
            <a:ext cx="1676400" cy="624840"/>
          </a:xfrm>
          <a:prstGeom prst="rect">
            <a:avLst/>
          </a:prstGeom>
          <a:solidFill>
            <a:srgbClr val="10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28900"/>
            <a:ext cx="1676400" cy="62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19"/>
              </a:spcAft>
              <a:defRPr sz="1739" b="1">
                <a:solidFill>
                  <a:srgbClr val="F3F5EF"/>
                </a:solidFill>
                <a:latin typeface="IBM Plex Sans"/>
              </a:defRPr>
            </a:pPr>
            <a:r>
              <a:t>Portal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628900"/>
            <a:ext cx="1676400" cy="624840"/>
          </a:xfrm>
          <a:prstGeom prst="rect">
            <a:avLst/>
          </a:prstGeom>
          <a:solidFill>
            <a:srgbClr val="10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628900"/>
            <a:ext cx="1676400" cy="62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19"/>
              </a:spcAft>
              <a:defRPr sz="1739" b="1">
                <a:solidFill>
                  <a:srgbClr val="F3F5EF"/>
                </a:solidFill>
                <a:latin typeface="IBM Plex Sans"/>
              </a:defRPr>
            </a:pPr>
            <a:r>
              <a:t>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05000" y="3848099"/>
            <a:ext cx="1676400" cy="624840"/>
          </a:xfrm>
          <a:prstGeom prst="rect">
            <a:avLst/>
          </a:prstGeom>
          <a:solidFill>
            <a:srgbClr val="10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05000" y="3848099"/>
            <a:ext cx="1676400" cy="62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19"/>
              </a:spcAft>
              <a:defRPr sz="1739" b="1">
                <a:solidFill>
                  <a:srgbClr val="F3F5EF"/>
                </a:solidFill>
                <a:latin typeface="IBM Plex Sans"/>
              </a:defRPr>
            </a:pPr>
            <a:r>
              <a:t>Dados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38600" y="4686300"/>
            <a:ext cx="1676400" cy="624840"/>
          </a:xfrm>
          <a:prstGeom prst="rect">
            <a:avLst/>
          </a:prstGeom>
          <a:solidFill>
            <a:srgbClr val="10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38600" y="4686300"/>
            <a:ext cx="1676400" cy="62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19"/>
              </a:spcAft>
              <a:defRPr sz="1739" b="1">
                <a:solidFill>
                  <a:srgbClr val="F3F5EF"/>
                </a:solidFill>
                <a:latin typeface="IBM Plex Sans"/>
              </a:defRPr>
            </a:pPr>
            <a:r>
              <a:t>Identidade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" y="5539740"/>
            <a:ext cx="5029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20"/>
              </a:spcAft>
              <a:defRPr sz="1200" b="0">
                <a:solidFill>
                  <a:srgbClr val="B4C5CD"/>
                </a:solidFill>
                <a:latin typeface="IBM Plex Sans"/>
              </a:defRPr>
            </a:pPr>
            <a:r>
              <a:t>Relações ilustrativas; confirmar fontes e responsáveis.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2430780"/>
            <a:ext cx="51816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41"/>
              </a:spcAft>
              <a:defRPr sz="1859" b="1">
                <a:solidFill>
                  <a:srgbClr val="F5CA80"/>
                </a:solidFill>
                <a:latin typeface="IBM Plex Sans"/>
              </a:defRPr>
            </a:pPr>
            <a:r>
              <a:t>Limite proposto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600" y="2918460"/>
            <a:ext cx="5029200" cy="1242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8"/>
              </a:spcAft>
              <a:defRPr sz="1680" b="0">
                <a:solidFill>
                  <a:srgbClr val="F3F5EF"/>
                </a:solidFill>
                <a:latin typeface="IBM Plex Sans"/>
              </a:defRPr>
            </a:pPr>
            <a:r>
              <a:t>1 domínio • até 40 componentes</a:t>
            </a:r>
          </a:p>
          <a:p>
            <a:pPr>
              <a:spcAft>
                <a:spcPts val="308"/>
              </a:spcAft>
              <a:defRPr sz="1680" b="0">
                <a:solidFill>
                  <a:srgbClr val="F3F5EF"/>
                </a:solidFill>
                <a:latin typeface="IBM Plex Sans"/>
              </a:defRPr>
            </a:pPr>
            <a:r>
              <a:t>Até 80 relações • 2 fontes autorizadas</a:t>
            </a:r>
          </a:p>
          <a:p>
            <a:pPr>
              <a:spcAft>
                <a:spcPts val="308"/>
              </a:spcAft>
              <a:defRPr sz="1680" b="0">
                <a:solidFill>
                  <a:srgbClr val="F3F5EF"/>
                </a:solidFill>
                <a:latin typeface="IBM Plex Sans"/>
              </a:defRPr>
            </a:pPr>
            <a:r>
              <a:t>2 sessões de validação • 80 h diretas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600" y="42672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41"/>
              </a:spcAft>
              <a:defRPr sz="1859" b="1">
                <a:solidFill>
                  <a:srgbClr val="F5CA80"/>
                </a:solidFill>
                <a:latin typeface="IBM Plex Sans"/>
              </a:defRPr>
            </a:pPr>
            <a:r>
              <a:t>Entrega ao comprador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600" y="472440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8"/>
              </a:spcAft>
              <a:defRPr sz="1680" b="0">
                <a:solidFill>
                  <a:srgbClr val="F3F5EF"/>
                </a:solidFill>
                <a:latin typeface="IBM Plex Sans"/>
              </a:defRPr>
            </a:pPr>
            <a:r>
              <a:t>Inventário com donos/fontes, mapa 2D/3D, dependências e lacunas, PDF executivo e exportação.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06 / MERCADO E CONCORRÊNCIA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Há sinais de mercado. Ainda falta provar nossa venda.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2217420"/>
            <a:ext cx="52578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15"/>
              </a:spcAft>
              <a:defRPr sz="3900" b="1">
                <a:solidFill>
                  <a:srgbClr val="7CE7D4"/>
                </a:solidFill>
                <a:latin typeface="IBM Plex Sans"/>
              </a:defRPr>
            </a:pPr>
            <a:r>
              <a:t>21 milhões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2926080"/>
            <a:ext cx="525780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Compradores globais em 12 meses até março/2024. Hotmart/Teachable; dado autorrelatado.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38900" y="2217420"/>
            <a:ext cx="51054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15"/>
              </a:spcAft>
              <a:defRPr sz="3900" b="1">
                <a:solidFill>
                  <a:srgbClr val="F5CA80"/>
                </a:solidFill>
                <a:latin typeface="IBM Plex Sans"/>
              </a:defRPr>
            </a:pPr>
            <a:r>
              <a:t>84%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2926080"/>
            <a:ext cx="510540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Mais de 750 respondentes globais apontaram gestão do gasto cloud como desafio principal. Flexera 2025.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" y="4008120"/>
            <a:ext cx="4800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86"/>
              </a:spcAft>
              <a:defRPr sz="1560" b="0">
                <a:solidFill>
                  <a:srgbClr val="7CE7D4"/>
                </a:solidFill>
                <a:latin typeface="IBM Plex Sans"/>
              </a:defRPr>
            </a:pPr>
            <a:r>
              <a:t>+50% de GMV LATAM, exceto Brasil, de 2022 para 2023, segundo a Hotmart.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" y="4975860"/>
            <a:ext cx="48768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8"/>
              </a:spcAft>
              <a:defRPr sz="1680" b="0">
                <a:solidFill>
                  <a:srgbClr val="F3F5EF"/>
                </a:solidFill>
                <a:latin typeface="IBM Plex Sans"/>
              </a:defRPr>
            </a:pPr>
            <a:r>
              <a:t>Concorrência na loja: conteúdo gratuito, criadores e marketplaces.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4975860"/>
            <a:ext cx="4953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8"/>
              </a:spcAft>
              <a:defRPr sz="1680" b="0">
                <a:solidFill>
                  <a:srgbClr val="F3F5EF"/>
                </a:solidFill>
                <a:latin typeface="IBM Plex Sans"/>
              </a:defRPr>
            </a:pPr>
            <a:r>
              <a:t>Concorrência TI: consultorias, draw.io, LeanIX e ServiceNow.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875020"/>
            <a:ext cx="1100328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1">
                <a:solidFill>
                  <a:srgbClr val="F5CA80"/>
                </a:solidFill>
                <a:latin typeface="IBM Plex Sans"/>
              </a:defRPr>
            </a:pPr>
            <a:r>
              <a:t>Hipótese de valor: resultado delimitado, fonte e curadoria. “Usar IA” não basta.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Fontes: Hotmart, 21/03/2024; Flexera, 19/03/2025. URLs e limites no apêndice.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07 / PARQUE TECNOLÓGICO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Infraestrutura local. Venda e backup separados.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Uma DGX Spark desde o início é premissa de planejamento, não compra autorizada.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392680"/>
            <a:ext cx="4229100" cy="1981199"/>
          </a:xfrm>
          <a:prstGeom prst="rect">
            <a:avLst/>
          </a:prstGeom>
          <a:solidFill>
            <a:srgbClr val="10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2575560"/>
            <a:ext cx="38328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1">
                <a:solidFill>
                  <a:srgbClr val="7CE7D4"/>
                </a:solidFill>
                <a:latin typeface="IBM Plex Sans"/>
              </a:defRPr>
            </a:pPr>
            <a:r>
              <a:t>DGX SPARK / GB10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" y="3101340"/>
            <a:ext cx="3832860" cy="112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128 GB unificados • 20 núcleos ARM</a:t>
            </a:r>
          </a:p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4 TB provisionados • rede 10GbE</a:t>
            </a:r>
          </a:p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Produção e inferência locais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4831080" y="2766060"/>
            <a:ext cx="1112520" cy="624840"/>
          </a:xfrm>
          <a:prstGeom prst="line">
            <a:avLst/>
          </a:prstGeom>
          <a:ln w="1524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943600" y="2438400"/>
            <a:ext cx="2286000" cy="662940"/>
          </a:xfrm>
          <a:prstGeom prst="rect">
            <a:avLst/>
          </a:prstGeom>
          <a:solidFill>
            <a:srgbClr val="10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2438400"/>
            <a:ext cx="2286000" cy="662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97"/>
              </a:spcAft>
              <a:defRPr sz="1620" b="1">
                <a:solidFill>
                  <a:srgbClr val="F3F5EF"/>
                </a:solidFill>
                <a:latin typeface="IBM Plex Sans"/>
              </a:defRPr>
            </a:pPr>
            <a:r>
              <a:t>Cloud / aplicação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831080" y="2766060"/>
            <a:ext cx="4084320" cy="624840"/>
          </a:xfrm>
          <a:prstGeom prst="line">
            <a:avLst/>
          </a:prstGeom>
          <a:ln w="1524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915400" y="2438400"/>
            <a:ext cx="2667000" cy="662940"/>
          </a:xfrm>
          <a:prstGeom prst="rect">
            <a:avLst/>
          </a:prstGeom>
          <a:solidFill>
            <a:srgbClr val="10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2438400"/>
            <a:ext cx="2667000" cy="662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97"/>
              </a:spcAft>
              <a:defRPr sz="1620" b="1">
                <a:solidFill>
                  <a:srgbClr val="F3F5EF"/>
                </a:solidFill>
                <a:latin typeface="IBM Plex Sans"/>
              </a:defRPr>
            </a:pPr>
            <a:r>
              <a:t>Checkout / entrega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31080" y="3390900"/>
            <a:ext cx="2484120" cy="678180"/>
          </a:xfrm>
          <a:prstGeom prst="line">
            <a:avLst/>
          </a:prstGeom>
          <a:ln w="1524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315200" y="3741420"/>
            <a:ext cx="3048000" cy="662940"/>
          </a:xfrm>
          <a:prstGeom prst="rect">
            <a:avLst/>
          </a:prstGeom>
          <a:solidFill>
            <a:srgbClr val="10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3741420"/>
            <a:ext cx="3048000" cy="662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97"/>
              </a:spcAft>
              <a:defRPr sz="1620" b="1">
                <a:solidFill>
                  <a:srgbClr val="F3F5EF"/>
                </a:solidFill>
                <a:latin typeface="IBM Plex Sans"/>
              </a:defRPr>
            </a:pPr>
            <a:r>
              <a:t>Backup separado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4770120"/>
            <a:ext cx="10896600" cy="62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19"/>
              </a:spcAft>
              <a:defRPr sz="1739" b="1">
                <a:solidFill>
                  <a:srgbClr val="7CE7D4"/>
                </a:solidFill>
                <a:latin typeface="IBM Plex Sans"/>
              </a:defRPr>
            </a:pPr>
            <a:r>
              <a:t>DGX 65k + proteção 4k + rede 2k + backup 3k + periféricos 2k = R$ 76 mil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5509260"/>
            <a:ext cx="1082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19"/>
              </a:spcAft>
              <a:defRPr sz="1739" b="1">
                <a:solidFill>
                  <a:srgbClr val="F5CA80"/>
                </a:solidFill>
                <a:latin typeface="IBM Plex Sans"/>
              </a:defRPr>
            </a:pPr>
            <a:r>
              <a:t>Jurídico 12k + segurança 12k = R$ 24 mil  •  Total inicial M0: R$ 100 mil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Especificações: NVIDIA DGX Spark Hardware, 10/09/2026. R$ 65 mil é provisão, não cotação.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08 / CUSTOS E EQUIPE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R$ 37 mil por mês no primeiro 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Envelopes de orçamento; não são salários pesquisados nem cargos já atribuídos.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2369820"/>
          <a:ext cx="6477000" cy="300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7290"/>
                <a:gridCol w="1489710"/>
              </a:tblGrid>
              <a:tr h="342900">
                <a:tc>
                  <a:txBody>
                    <a:bodyPr/>
                    <a:lstStyle/>
                    <a:p>
                      <a:pPr>
                        <a:defRPr sz="162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Envelope mensal • ano 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2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R$ mil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>
                        <a:defRPr sz="162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Produto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2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8,0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>
                        <a:defRPr sz="162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Engenharia / P&amp;D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2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18,0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>
                        <a:defRPr sz="162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Especialistas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2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6,0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>
                        <a:defRPr sz="162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Cloud + ferramentas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2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2,0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>
                        <a:defRPr sz="162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Prospecção + administração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2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2,5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>
                        <a:defRPr sz="162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Energia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2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0,5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48600" y="2522220"/>
            <a:ext cx="35052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15"/>
              </a:spcAft>
              <a:defRPr sz="3900" b="1">
                <a:solidFill>
                  <a:srgbClr val="F5CA80"/>
                </a:solidFill>
                <a:latin typeface="IBM Plex Sans"/>
              </a:defRPr>
            </a:pPr>
            <a:r>
              <a:t>R$ 42 mil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0" y="3230880"/>
            <a:ext cx="350520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Fixo mensal no ano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8600" y="4259580"/>
            <a:ext cx="34671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19"/>
              </a:spcAft>
              <a:defRPr sz="1739" b="0">
                <a:solidFill>
                  <a:srgbClr val="F3F5EF"/>
                </a:solidFill>
                <a:latin typeface="IBM Plex Sans"/>
              </a:defRPr>
            </a:pPr>
            <a:r>
              <a:t>Entrega TI e suporte da loja entram à parte, nos custos variáveis.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753100"/>
            <a:ext cx="1100328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1">
                <a:solidFill>
                  <a:srgbClr val="F5CA80"/>
                </a:solidFill>
                <a:latin typeface="IBM Plex Sans"/>
              </a:defRPr>
            </a:pPr>
            <a:r>
              <a:t>A operação precisa financiar estrutura + entrega + aquisição de clientes + prazo de recebimento.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09 / GESTÃO TRANSPARENTE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Agentes organizam. Sócios enxergam. Humanos aprovam.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Proposta a implantar. Não há integração financeira ou painel operacional pronto.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491740"/>
            <a:ext cx="3368040" cy="2461260"/>
          </a:xfrm>
          <a:prstGeom prst="rect">
            <a:avLst/>
          </a:prstGeom>
          <a:solidFill>
            <a:srgbClr val="10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7720" y="267462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1">
                <a:solidFill>
                  <a:srgbClr val="7CE7D4"/>
                </a:solidFill>
                <a:latin typeface="IBM Plex Sans"/>
              </a:defRPr>
            </a:pPr>
            <a:r>
              <a:t>FONTES AUTORIZADAS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720" y="3200400"/>
            <a:ext cx="2971800" cy="1607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Checkout • banco • anúncios</a:t>
            </a:r>
          </a:p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CRM • projetos • horas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19600" y="2491740"/>
            <a:ext cx="3368040" cy="2461260"/>
          </a:xfrm>
          <a:prstGeom prst="rect">
            <a:avLst/>
          </a:prstGeom>
          <a:solidFill>
            <a:srgbClr val="10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67462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1">
                <a:solidFill>
                  <a:srgbClr val="7CE7D4"/>
                </a:solidFill>
                <a:latin typeface="IBM Plex Sans"/>
              </a:defRPr>
            </a:pPr>
            <a:r>
              <a:t>AGENTES + EVIDÊNCIAS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200400"/>
            <a:ext cx="2971800" cy="1607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Conferir vendas e estornos</a:t>
            </a:r>
          </a:p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Calcular CAC e caixa</a:t>
            </a:r>
          </a:p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Anexar fonte e registrar ações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491740"/>
            <a:ext cx="3368040" cy="2461260"/>
          </a:xfrm>
          <a:prstGeom prst="rect">
            <a:avLst/>
          </a:prstGeom>
          <a:solidFill>
            <a:srgbClr val="10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27720" y="267462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1">
                <a:solidFill>
                  <a:srgbClr val="7CE7D4"/>
                </a:solidFill>
                <a:latin typeface="IBM Plex Sans"/>
              </a:defRPr>
            </a:pPr>
            <a:r>
              <a:t>SÓCIOS + APROVAÇÃO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7720" y="3200400"/>
            <a:ext cx="2971800" cy="1607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Painel somente leitura</a:t>
            </a:r>
          </a:p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Relatório diário</a:t>
            </a:r>
          </a:p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Reunião semanal e fechamento mensal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4320" y="3352800"/>
            <a:ext cx="30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0">
                <a:solidFill>
                  <a:srgbClr val="7CE7D4"/>
                </a:solidFill>
                <a:latin typeface="IBM Plex San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4320" y="3352800"/>
            <a:ext cx="30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0">
                <a:solidFill>
                  <a:srgbClr val="7CE7D4"/>
                </a:solidFill>
                <a:latin typeface="IBM Plex San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5311140"/>
            <a:ext cx="10911840" cy="71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97"/>
              </a:spcAft>
              <a:defRPr sz="1620" b="0">
                <a:solidFill>
                  <a:srgbClr val="F5CA80"/>
                </a:solidFill>
                <a:latin typeface="IBM Plex Sans"/>
              </a:defRPr>
            </a:pPr>
            <a:r>
              <a:t>Permissões mínimas, logs, separação de dados e alerta/parada. Orçamento e despesas relevantes: aprovação conjunta AUMI + Dani; limites a formalizar.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10 / PRIMEIROS 90 DIAS E ANO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Metas por etapa, condicionadas a caixa e 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Agenda-base simulada. Não é pipeline existente nem compromisso de vendas.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430780"/>
            <a:ext cx="3543300" cy="2301240"/>
          </a:xfrm>
          <a:prstGeom prst="rect">
            <a:avLst/>
          </a:prstGeom>
          <a:solidFill>
            <a:srgbClr val="10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7720" y="2613660"/>
            <a:ext cx="31470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1">
                <a:solidFill>
                  <a:srgbClr val="7CE7D4"/>
                </a:solidFill>
                <a:latin typeface="IBM Plex Sans"/>
              </a:defRPr>
            </a:pPr>
            <a:r>
              <a:t>Dias 1–30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720" y="3139440"/>
            <a:ext cx="3147060" cy="144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10 conversas com compradores de nichos</a:t>
            </a:r>
          </a:p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5 contatos TI</a:t>
            </a:r>
          </a:p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Selecionar até 3 nichos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1500" y="2430780"/>
            <a:ext cx="3543300" cy="2301240"/>
          </a:xfrm>
          <a:prstGeom prst="rect">
            <a:avLst/>
          </a:prstGeom>
          <a:solidFill>
            <a:srgbClr val="10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9620" y="2613660"/>
            <a:ext cx="31470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1">
                <a:solidFill>
                  <a:srgbClr val="7CE7D4"/>
                </a:solidFill>
                <a:latin typeface="IBM Plex Sans"/>
              </a:defRPr>
            </a:pPr>
            <a:r>
              <a:t>Dias 31–60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9620" y="3139440"/>
            <a:ext cx="3147060" cy="144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Preparar até 3 ofertas testáveis</a:t>
            </a:r>
          </a:p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Validar checkout, entrega e dados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53399" y="2430780"/>
            <a:ext cx="3543300" cy="2301240"/>
          </a:xfrm>
          <a:prstGeom prst="rect">
            <a:avLst/>
          </a:prstGeom>
          <a:solidFill>
            <a:srgbClr val="10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1520" y="2613660"/>
            <a:ext cx="31470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1">
                <a:solidFill>
                  <a:srgbClr val="7CE7D4"/>
                </a:solidFill>
                <a:latin typeface="IBM Plex Sans"/>
              </a:defRPr>
            </a:pPr>
            <a:r>
              <a:t>Dias 61–90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0" y="3139440"/>
            <a:ext cx="3147060" cy="144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Alvo condicional:</a:t>
            </a:r>
          </a:p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50 vendas de loja</a:t>
            </a:r>
          </a:p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1 mapa pago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" y="511302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2"/>
              </a:spcAft>
              <a:defRPr sz="1920" b="1">
                <a:solidFill>
                  <a:srgbClr val="7CE7D4"/>
                </a:solidFill>
                <a:latin typeface="IBM Plex Sans"/>
              </a:defRPr>
            </a:pPr>
            <a:r>
              <a:t>M6  /  500 vendas loja/mês</a:t>
            </a:r>
          </a:p>
          <a:p>
            <a:pPr>
              <a:spcAft>
                <a:spcPts val="352"/>
              </a:spcAft>
              <a:defRPr sz="1920" b="1">
                <a:solidFill>
                  <a:srgbClr val="7CE7D4"/>
                </a:solidFill>
                <a:latin typeface="IBM Plex Sans"/>
              </a:defRPr>
            </a:pPr>
            <a:r>
              <a:t>2 mapas acumulados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0" y="511302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2"/>
              </a:spcAft>
              <a:defRPr sz="1920" b="1">
                <a:solidFill>
                  <a:srgbClr val="F5CA80"/>
                </a:solidFill>
                <a:latin typeface="IBM Plex Sans"/>
              </a:defRPr>
            </a:pPr>
            <a:r>
              <a:t>M12  /  2.000 vendas loja/mês</a:t>
            </a:r>
          </a:p>
          <a:p>
            <a:pPr>
              <a:spcAft>
                <a:spcPts val="352"/>
              </a:spcAft>
              <a:defRPr sz="1920" b="1">
                <a:solidFill>
                  <a:srgbClr val="F5CA80"/>
                </a:solidFill>
                <a:latin typeface="IBM Plex Sans"/>
              </a:defRPr>
            </a:pPr>
            <a:r>
              <a:t>8 mapas acumulados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11 / ECONOMIA POR PEDIDO DA LOJA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De USD 29 vendidos, sobram USD 7,31628 de contribuição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Contribuição paga os fixos; não é lucro. Câmbio hipotético: USD 1 = R$ 5.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2286000"/>
          <a:ext cx="7315200" cy="3314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5856"/>
                <a:gridCol w="1609344"/>
              </a:tblGrid>
              <a:tr h="342900">
                <a:tc>
                  <a:txBody>
                    <a:bodyPr/>
                    <a:lstStyle/>
                    <a:p>
                      <a:pPr>
                        <a:defRPr sz="1439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Por pedido aprovado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USD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>
                        <a:defRPr sz="1439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Venda bruta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29,00000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>
                        <a:defRPr sz="1439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Estornos (8%)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−2,32000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>
                        <a:defRPr sz="1439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Receita após estornos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26,68000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>
                        <a:defRPr sz="1439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Hotmart: 9,9% + USD 1 após estornos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−3,56132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>
                        <a:defRPr sz="1439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Tributos: provisão de 15%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−4,00200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>
                        <a:defRPr sz="1439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Meios / câmbio: reserva de 3%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−0,80040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>
                        <a:defRPr sz="1439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Aquisição (CAC) + suporte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−11,00000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34400" y="2781300"/>
            <a:ext cx="28956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15"/>
              </a:spcAft>
              <a:defRPr sz="3900" b="1">
                <a:solidFill>
                  <a:srgbClr val="7CE7D4"/>
                </a:solidFill>
                <a:latin typeface="IBM Plex Sans"/>
              </a:defRPr>
            </a:pPr>
            <a:r>
              <a:t>7,31628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0" y="3489960"/>
            <a:ext cx="289560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USD de contribuição por pedido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4594860"/>
            <a:ext cx="2743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1">
                <a:solidFill>
                  <a:srgbClr val="F5CA80"/>
                </a:solidFill>
                <a:latin typeface="IBM Plex Sans"/>
              </a:defRPr>
            </a:pPr>
            <a:r>
              <a:t>R$ 36,5814</a:t>
            </a:r>
          </a:p>
          <a:p>
            <a:pPr>
              <a:spcAft>
                <a:spcPts val="330"/>
              </a:spcAft>
              <a:defRPr sz="1800" b="1">
                <a:solidFill>
                  <a:srgbClr val="F5CA80"/>
                </a:solidFill>
                <a:latin typeface="IBM Plex Sans"/>
              </a:defRPr>
            </a:pPr>
            <a:r>
              <a:t>por pedido a câmbio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920740"/>
            <a:ext cx="1100328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1">
                <a:solidFill>
                  <a:srgbClr val="F5CA80"/>
                </a:solidFill>
                <a:latin typeface="IBM Plex Sans"/>
              </a:defRPr>
            </a:pPr>
            <a:r>
              <a:t>CAC USD 10 + suporte USD 1. Sem supor tráfego gratuito.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Hotmart: tabela/FAQ atualizada em 18/09/2026, efetiva 21/09/2026: 9,9% + USD 1. Ver ressalva no apêndice.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12 / ECONOMIA POR PROJETO 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O mapa de R$ 30 mil contribui R$ 9,6 mil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Preço e capacidade de entrega ainda precisam de validação comercial e técnica.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2392680"/>
            <a:ext cx="30099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19"/>
              </a:spcAft>
              <a:defRPr sz="1739" b="1">
                <a:solidFill>
                  <a:srgbClr val="7CE7D4"/>
                </a:solidFill>
                <a:latin typeface="IBM Plex Sans"/>
              </a:defRPr>
            </a:pPr>
            <a:r>
              <a:t>Preço proposto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0" y="2453640"/>
            <a:ext cx="5562600" cy="289560"/>
          </a:xfrm>
          <a:prstGeom prst="rect">
            <a:avLst/>
          </a:prstGeom>
          <a:solidFill>
            <a:srgbClr val="7CE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77400" y="2392680"/>
            <a:ext cx="1981199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1">
                <a:solidFill>
                  <a:srgbClr val="7CE7D4"/>
                </a:solidFill>
                <a:latin typeface="IBM Plex Sans"/>
              </a:defRPr>
            </a:pPr>
            <a:r>
              <a:t>R$ 30.000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3032760"/>
            <a:ext cx="30099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19"/>
              </a:spcAft>
              <a:defRPr sz="1739" b="1">
                <a:solidFill>
                  <a:srgbClr val="B4C5CD"/>
                </a:solidFill>
                <a:latin typeface="IBM Plex Sans"/>
              </a:defRPr>
            </a:pPr>
            <a:r>
              <a:t>Trabalho direto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0" y="3093720"/>
            <a:ext cx="2670048" cy="289560"/>
          </a:xfrm>
          <a:prstGeom prst="rect">
            <a:avLst/>
          </a:prstGeom>
          <a:solidFill>
            <a:srgbClr val="B4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77400" y="3032760"/>
            <a:ext cx="1981199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1">
                <a:solidFill>
                  <a:srgbClr val="B4C5CD"/>
                </a:solidFill>
                <a:latin typeface="IBM Plex Sans"/>
              </a:defRPr>
            </a:pPr>
            <a:r>
              <a:t>R$ 14.400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3672840"/>
            <a:ext cx="30099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19"/>
              </a:spcAft>
              <a:defRPr sz="1739" b="1">
                <a:solidFill>
                  <a:srgbClr val="B4C5CD"/>
                </a:solidFill>
                <a:latin typeface="IBM Plex Sans"/>
              </a:defRPr>
            </a:pPr>
            <a:r>
              <a:t>Tributos 15%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10000" y="3733799"/>
            <a:ext cx="834390" cy="289560"/>
          </a:xfrm>
          <a:prstGeom prst="rect">
            <a:avLst/>
          </a:prstGeom>
          <a:solidFill>
            <a:srgbClr val="B4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77400" y="3672840"/>
            <a:ext cx="1981199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1">
                <a:solidFill>
                  <a:srgbClr val="B4C5CD"/>
                </a:solidFill>
                <a:latin typeface="IBM Plex Sans"/>
              </a:defRPr>
            </a:pPr>
            <a:r>
              <a:t>R$ 4.500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4312920"/>
            <a:ext cx="30099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19"/>
              </a:spcAft>
              <a:defRPr sz="1739" b="1">
                <a:solidFill>
                  <a:srgbClr val="B4C5CD"/>
                </a:solidFill>
                <a:latin typeface="IBM Plex Sans"/>
              </a:defRPr>
            </a:pPr>
            <a:r>
              <a:t>Comercial 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0000" y="4373880"/>
            <a:ext cx="278130" cy="289560"/>
          </a:xfrm>
          <a:prstGeom prst="rect">
            <a:avLst/>
          </a:prstGeom>
          <a:solidFill>
            <a:srgbClr val="B4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7400" y="4312920"/>
            <a:ext cx="1981199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1">
                <a:solidFill>
                  <a:srgbClr val="B4C5CD"/>
                </a:solidFill>
                <a:latin typeface="IBM Plex Sans"/>
              </a:defRPr>
            </a:pPr>
            <a:r>
              <a:t>R$ 1.500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4953000"/>
            <a:ext cx="30099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19"/>
              </a:spcAft>
              <a:defRPr sz="1739" b="1">
                <a:solidFill>
                  <a:srgbClr val="F5CA80"/>
                </a:solidFill>
                <a:latin typeface="IBM Plex Sans"/>
              </a:defRPr>
            </a:pPr>
            <a:r>
              <a:t>Contribuição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10000" y="5013960"/>
            <a:ext cx="1780032" cy="289560"/>
          </a:xfrm>
          <a:prstGeom prst="rect">
            <a:avLst/>
          </a:prstGeom>
          <a:solidFill>
            <a:srgbClr val="F5C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77400" y="4953000"/>
            <a:ext cx="1981199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1">
                <a:solidFill>
                  <a:srgbClr val="F5CA80"/>
                </a:solidFill>
                <a:latin typeface="IBM Plex Sans"/>
              </a:defRPr>
            </a:pPr>
            <a:r>
              <a:t>R$ 9.600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753100"/>
            <a:ext cx="1100328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1">
                <a:solidFill>
                  <a:srgbClr val="F5CA80"/>
                </a:solidFill>
                <a:latin typeface="IBM Plex Sans"/>
              </a:defRPr>
            </a:pPr>
            <a:r>
              <a:t>50% no início + 50% no mês seguinte, após entrega/aceite. Sem garantia de economia.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13 / SIMULAÇÃO MENSAL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Escala exige mídia, visitas e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Quatro níveis independentes. Não são etapas garantidas nem a agenda dos 24 meses.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2506980"/>
          <a:ext cx="11003276" cy="2613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0459"/>
                <a:gridCol w="1595475"/>
                <a:gridCol w="1485442"/>
                <a:gridCol w="1595475"/>
                <a:gridCol w="1485442"/>
                <a:gridCol w="1595475"/>
                <a:gridCol w="1705508"/>
              </a:tblGrid>
              <a:tr h="45720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Pedidos /</a:t>
                      </a:r>
                    </a:p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mapas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Loja bruta</a:t>
                      </a:r>
                    </a:p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USD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Bruto total</a:t>
                      </a:r>
                    </a:p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R$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Após estornos</a:t>
                      </a:r>
                    </a:p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R$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Aquisição</a:t>
                      </a:r>
                    </a:p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R$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Visitas</a:t>
                      </a:r>
                    </a:p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2% conv.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Resultado</a:t>
                      </a:r>
                    </a:p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R$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5391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300 / 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USD 8.700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43,5 mil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40,0 mil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15,0 mil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15.000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-31,0 mil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5391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1.000 / 1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USD 29.000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175,0 mil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163,4 mil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50,0 mil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50.000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4,2 mil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5391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3.000 / 2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USD 87.000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495,0 mil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460,2 mil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150,0 mil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150.000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86,9 mil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5391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5.000 / 3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USD 145.000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815,0 mil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757,0 mil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250,0 mil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250.000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169,7 mil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7700" y="5455920"/>
            <a:ext cx="10820400" cy="586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97"/>
              </a:spcAft>
              <a:defRPr sz="1620" b="0">
                <a:solidFill>
                  <a:srgbClr val="F5CA80"/>
                </a:solidFill>
                <a:latin typeface="IBM Plex Sans"/>
              </a:defRPr>
            </a:pPr>
            <a:r>
              <a:t>Resultado após fixo de R$ 42 mil. Receita não é lucro nem saldo bancário; a loja recebe em M+1.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14 / COMO O DINHEIRO CIRCULA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Venda, receita e caixa são números diferentes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Exemplo do mês 12 no cenário-base. Valores em BRL, arredondados aqui.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83180"/>
            <a:ext cx="35814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15"/>
              </a:spcAft>
              <a:defRPr sz="3900" b="1">
                <a:solidFill>
                  <a:srgbClr val="F3F5EF"/>
                </a:solidFill>
                <a:latin typeface="IBM Plex Sans"/>
              </a:defRPr>
            </a:pPr>
            <a:r>
              <a:t>R$ 320.000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358140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Bruto do mês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1980" y="2583180"/>
            <a:ext cx="35814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15"/>
              </a:spcAft>
              <a:defRPr sz="3900" b="1">
                <a:solidFill>
                  <a:srgbClr val="7CE7D4"/>
                </a:solidFill>
                <a:latin typeface="IBM Plex Sans"/>
              </a:defRPr>
            </a:pPr>
            <a:r>
              <a:t>R$ 296.800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1980" y="3291840"/>
            <a:ext cx="358140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Após estornos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583180"/>
            <a:ext cx="35814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15"/>
              </a:spcAft>
              <a:defRPr sz="3900" b="1">
                <a:solidFill>
                  <a:srgbClr val="F5CA80"/>
                </a:solidFill>
                <a:latin typeface="IBM Plex Sans"/>
              </a:defRPr>
            </a:pPr>
            <a:r>
              <a:t>R$ 232.288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291840"/>
            <a:ext cx="358140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Recebido no mês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" y="4541520"/>
            <a:ext cx="5105400" cy="67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41"/>
              </a:spcAft>
              <a:defRPr sz="1859" b="1">
                <a:solidFill>
                  <a:srgbClr val="7CE7D4"/>
                </a:solidFill>
                <a:latin typeface="IBM Plex Sans"/>
              </a:defRPr>
            </a:pPr>
            <a:r>
              <a:t>Resultado operacional: R$ 45.762,80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460" y="4541520"/>
            <a:ext cx="5105400" cy="67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41"/>
              </a:spcAft>
              <a:defRPr sz="1859" b="1">
                <a:solidFill>
                  <a:srgbClr val="F5CA80"/>
                </a:solidFill>
                <a:latin typeface="IBM Plex Sans"/>
              </a:defRPr>
            </a:pPr>
            <a:r>
              <a:t>Caixa líquido do mês: R$ 16.864,45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753100"/>
            <a:ext cx="1100328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1">
                <a:solidFill>
                  <a:srgbClr val="F5CA80"/>
                </a:solidFill>
                <a:latin typeface="IBM Plex Sans"/>
              </a:defRPr>
            </a:pPr>
            <a:r>
              <a:t>Loja: liquidação M+1 após taxa. Mapas: 50/50. Crescer exige capital de giro.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15 / HORIZONTE DE 24 MESES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Três simulações. Nenhuma é previsão.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Payback do projeto só existe com financiamento completo e vendas/CAC do cenário.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2415540"/>
          <a:ext cx="11003278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426"/>
                <a:gridCol w="1980590"/>
                <a:gridCol w="1980590"/>
                <a:gridCol w="2530754"/>
                <a:gridCol w="1650492"/>
                <a:gridCol w="1430426"/>
              </a:tblGrid>
              <a:tr h="457200">
                <a:tc>
                  <a:txBody>
                    <a:bodyPr/>
                    <a:lstStyle/>
                    <a:p>
                      <a:pPr>
                        <a:defRPr sz="1439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Cenário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Após estornos</a:t>
                      </a:r>
                    </a:p>
                    <a:p>
                      <a:pPr>
                        <a:defRPr sz="1439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ano 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Após estornos</a:t>
                      </a:r>
                    </a:p>
                    <a:p>
                      <a:pPr>
                        <a:defRPr sz="1439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ano 2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Fluxo acumulado</a:t>
                      </a:r>
                    </a:p>
                    <a:p>
                      <a:pPr>
                        <a:defRPr sz="1439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M24, sem aportes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Capital total</a:t>
                      </a:r>
                    </a:p>
                    <a:p>
                      <a:pPr>
                        <a:defRPr sz="1439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com reserva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Payback</a:t>
                      </a:r>
                    </a:p>
                    <a:p>
                      <a:pPr>
                        <a:defRPr sz="1439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projeto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39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Conservador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R$ 352.146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R$ 1.070.490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-737.708,49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R$ 870.000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Não em 24m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39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Base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R$ 1.473.950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R$ 5.255.600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R$ 466.065,35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R$ 530.000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M19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39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Escala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R$ 3.361.380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R$ 9.084.000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R$ 1.821.001,98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R$ 520.000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39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M14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334000"/>
            <a:ext cx="10820400" cy="693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19"/>
              </a:spcAft>
              <a:defRPr sz="1739" b="1">
                <a:solidFill>
                  <a:srgbClr val="F5CA80"/>
                </a:solidFill>
                <a:latin typeface="IBM Plex Sans"/>
              </a:defRPr>
            </a:pPr>
            <a:r>
              <a:t>Base: M19  •  Escala: M14  •  Conservador: sem retorno em 24 meses.</a:t>
            </a:r>
          </a:p>
          <a:p>
            <a:pPr>
              <a:spcAft>
                <a:spcPts val="319"/>
              </a:spcAft>
              <a:defRPr sz="1739" b="1">
                <a:solidFill>
                  <a:srgbClr val="F5CA80"/>
                </a:solidFill>
                <a:latin typeface="IBM Plex Sans"/>
              </a:defRPr>
            </a:pPr>
            <a:r>
              <a:t>Antes de dividendos, dívida, juros e tributos pessoais.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16 / CAPITAL E FÔLEGO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R$ 200 mil não financiam o fluxo-base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Capital-base total: R$ 530 mil. Aporte de cada sócio ainda não acordado.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2415540"/>
          <a:ext cx="66293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762"/>
                <a:gridCol w="1591055"/>
                <a:gridCol w="1657350"/>
                <a:gridCol w="1856232"/>
              </a:tblGrid>
              <a:tr h="3429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Aporte total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Após M0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Sem vendas¹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Falta para base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R$ 100.000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0,00 meses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R$ 430.000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R$ 150.000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R$ 50.000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1,35 meses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R$ 380.000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R$ 200.000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R$ 100.000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2,70 meses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R$ 330.000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24799" y="2446020"/>
            <a:ext cx="3352800" cy="662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38"/>
              </a:spcAft>
              <a:defRPr sz="3479" b="1">
                <a:solidFill>
                  <a:srgbClr val="7CE7D4"/>
                </a:solidFill>
                <a:latin typeface="IBM Plex Sans"/>
              </a:defRPr>
            </a:pPr>
            <a:r>
              <a:t>R$ 530 mil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99" y="3276600"/>
            <a:ext cx="34442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8"/>
              </a:spcAft>
              <a:defRPr sz="1680" b="0">
                <a:solidFill>
                  <a:srgbClr val="F3F5EF"/>
                </a:solidFill>
                <a:latin typeface="IBM Plex Sans"/>
              </a:defRPr>
            </a:pPr>
            <a:r>
              <a:t>398.842,40 de pico de déficit</a:t>
            </a:r>
          </a:p>
          <a:p>
            <a:pPr>
              <a:spcAft>
                <a:spcPts val="308"/>
              </a:spcAft>
              <a:defRPr sz="1680" b="0">
                <a:solidFill>
                  <a:srgbClr val="F3F5EF"/>
                </a:solidFill>
                <a:latin typeface="IBM Plex Sans"/>
              </a:defRPr>
            </a:pPr>
            <a:r>
              <a:t>+ 126.000 de reserva</a:t>
            </a:r>
          </a:p>
          <a:p>
            <a:pPr>
              <a:spcAft>
                <a:spcPts val="308"/>
              </a:spcAft>
              <a:defRPr sz="1680" b="0">
                <a:solidFill>
                  <a:srgbClr val="F3F5EF"/>
                </a:solidFill>
                <a:latin typeface="IBM Plex Sans"/>
              </a:defRPr>
            </a:pPr>
            <a:r>
              <a:t>= 524.842,40</a:t>
            </a:r>
          </a:p>
          <a:p>
            <a:pPr>
              <a:spcAft>
                <a:spcPts val="308"/>
              </a:spcAft>
              <a:defRPr sz="1680" b="0">
                <a:solidFill>
                  <a:srgbClr val="F3F5EF"/>
                </a:solidFill>
                <a:latin typeface="IBM Plex Sans"/>
              </a:defRPr>
            </a:pPr>
            <a:r>
              <a:t>Arredondado a R$ 530 mil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5105400"/>
            <a:ext cx="64770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2"/>
              </a:spcAft>
              <a:defRPr sz="1320" b="0">
                <a:solidFill>
                  <a:srgbClr val="B4C5CD"/>
                </a:solidFill>
                <a:latin typeface="IBM Plex Sans"/>
              </a:defRPr>
            </a:pPr>
            <a:r>
              <a:t>¹ Após M0, considerando apenas R$ 37 mil/mês de fixos. Não é fôlego com aquisição e entrega.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753100"/>
            <a:ext cx="1100328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1">
                <a:solidFill>
                  <a:srgbClr val="F5CA80"/>
                </a:solidFill>
                <a:latin typeface="IBM Plex Sans"/>
              </a:defRPr>
            </a:pPr>
            <a:r>
              <a:t>Não comprar a máquina se o caixa restante não sustentar a operação.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17 / SENSIBILIDADE QUE DECIDE O RISCO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Se o CAC subir para USD 15, a tese muda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Mesmas vendas do cenário-base. Só o custo de aquisição por pedido muda.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2491740"/>
            <a:ext cx="49530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15"/>
              </a:spcAft>
              <a:defRPr sz="3900" b="1">
                <a:solidFill>
                  <a:srgbClr val="FFAA97"/>
                </a:solidFill>
                <a:latin typeface="IBM Plex Sans"/>
              </a:defRPr>
            </a:pPr>
            <a:r>
              <a:t>USD 10 →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3200400"/>
            <a:ext cx="495300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CAC por pedido: aumento de 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9380" y="2491740"/>
            <a:ext cx="49530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15"/>
              </a:spcAft>
              <a:defRPr sz="3900" b="1">
                <a:solidFill>
                  <a:srgbClr val="FFAA97"/>
                </a:solidFill>
                <a:latin typeface="IBM Plex Sans"/>
              </a:defRPr>
            </a:pPr>
            <a:r>
              <a:t>R$ 830 mil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9380" y="3200400"/>
            <a:ext cx="495300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Capital requerido nesta sensibilidade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281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63"/>
              </a:spcAft>
              <a:defRPr sz="1980" b="1">
                <a:solidFill>
                  <a:srgbClr val="F3F5EF"/>
                </a:solidFill>
                <a:latin typeface="IBM Plex Sans"/>
              </a:defRPr>
            </a:pPr>
            <a:r>
              <a:t>Base original: payback M19</a:t>
            </a:r>
          </a:p>
          <a:p>
            <a:pPr>
              <a:spcAft>
                <a:spcPts val="363"/>
              </a:spcAft>
              <a:defRPr sz="1980" b="1">
                <a:solidFill>
                  <a:srgbClr val="F3F5EF"/>
                </a:solidFill>
                <a:latin typeface="IBM Plex Sans"/>
              </a:defRPr>
            </a:pPr>
            <a:r>
              <a:t>Com CAC 15: sem payback em 24m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9380" y="4328160"/>
            <a:ext cx="4953000" cy="891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63"/>
              </a:spcAft>
              <a:defRPr sz="1980" b="1">
                <a:solidFill>
                  <a:srgbClr val="FFAA97"/>
                </a:solidFill>
                <a:latin typeface="IBM Plex Sans"/>
              </a:defRPr>
            </a:pPr>
            <a:r>
              <a:t>Fluxo acumulado M24:</a:t>
            </a:r>
          </a:p>
          <a:p>
            <a:pPr>
              <a:spcAft>
                <a:spcPts val="363"/>
              </a:spcAft>
              <a:defRPr sz="1980" b="1">
                <a:solidFill>
                  <a:srgbClr val="FFAA97"/>
                </a:solidFill>
                <a:latin typeface="IBM Plex Sans"/>
              </a:defRPr>
            </a:pPr>
            <a:r>
              <a:t>−R$ 615.184,65, sem aportes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753100"/>
            <a:ext cx="1100328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1">
                <a:solidFill>
                  <a:srgbClr val="F5CA80"/>
                </a:solidFill>
                <a:latin typeface="IBM Plex Sans"/>
              </a:defRPr>
            </a:pPr>
            <a:r>
              <a:t>Câmbio a R$ 4,50/USD: capital R$ 530 mil e payback M20. Hipótese, não cotação.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18 / EQUITY E GOVERNANÇA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Sociedade 50/50. Regras antes do aporte.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Participação não define, sozinha, quem aporta, trabalha ou recebe remuneração.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8660" y="2331720"/>
            <a:ext cx="47244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15"/>
              </a:spcAft>
              <a:defRPr sz="3900" b="1">
                <a:solidFill>
                  <a:srgbClr val="7CE7D4"/>
                </a:solidFill>
                <a:latin typeface="IBM Plex Sans"/>
              </a:defRPr>
            </a:pPr>
            <a:r>
              <a:t>50% AUMI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" y="3040380"/>
            <a:ext cx="472440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Marcos, Luciana e João em conjunto. Divisão interna ainda a definir.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2331720"/>
            <a:ext cx="47244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15"/>
              </a:spcAft>
              <a:defRPr sz="3900" b="1">
                <a:solidFill>
                  <a:srgbClr val="F5CA80"/>
                </a:solidFill>
                <a:latin typeface="IBM Plex Sans"/>
              </a:defRPr>
            </a:pPr>
            <a:r>
              <a:t>50% Dani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3040380"/>
            <a:ext cx="472440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Aporte individual, função e remuneração ainda não acordados.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4840" y="4160520"/>
            <a:ext cx="10957560" cy="0"/>
          </a:xfrm>
          <a:prstGeom prst="line">
            <a:avLst/>
          </a:prstGeom>
          <a:ln w="1524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0560" y="4495800"/>
            <a:ext cx="10744200" cy="929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19"/>
              </a:spcAft>
              <a:defRPr sz="1739" b="0">
                <a:solidFill>
                  <a:srgbClr val="F3F5EF"/>
                </a:solidFill>
                <a:latin typeface="IBM Plex Sans"/>
              </a:defRPr>
            </a:pPr>
            <a:r>
              <a:t>Formalizar: capital e chamadas de aporte • cargos e remuneração • veículo societário • propriedade intelectual • orçamento • limites de aprovação • impasse • saída.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753100"/>
            <a:ext cx="1100328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1">
                <a:solidFill>
                  <a:srgbClr val="F5CA80"/>
                </a:solidFill>
                <a:latin typeface="IBM Plex Sans"/>
              </a:defRPr>
            </a:pPr>
            <a:r>
              <a:t>Payback da empresa não é o retorno da Dani. Distribuição depende de política e lucro disponível.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19 / EXPANSÕES FUTURAS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Novas linhas só entram depois de evidência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Nenhuma receita abaixo foi incluída nas simulações deste portfólio.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2484120"/>
            <a:ext cx="5067300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2"/>
              </a:spcAft>
              <a:defRPr sz="1920" b="1">
                <a:solidFill>
                  <a:srgbClr val="7CE7D4"/>
                </a:solidFill>
                <a:latin typeface="IBM Plex Sans"/>
              </a:defRPr>
            </a:pPr>
            <a:r>
              <a:t>Curadoria de mapas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3002280"/>
            <a:ext cx="50673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8"/>
              </a:spcAft>
              <a:defRPr sz="1680" b="0">
                <a:solidFill>
                  <a:srgbClr val="B4C5CD"/>
                </a:solidFill>
                <a:latin typeface="IBM Plex Sans"/>
              </a:defRPr>
            </a:pPr>
            <a:r>
              <a:t>Atualização contratada, com fonte e responsável.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2484120"/>
            <a:ext cx="5067300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2"/>
              </a:spcAft>
              <a:defRPr sz="1920" b="1">
                <a:solidFill>
                  <a:srgbClr val="7CE7D4"/>
                </a:solidFill>
                <a:latin typeface="IBM Plex Sans"/>
              </a:defRPr>
            </a:pPr>
            <a:r>
              <a:t>Templates especializados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3002280"/>
            <a:ext cx="50673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8"/>
              </a:spcAft>
              <a:defRPr sz="1680" b="0">
                <a:solidFill>
                  <a:srgbClr val="B4C5CD"/>
                </a:solidFill>
                <a:latin typeface="IBM Plex Sans"/>
              </a:defRPr>
            </a:pPr>
            <a:r>
              <a:t>Derivados de dores e entregas já validadas.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4053840"/>
            <a:ext cx="5067300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2"/>
              </a:spcAft>
              <a:defRPr sz="1920" b="1">
                <a:solidFill>
                  <a:srgbClr val="7CE7D4"/>
                </a:solidFill>
                <a:latin typeface="IBM Plex Sans"/>
              </a:defRPr>
            </a:pPr>
            <a:r>
              <a:t>Consulta privada de conhecimento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4572000"/>
            <a:ext cx="50673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8"/>
              </a:spcAft>
              <a:defRPr sz="1680" b="0">
                <a:solidFill>
                  <a:srgbClr val="B4C5CD"/>
                </a:solidFill>
                <a:latin typeface="IBM Plex Sans"/>
              </a:defRPr>
            </a:pPr>
            <a:r>
              <a:t>Uso autorizado, isolamento e qualidade a provar.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4053840"/>
            <a:ext cx="5067300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2"/>
              </a:spcAft>
              <a:defRPr sz="1920" b="1">
                <a:solidFill>
                  <a:srgbClr val="F5CA80"/>
                </a:solidFill>
                <a:latin typeface="IBM Plex Sans"/>
              </a:defRPr>
            </a:pPr>
            <a:r>
              <a:t>Topologic Operação empresarial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4572000"/>
            <a:ext cx="50673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8"/>
              </a:spcAft>
              <a:defRPr sz="1680" b="0">
                <a:solidFill>
                  <a:srgbClr val="B4C5CD"/>
                </a:solidFill>
                <a:latin typeface="IBM Plex Sans"/>
              </a:defRPr>
            </a:pPr>
            <a:r>
              <a:t>R$ 200 mil + R$ 12 mil/mês. Modelo futuro separado.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753100"/>
            <a:ext cx="1100328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1">
                <a:solidFill>
                  <a:srgbClr val="F5CA80"/>
                </a:solidFill>
                <a:latin typeface="IBM Plex Sans"/>
              </a:defRPr>
            </a:pPr>
            <a:r>
              <a:t>Primeiro provar entrega, venda e margem. Depois decidir novas linhas.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20 / PROPOSTA PARA A REUNIÃO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A decisão de agora: validar a tese e financiar por marcos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Sem aprovação de compra hoje. Sem retorno garantido.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461260"/>
            <a:ext cx="3543300" cy="2514600"/>
          </a:xfrm>
          <a:prstGeom prst="rect">
            <a:avLst/>
          </a:prstGeom>
          <a:solidFill>
            <a:srgbClr val="10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7720" y="2644140"/>
            <a:ext cx="31470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1">
                <a:solidFill>
                  <a:srgbClr val="7CE7D4"/>
                </a:solidFill>
                <a:latin typeface="IBM Plex Sans"/>
              </a:defRPr>
            </a:pPr>
            <a:r>
              <a:t>01 / Tese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720" y="3169920"/>
            <a:ext cx="3147060" cy="1661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Concordar com duas frentes, critérios de validação e limite de perda.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1500" y="2461260"/>
            <a:ext cx="3543300" cy="2514600"/>
          </a:xfrm>
          <a:prstGeom prst="rect">
            <a:avLst/>
          </a:prstGeom>
          <a:solidFill>
            <a:srgbClr val="10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9620" y="2644140"/>
            <a:ext cx="31470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1">
                <a:solidFill>
                  <a:srgbClr val="7CE7D4"/>
                </a:solidFill>
                <a:latin typeface="IBM Plex Sans"/>
              </a:defRPr>
            </a:pPr>
            <a:r>
              <a:t>02 / Diligência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9620" y="3169920"/>
            <a:ext cx="3147060" cy="1661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Ouvir compradores; validar oferta, cotação, tributos, capacidade e contrato.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53399" y="2461260"/>
            <a:ext cx="3543300" cy="2514600"/>
          </a:xfrm>
          <a:prstGeom prst="rect">
            <a:avLst/>
          </a:prstGeom>
          <a:solidFill>
            <a:srgbClr val="10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1520" y="2644140"/>
            <a:ext cx="31470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1">
                <a:solidFill>
                  <a:srgbClr val="7CE7D4"/>
                </a:solidFill>
                <a:latin typeface="IBM Plex Sans"/>
              </a:defRPr>
            </a:pPr>
            <a:r>
              <a:t>03 / Financiamento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0" y="3169920"/>
            <a:ext cx="3147060" cy="1661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Formalizar sociedade e caixa completo. Liberar recursos por marcos aprovados.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" y="5478780"/>
            <a:ext cx="10782300" cy="67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41"/>
              </a:spcAft>
              <a:defRPr sz="1859" b="1">
                <a:solidFill>
                  <a:srgbClr val="F5CA80"/>
                </a:solidFill>
                <a:latin typeface="IBM Plex Sans"/>
              </a:defRPr>
            </a:pPr>
            <a:r>
              <a:t>Se o capital disponível for menor que o modelo exige, redimensionar e recalcular antes de executar.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A1 / AUDITORIA FINANCEIRA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Premissas da loja e fórmulas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Valores hipotéticos por pedido aprovado. Modelo de portfólio, não o BP empresarial antigo.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2301240"/>
          <a:ext cx="64770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2590800"/>
              </a:tblGrid>
              <a:tr h="3429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Premissa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Valor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Ticket / câmbio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USD 29 / BRL 5 por USD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Estornos / conversão de visita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8% / 2%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Plataforma após estorno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9,9% + USD 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Tributos / meios e câmbio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15% / 3% após estornos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CAC / suporte por pedido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USD 10 / USD 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Recebimento loja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M+1, líquido de plataforma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20000" y="2369820"/>
            <a:ext cx="3886200" cy="15011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86"/>
              </a:spcAft>
              <a:defRPr sz="1560" b="1">
                <a:solidFill>
                  <a:srgbClr val="7CE7D4"/>
                </a:solidFill>
                <a:latin typeface="IBM Plex Sans"/>
              </a:defRPr>
            </a:pPr>
            <a:r>
              <a:t>Contribuição USD =</a:t>
            </a:r>
          </a:p>
          <a:p>
            <a:pPr>
              <a:spcAft>
                <a:spcPts val="286"/>
              </a:spcAft>
              <a:defRPr sz="1560" b="1">
                <a:solidFill>
                  <a:srgbClr val="7CE7D4"/>
                </a:solidFill>
                <a:latin typeface="IBM Plex Sans"/>
              </a:defRPr>
            </a:pPr>
            <a:r>
              <a:t>29 × 0,92</a:t>
            </a:r>
          </a:p>
          <a:p>
            <a:pPr>
              <a:spcAft>
                <a:spcPts val="286"/>
              </a:spcAft>
              <a:defRPr sz="1560" b="1">
                <a:solidFill>
                  <a:srgbClr val="7CE7D4"/>
                </a:solidFill>
                <a:latin typeface="IBM Plex Sans"/>
              </a:defRPr>
            </a:pPr>
            <a:r>
              <a:t>− (29 × 9,9% + 1) × 0,92</a:t>
            </a:r>
          </a:p>
          <a:p>
            <a:pPr>
              <a:spcAft>
                <a:spcPts val="286"/>
              </a:spcAft>
              <a:defRPr sz="1560" b="1">
                <a:solidFill>
                  <a:srgbClr val="7CE7D4"/>
                </a:solidFill>
                <a:latin typeface="IBM Plex Sans"/>
              </a:defRPr>
            </a:pPr>
            <a:r>
              <a:t>− 26,68 × (15% + 3%)</a:t>
            </a:r>
          </a:p>
          <a:p>
            <a:pPr>
              <a:spcAft>
                <a:spcPts val="286"/>
              </a:spcAft>
              <a:defRPr sz="1560" b="1">
                <a:solidFill>
                  <a:srgbClr val="7CE7D4"/>
                </a:solidFill>
                <a:latin typeface="IBM Plex Sans"/>
              </a:defRPr>
            </a:pPr>
            <a:r>
              <a:t>− 10 − 1 = 7,31628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0" y="4244340"/>
            <a:ext cx="3886200" cy="1249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86"/>
              </a:spcAft>
              <a:defRPr sz="1560" b="0">
                <a:solidFill>
                  <a:srgbClr val="F3F5EF"/>
                </a:solidFill>
                <a:latin typeface="IBM Plex Sans"/>
              </a:defRPr>
            </a:pPr>
            <a:r>
              <a:t>Somente loja: 1.149 pedidos/mês cobrem fixo de R$ 42 mil.</a:t>
            </a:r>
          </a:p>
          <a:p>
            <a:pPr>
              <a:spcAft>
                <a:spcPts val="286"/>
              </a:spcAft>
              <a:defRPr sz="1560" b="0">
                <a:solidFill>
                  <a:srgbClr val="F3F5EF"/>
                </a:solidFill>
                <a:latin typeface="IBM Plex Sans"/>
              </a:defRPr>
            </a:pPr>
            <a:r>
              <a:t>Contribuição zera em CAC de USD 17,31628.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753100"/>
            <a:ext cx="1100328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1">
                <a:solidFill>
                  <a:srgbClr val="F5CA80"/>
                </a:solidFill>
                <a:latin typeface="IBM Plex Sans"/>
              </a:defRPr>
            </a:pPr>
            <a:r>
              <a:t>Tributos do comprador podem ser adicionados ao checkout; não integram o ticket hipotético.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A2 / LIMITES DO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Premissas de projeto, capital e exclusões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Provisão tributária de 15% neste portfólio; os 12% do modelo antigo não se aplicam aqui.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438400"/>
            <a:ext cx="5257800" cy="2621280"/>
          </a:xfrm>
          <a:prstGeom prst="rect">
            <a:avLst/>
          </a:prstGeom>
          <a:solidFill>
            <a:srgbClr val="10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7720" y="2621280"/>
            <a:ext cx="4861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1">
                <a:solidFill>
                  <a:srgbClr val="7CE7D4"/>
                </a:solidFill>
                <a:latin typeface="IBM Plex Sans"/>
              </a:defRPr>
            </a:pPr>
            <a:r>
              <a:t>PROJETO E FIXOS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720" y="3147060"/>
            <a:ext cx="4861560" cy="1767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Mapa: R$ 30 mil; 80 h × R$ 180.</a:t>
            </a:r>
          </a:p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Tributos 15%; comercial 5%.</a:t>
            </a:r>
          </a:p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Recebimento: 50% início / 50% M+1.</a:t>
            </a:r>
          </a:p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Fixos: 37k no ano 1; 42k no ano 2.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438400"/>
            <a:ext cx="5410200" cy="2621280"/>
          </a:xfrm>
          <a:prstGeom prst="rect">
            <a:avLst/>
          </a:prstGeom>
          <a:solidFill>
            <a:srgbClr val="10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320" y="2621280"/>
            <a:ext cx="5013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1">
                <a:solidFill>
                  <a:srgbClr val="F5CA80"/>
                </a:solidFill>
                <a:latin typeface="IBM Plex Sans"/>
              </a:defRPr>
            </a:pPr>
            <a:r>
              <a:t>CAIXA E CAPITAL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320" y="3147060"/>
            <a:ext cx="5013960" cy="1767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M0: R$ 76 mil + R$ 24 mil.</a:t>
            </a:r>
          </a:p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Reserva: 3 × R$ 42 mil = R$ 126 mil.</a:t>
            </a:r>
          </a:p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Capital = pico de déficit + reserva,</a:t>
            </a:r>
          </a:p>
          <a:p>
            <a:pPr>
              <a:spcAft>
                <a:spcPts val="275"/>
              </a:spcAft>
              <a:defRPr sz="1500" b="0">
                <a:solidFill>
                  <a:srgbClr val="F3F5EF"/>
                </a:solidFill>
                <a:latin typeface="IBM Plex Sans"/>
              </a:defRPr>
            </a:pPr>
            <a:r>
              <a:t>arredondado para cima a cada R$ 10 mil.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" y="5463540"/>
            <a:ext cx="10896600" cy="67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97"/>
              </a:spcAft>
              <a:defRPr sz="1620" b="0">
                <a:solidFill>
                  <a:srgbClr val="F5CA80"/>
                </a:solidFill>
                <a:latin typeface="IBM Plex Sans"/>
              </a:defRPr>
            </a:pPr>
            <a:r>
              <a:t>Não modelados: dívida, juros, distribuição, inflação, segunda DGX e receitas adjacentes. Regime e limites tributários exigem contador.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A3 / CAIXA ACUMULADO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A curva mostra a necessidade de capital de giro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Fluxo do projeto após M0, sem aportes, dividendos ou juros. BRL milhares.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4720166"/>
            <a:ext cx="9829800" cy="0"/>
          </a:xfrm>
          <a:prstGeom prst="line">
            <a:avLst/>
          </a:prstGeom>
          <a:ln w="1524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2000" y="4643966"/>
            <a:ext cx="57912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20"/>
              </a:spcAft>
              <a:defRPr sz="1200" b="0">
                <a:solidFill>
                  <a:srgbClr val="B4C5CD"/>
                </a:solidFill>
                <a:latin typeface="IBM Plex Sans"/>
              </a:defRPr>
            </a:pPr>
            <a:r>
              <a:t>-500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71600" y="4268611"/>
            <a:ext cx="9829800" cy="0"/>
          </a:xfrm>
          <a:prstGeom prst="line">
            <a:avLst/>
          </a:prstGeom>
          <a:ln w="1524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0" y="4192411"/>
            <a:ext cx="57912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20"/>
              </a:spcAft>
              <a:defRPr sz="1200" b="0">
                <a:solidFill>
                  <a:srgbClr val="B4C5CD"/>
                </a:solidFill>
                <a:latin typeface="IBM Plex Sans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71600" y="3817055"/>
            <a:ext cx="9829800" cy="0"/>
          </a:xfrm>
          <a:prstGeom prst="line">
            <a:avLst/>
          </a:prstGeom>
          <a:ln w="1524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2000" y="3740855"/>
            <a:ext cx="57912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20"/>
              </a:spcAft>
              <a:defRPr sz="1200" b="0">
                <a:solidFill>
                  <a:srgbClr val="B4C5CD"/>
                </a:solidFill>
                <a:latin typeface="IBM Plex Sans"/>
              </a:defRPr>
            </a:pPr>
            <a:r>
              <a:t>500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71600" y="3365500"/>
            <a:ext cx="9829800" cy="0"/>
          </a:xfrm>
          <a:prstGeom prst="line">
            <a:avLst/>
          </a:prstGeom>
          <a:ln w="1524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2000" y="3289300"/>
            <a:ext cx="57912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20"/>
              </a:spcAft>
              <a:defRPr sz="1200" b="0">
                <a:solidFill>
                  <a:srgbClr val="B4C5CD"/>
                </a:solidFill>
                <a:latin typeface="IBM Plex Sans"/>
              </a:defRPr>
            </a:pPr>
            <a:r>
              <a:t>1.000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71600" y="2913944"/>
            <a:ext cx="9829800" cy="0"/>
          </a:xfrm>
          <a:prstGeom prst="line">
            <a:avLst/>
          </a:prstGeom>
          <a:ln w="1524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2000" y="2837744"/>
            <a:ext cx="57912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20"/>
              </a:spcAft>
              <a:defRPr sz="1200" b="0">
                <a:solidFill>
                  <a:srgbClr val="B4C5CD"/>
                </a:solidFill>
                <a:latin typeface="IBM Plex Sans"/>
              </a:defRPr>
            </a:pPr>
            <a:r>
              <a:t>1.500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7300" y="510540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20"/>
              </a:spcAft>
              <a:defRPr sz="1200" b="0">
                <a:solidFill>
                  <a:srgbClr val="B4C5CD"/>
                </a:solidFill>
                <a:latin typeface="IBM Plex Sans"/>
              </a:defRPr>
            </a:pPr>
            <a:r>
              <a:t>M0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4750" y="510540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20"/>
              </a:spcAft>
              <a:defRPr sz="1200" b="0">
                <a:solidFill>
                  <a:srgbClr val="B4C5CD"/>
                </a:solidFill>
                <a:latin typeface="IBM Plex Sans"/>
              </a:defRPr>
            </a:pPr>
            <a:r>
              <a:t>M6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510540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20"/>
              </a:spcAft>
              <a:defRPr sz="1200" b="0">
                <a:solidFill>
                  <a:srgbClr val="B4C5CD"/>
                </a:solidFill>
                <a:latin typeface="IBM Plex Sans"/>
              </a:defRPr>
            </a:pPr>
            <a:r>
              <a:t>M12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9650" y="510540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20"/>
              </a:spcAft>
              <a:defRPr sz="1200" b="0">
                <a:solidFill>
                  <a:srgbClr val="B4C5CD"/>
                </a:solidFill>
                <a:latin typeface="IBM Plex Sans"/>
              </a:defRPr>
            </a:pPr>
            <a:r>
              <a:t>M18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87100" y="510540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20"/>
              </a:spcAft>
              <a:defRPr sz="1200" b="0">
                <a:solidFill>
                  <a:srgbClr val="B4C5CD"/>
                </a:solidFill>
                <a:latin typeface="IBM Plex Sans"/>
              </a:defRPr>
            </a:pPr>
            <a:r>
              <a:t>M24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71600" y="4358922"/>
            <a:ext cx="409575" cy="33415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781175" y="4392337"/>
            <a:ext cx="409575" cy="33415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190750" y="4425752"/>
            <a:ext cx="409575" cy="34842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600325" y="4460594"/>
            <a:ext cx="409575" cy="34182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009900" y="4494776"/>
            <a:ext cx="409575" cy="39147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19475" y="4533923"/>
            <a:ext cx="409575" cy="20757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829050" y="4554680"/>
            <a:ext cx="409575" cy="33732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238625" y="4588412"/>
            <a:ext cx="409575" cy="32464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648200" y="4620876"/>
            <a:ext cx="409575" cy="32923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57775" y="4653799"/>
            <a:ext cx="409575" cy="14202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467350" y="4668001"/>
            <a:ext cx="409575" cy="25420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876925" y="4693421"/>
            <a:ext cx="409575" cy="23768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286500" y="4717189"/>
            <a:ext cx="409575" cy="30832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696075" y="4748021"/>
            <a:ext cx="409575" cy="9970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105650" y="4757991"/>
            <a:ext cx="409575" cy="22178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515225" y="4780169"/>
            <a:ext cx="409574" cy="21518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924799" y="4801687"/>
            <a:ext cx="409576" cy="25056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334375" y="4826743"/>
            <a:ext cx="409575" cy="7327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43950" y="4834070"/>
            <a:ext cx="409575" cy="19536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153525" y="4853606"/>
            <a:ext cx="409575" cy="18875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563100" y="4872481"/>
            <a:ext cx="409575" cy="22413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972675" y="4894894"/>
            <a:ext cx="409575" cy="4684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382250" y="4899578"/>
            <a:ext cx="409575" cy="16893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791825" y="4916471"/>
            <a:ext cx="409575" cy="18372"/>
          </a:xfrm>
          <a:prstGeom prst="line">
            <a:avLst/>
          </a:prstGeom>
          <a:ln w="38100">
            <a:solidFill>
              <a:srgbClr val="FFA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190999" y="5349240"/>
            <a:ext cx="20574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52"/>
              </a:spcAft>
              <a:defRPr sz="1380" b="1">
                <a:solidFill>
                  <a:srgbClr val="FFAA97"/>
                </a:solidFill>
                <a:latin typeface="IBM Plex Sans"/>
              </a:defRPr>
            </a:pPr>
            <a:r>
              <a:t>Conservador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371600" y="4358922"/>
            <a:ext cx="409575" cy="33415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781175" y="4392337"/>
            <a:ext cx="409575" cy="33415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190750" y="4425752"/>
            <a:ext cx="409575" cy="41182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600325" y="4466934"/>
            <a:ext cx="409575" cy="26030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09900" y="4492964"/>
            <a:ext cx="409575" cy="43362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419475" y="4536326"/>
            <a:ext cx="409575" cy="24906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829050" y="4561232"/>
            <a:ext cx="409575" cy="38936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238625" y="4600168"/>
            <a:ext cx="409575" cy="17806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648200" y="4617974"/>
            <a:ext cx="409575" cy="9548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57775" y="4627522"/>
            <a:ext cx="409575" cy="1288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67350" y="4621838"/>
            <a:ext cx="409575" cy="6972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876925" y="4606608"/>
            <a:ext cx="409575" cy="15230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286500" y="4588265"/>
            <a:ext cx="409575" cy="18343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696075" y="4550446"/>
            <a:ext cx="409575" cy="37819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7105650" y="4506019"/>
            <a:ext cx="409575" cy="44427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7515225" y="4454985"/>
            <a:ext cx="409574" cy="51034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924799" y="4397344"/>
            <a:ext cx="409576" cy="57641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8334375" y="4318823"/>
            <a:ext cx="409575" cy="78521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743950" y="4240303"/>
            <a:ext cx="409575" cy="78520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153525" y="4161783"/>
            <a:ext cx="409575" cy="78520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563100" y="4083263"/>
            <a:ext cx="409575" cy="78520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9972675" y="4004742"/>
            <a:ext cx="409575" cy="78521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382250" y="3926222"/>
            <a:ext cx="409575" cy="78520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791825" y="3847702"/>
            <a:ext cx="409575" cy="78520"/>
          </a:xfrm>
          <a:prstGeom prst="line">
            <a:avLst/>
          </a:prstGeom>
          <a:ln w="38100">
            <a:solidFill>
              <a:srgbClr val="7CE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324600" y="5349240"/>
            <a:ext cx="20574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52"/>
              </a:spcAft>
              <a:defRPr sz="1380" b="1">
                <a:solidFill>
                  <a:srgbClr val="7CE7D4"/>
                </a:solidFill>
                <a:latin typeface="IBM Plex Sans"/>
              </a:defRPr>
            </a:pPr>
            <a:r>
              <a:t>Base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371600" y="4358922"/>
            <a:ext cx="409575" cy="33415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781175" y="4392337"/>
            <a:ext cx="409575" cy="33415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190750" y="4425752"/>
            <a:ext cx="409575" cy="44750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600325" y="4470502"/>
            <a:ext cx="409575" cy="35713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009900" y="4506215"/>
            <a:ext cx="409575" cy="36241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419475" y="4542456"/>
            <a:ext cx="409575" cy="37665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829050" y="4580121"/>
            <a:ext cx="409575" cy="18717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238625" y="4598838"/>
            <a:ext cx="409575" cy="16469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48200" y="4615307"/>
            <a:ext cx="409575" cy="479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057775" y="4572628"/>
            <a:ext cx="409575" cy="43158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467350" y="4500082"/>
            <a:ext cx="409575" cy="72546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5876925" y="4411018"/>
            <a:ext cx="409575" cy="89064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286500" y="4309951"/>
            <a:ext cx="409575" cy="101067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6696075" y="4156686"/>
            <a:ext cx="409575" cy="153265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105650" y="4003422"/>
            <a:ext cx="409575" cy="153264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515225" y="3850158"/>
            <a:ext cx="409574" cy="153264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924799" y="3696893"/>
            <a:ext cx="409576" cy="153265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334375" y="3543629"/>
            <a:ext cx="409575" cy="153264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743950" y="3390365"/>
            <a:ext cx="409575" cy="153264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9153525" y="3237101"/>
            <a:ext cx="409575" cy="153264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563100" y="3083836"/>
            <a:ext cx="409575" cy="153265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9972675" y="2930572"/>
            <a:ext cx="409575" cy="153264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382250" y="2777308"/>
            <a:ext cx="409575" cy="153264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791825" y="2624043"/>
            <a:ext cx="409575" cy="153265"/>
          </a:xfrm>
          <a:prstGeom prst="line">
            <a:avLst/>
          </a:prstGeom>
          <a:ln w="38100">
            <a:solidFill>
              <a:srgbClr val="F5C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8458200" y="5349240"/>
            <a:ext cx="20574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52"/>
              </a:spcAft>
              <a:defRPr sz="1380" b="1">
                <a:solidFill>
                  <a:srgbClr val="F5CA80"/>
                </a:solidFill>
                <a:latin typeface="IBM Plex Sans"/>
              </a:defRPr>
            </a:pPr>
            <a:r>
              <a:t>Escala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4360" y="5920740"/>
            <a:ext cx="1100328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1">
                <a:solidFill>
                  <a:srgbClr val="F5CA80"/>
                </a:solidFill>
                <a:latin typeface="IBM Plex Sans"/>
              </a:defRPr>
            </a:pPr>
            <a:r>
              <a:t>Capital total requerido: conservador R$ 870 mil • base R$ 530 mil • escala R$ 520 mil.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A4 / MEMÓRIA DE CÁLCULO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Agenda-base mensal: meses 1 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R$ mil, arredondados a uma casa. Centavos e todas as rubricas estão na planilha/CSV.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2286000"/>
          <a:ext cx="10972799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"/>
                <a:gridCol w="1426464"/>
                <a:gridCol w="987551"/>
                <a:gridCol w="1426464"/>
                <a:gridCol w="1536192"/>
                <a:gridCol w="1536192"/>
                <a:gridCol w="1536192"/>
                <a:gridCol w="1645920"/>
              </a:tblGrid>
              <a:tr h="34290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Mês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Pedidos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Mapas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Bruto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Receita¹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Recebido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Caixa líq.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Acumulado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0,0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0,0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0,0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-37,0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-137,0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0,0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0,0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0,0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-37,0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-174,0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M3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37,2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36,7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15,0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-45,6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-219,6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M4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150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21,8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20,0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20,8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-28,8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-248,4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M5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73,5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70,0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32,3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-48,0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-296,4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M6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72,5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66,7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49,7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-27,6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-324,0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M7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750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138,8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130,1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72,8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-43,1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-367,1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M8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1.000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175,0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163,4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116,7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-19,7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-386,8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M9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1.250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211,2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196,8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145,6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-10,6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-397,4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1.500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247,5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230,1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174,5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-1,4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-398,8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1.750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283,8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263,4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203,4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7,7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-391,1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2.000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320,0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296,8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232,3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16,9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-374,3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7700" y="6035040"/>
            <a:ext cx="10896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0">
                <a:solidFill>
                  <a:srgbClr val="B4C5CD"/>
                </a:solidFill>
                <a:latin typeface="IBM Plex Sans"/>
              </a:defRPr>
            </a:pPr>
            <a:r>
              <a:t>¹ Receita após estornos, antes das demais despesas. Simulação com financiamento completo.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A5 / MEMÓRIA DE CÁLCULO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Agenda-base mensal: meses 13 a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R$ mil, arredondados a uma casa. Centavos e todas as rubricas estão na planilha/CSV.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2286000"/>
          <a:ext cx="10972799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"/>
                <a:gridCol w="1426464"/>
                <a:gridCol w="987551"/>
                <a:gridCol w="1426464"/>
                <a:gridCol w="1536192"/>
                <a:gridCol w="1536192"/>
                <a:gridCol w="1536192"/>
                <a:gridCol w="1645920"/>
              </a:tblGrid>
              <a:tr h="34290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Mês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Pedidos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Mapas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Bruto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Receita¹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Recebido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Caixa líq.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Acumulado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M13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2.200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379,0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353,5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276,2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20,3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-353,9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M14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2.400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408,0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380,2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314,3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41,9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-312,1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M15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2.600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437,0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406,8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337,4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49,2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-262,9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M16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2.800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466,0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433,5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360,5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56,5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-206,4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M17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495,0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460,2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383,7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63,8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-142,5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M18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3.000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495,0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460,2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406,8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86,9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-55,6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M19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495,0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460,2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406,8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86,9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31,3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M20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3.000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495,0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460,2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406,8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86,9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118,3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M21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495,0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460,2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406,8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86,9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205,2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M22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3.000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495,0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460,2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406,8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86,9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292,2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M23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495,0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460,2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406,8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86,9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379,1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M24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3.000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495,0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460,2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406,8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86,9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466,1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7700" y="6035040"/>
            <a:ext cx="10896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0">
                <a:solidFill>
                  <a:srgbClr val="B4C5CD"/>
                </a:solidFill>
                <a:latin typeface="IBM Plex Sans"/>
              </a:defRPr>
            </a:pPr>
            <a:r>
              <a:t>¹ Receita após estornos, antes das demais despesas. Simulação com financiamento completo.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A6 / CONSERVADOR E ESCALA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Agendas alternativas: meses 1 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Caixa acumulado em R$ mil, sem aportes. Pedidos e mapas por mês.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2286000"/>
          <a:ext cx="1097280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"/>
                <a:gridCol w="1755648"/>
                <a:gridCol w="1426464"/>
                <a:gridCol w="2084832"/>
                <a:gridCol w="1755648"/>
                <a:gridCol w="1316736"/>
                <a:gridCol w="1755648"/>
              </a:tblGrid>
              <a:tr h="45720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Mês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Cons.</a:t>
                      </a:r>
                    </a:p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pedidos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Cons.</a:t>
                      </a:r>
                    </a:p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mapas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Cons.</a:t>
                      </a:r>
                    </a:p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acumulado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Escala</a:t>
                      </a:r>
                    </a:p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pedidos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Escala</a:t>
                      </a:r>
                    </a:p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mapas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Escala</a:t>
                      </a:r>
                    </a:p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acumulado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-137,0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-137,0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-174,0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-174,0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M3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-212,6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-223,6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M4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-250,4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-263,1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M5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80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-293,8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600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-303,2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M6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120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-316,8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1.000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-344,9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M7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180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-354,1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1.500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-365,7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M8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250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-390,1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2.200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-383,9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M9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-426,5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-384,4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350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-442,2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3.500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-336,6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-470,4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-256,3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450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-496,7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4.500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-157,7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7700" y="603504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0">
                <a:solidFill>
                  <a:srgbClr val="F5CA80"/>
                </a:solidFill>
                <a:latin typeface="IBM Plex Sans"/>
              </a:defRPr>
            </a:pPr>
            <a:r>
              <a:t>Conservador: sem payback em 24m. Escala: M14, se financiado e com as vendas/CAC simulados.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A7 / CONSERVADOR E ESCALA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Agendas alternativas: meses 13 a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Caixa acumulado em R$ mil, sem aportes. Pedidos e mapas por mês.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2286000"/>
          <a:ext cx="1097280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"/>
                <a:gridCol w="1755648"/>
                <a:gridCol w="1426464"/>
                <a:gridCol w="2084832"/>
                <a:gridCol w="1755648"/>
                <a:gridCol w="1316736"/>
                <a:gridCol w="1755648"/>
              </a:tblGrid>
              <a:tr h="45720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Mês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Cons.</a:t>
                      </a:r>
                    </a:p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pedidos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Cons.</a:t>
                      </a:r>
                    </a:p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mapas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Cons.</a:t>
                      </a:r>
                    </a:p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acumulado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Escala</a:t>
                      </a:r>
                    </a:p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pedidos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Escala</a:t>
                      </a:r>
                    </a:p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mapas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Escala</a:t>
                      </a:r>
                    </a:p>
                    <a:p>
                      <a:pPr>
                        <a:defRPr sz="13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acumulado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M13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-530,8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-45,8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M14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520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-541,9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5.000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123,9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M15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540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-566,4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293,6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M16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560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-590,3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5.000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463,3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M17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580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-618,0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633,1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M18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600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-626,1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5.000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802,8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M19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620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-647,8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972,5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M20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640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-668,7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5.000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1.142,2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M21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660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-693,5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1.311,9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M22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680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-698,7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5.000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1.481,6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M23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700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-717,4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5.000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1.651,3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13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M24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750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-737,7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5.000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3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1.821,0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7700" y="603504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0">
                <a:solidFill>
                  <a:srgbClr val="F5CA80"/>
                </a:solidFill>
                <a:latin typeface="IBM Plex Sans"/>
              </a:defRPr>
            </a:pPr>
            <a:r>
              <a:t>Conservador: sem payback em 24m. Escala: M14, se financiado e com as vendas/CAC simulados.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A8 / EXEMPLO ESTRITAMENTE ILUSTRATIVO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Retorno de Dani não é o payback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Aporte e política de distribuição não foram definidos. Este exemplo não é uma oferta de rendimento.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2468880"/>
          <a:ext cx="10972800" cy="185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5856"/>
                <a:gridCol w="2633472"/>
                <a:gridCol w="2633472"/>
              </a:tblGrid>
              <a:tr h="342900">
                <a:tc>
                  <a:txBody>
                    <a:bodyPr/>
                    <a:lstStyle/>
                    <a:p>
                      <a:pPr>
                        <a:defRPr sz="16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Hipótese: Dani financia tudo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Base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80" b="1">
                          <a:solidFill>
                            <a:srgbClr val="7CE7D4"/>
                          </a:solidFill>
                          <a:latin typeface="IBM Plex Sans"/>
                        </a:defRPr>
                      </a:pPr>
                      <a:r>
                        <a:t>Escala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505459">
                <a:tc>
                  <a:txBody>
                    <a:bodyPr/>
                    <a:lstStyle/>
                    <a:p>
                      <a:pPr>
                        <a:defRPr sz="16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Aporte ilustrativo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R$ 530 mil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R$ 520 mil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  <a:tr h="505459">
                <a:tc>
                  <a:txBody>
                    <a:bodyPr/>
                    <a:lstStyle/>
                    <a:p>
                      <a:pPr>
                        <a:defRPr sz="16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Payback do projeto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M19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M14</a:t>
                      </a:r>
                    </a:p>
                  </a:txBody>
                  <a:tcPr marL="88900" marR="50800" marT="25400" marB="19050">
                    <a:solidFill>
                      <a:srgbClr val="07131F"/>
                    </a:solidFill>
                  </a:tcPr>
                </a:tc>
              </a:tr>
              <a:tr h="505459">
                <a:tc>
                  <a:txBody>
                    <a:bodyPr/>
                    <a:lstStyle/>
                    <a:p>
                      <a:pPr>
                        <a:defRPr sz="1680" b="1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Recuperação ilustrativa Dani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Não em 24 meses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80" b="0">
                          <a:solidFill>
                            <a:srgbClr val="F3F5EF"/>
                          </a:solidFill>
                          <a:latin typeface="IBM Plex Sans"/>
                        </a:defRPr>
                      </a:pPr>
                      <a:r>
                        <a:t>M20</a:t>
                      </a:r>
                    </a:p>
                  </a:txBody>
                  <a:tcPr marL="88900" marR="50800" marT="25400" marB="19050">
                    <a:solidFill>
                      <a:srgbClr val="10243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7700" y="4701540"/>
            <a:ext cx="10896600" cy="1181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19"/>
              </a:spcAft>
              <a:defRPr sz="1739" b="0">
                <a:solidFill>
                  <a:srgbClr val="F5CA80"/>
                </a:solidFill>
                <a:latin typeface="IBM Plex Sans"/>
              </a:defRPr>
            </a:pPr>
            <a:r>
              <a:t>Regra hipotética: Dani recebe 50% do excedente acumulado positivo após recuperação do projeto, sem reinvestimento.</a:t>
            </a:r>
          </a:p>
          <a:p>
            <a:pPr>
              <a:spcAft>
                <a:spcPts val="319"/>
              </a:spcAft>
              <a:defRPr sz="1739" b="0">
                <a:solidFill>
                  <a:srgbClr val="F5CA80"/>
                </a:solidFill>
                <a:latin typeface="IBM Plex Sans"/>
              </a:defRPr>
            </a:pPr>
            <a:r>
              <a:t>Antes de tributos pessoais e sujeito a lucro distribuível; não substitui acordo societário.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A9 / REFERÊNCIAS PÚBLICAS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Fontes, datas e o que elas não provam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Evidência contextual. Não comprova demanda, preço aceito ou capacidade de entrega da AUMI.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2040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2"/>
              </a:spcAft>
              <a:defRPr sz="1320" b="1">
                <a:solidFill>
                  <a:srgbClr val="7CE7D4"/>
                </a:solidFill>
                <a:latin typeface="IBM Plex Sans"/>
              </a:defRPr>
            </a:pPr>
            <a:r>
              <a:t>HOTMART-MARKET  •  2024-03-21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83180"/>
            <a:ext cx="1077468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2"/>
              </a:spcAft>
              <a:defRPr sz="1320" b="0">
                <a:solidFill>
                  <a:srgbClr val="F3F5EF"/>
                </a:solidFill>
                <a:latin typeface="IBM Plex Sans"/>
              </a:defRPr>
            </a:pPr>
            <a:r>
              <a:t>Hotmart/Teachable:21 milhões de consumidores compraram nos12 meses anteriores; global, autorrelatado. GMV de criadores LATAM exceto Brasil cresceu50% entre2022 e2023. Não é nosso TAM nem demanda validada.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10774680" cy="327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0">
                <a:solidFill>
                  <a:srgbClr val="B4C5CD"/>
                </a:solidFill>
                <a:latin typeface="IBM Plex Sans"/>
              </a:defRPr>
            </a:pPr>
            <a:r>
              <a:rPr>
                <a:solidFill>
                  <a:srgbClr val="7CE7D4"/>
                </a:solidFill>
                <a:hlinkClick r:id="rId2"/>
              </a:rPr>
              <a:t>https://press.hotmart.com/hotmart-company-announces-record-breaking-10-billion-in-global-creator-earnings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50920"/>
            <a:ext cx="1082040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2"/>
              </a:spcAft>
              <a:defRPr sz="1320" b="1">
                <a:solidFill>
                  <a:srgbClr val="7CE7D4"/>
                </a:solidFill>
                <a:latin typeface="IBM Plex Sans"/>
              </a:defRPr>
            </a:pPr>
            <a:r>
              <a:t>FLEXERA  •  2025-03-19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8099"/>
            <a:ext cx="1077468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2"/>
              </a:spcAft>
              <a:defRPr sz="1320" b="0">
                <a:solidFill>
                  <a:srgbClr val="F3F5EF"/>
                </a:solidFill>
                <a:latin typeface="IBM Plex Sans"/>
              </a:defRPr>
            </a:pPr>
            <a:r>
              <a:t>84% dos respondentes identificaram gestão do gasto cloud como principal desafio; pesquisa global com mais de750 profissionais. Não demonstra compra do nosso mapa.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11040"/>
            <a:ext cx="10774680" cy="327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0">
                <a:solidFill>
                  <a:srgbClr val="B4C5CD"/>
                </a:solidFill>
                <a:latin typeface="IBM Plex Sans"/>
              </a:defRPr>
            </a:pPr>
            <a:r>
              <a:rPr>
                <a:solidFill>
                  <a:srgbClr val="7CE7D4"/>
                </a:solidFill>
                <a:hlinkClick r:id="rId3"/>
              </a:rPr>
              <a:t>https://www.flexera.com/about-us/press-center/new-flexera-report-finds-84-percent-of-organizations-struggle-to-manage-cloud-spend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15840"/>
            <a:ext cx="1082040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2"/>
              </a:spcAft>
              <a:defRPr sz="1320" b="1">
                <a:solidFill>
                  <a:srgbClr val="7CE7D4"/>
                </a:solidFill>
                <a:latin typeface="IBM Plex Sans"/>
              </a:defRPr>
            </a:pPr>
            <a:r>
              <a:t>GSMA  •  2026-05-13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13020"/>
            <a:ext cx="1077468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2"/>
              </a:spcAft>
              <a:defRPr sz="1320" b="0">
                <a:solidFill>
                  <a:srgbClr val="F3F5EF"/>
                </a:solidFill>
                <a:latin typeface="IBM Plex Sans"/>
              </a:defRPr>
            </a:pPr>
            <a:r>
              <a:t>Contexto regional de expansão digital, cloud,IA e segurança; não usar PIB mobile como TAM de infoprodutos.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75960"/>
            <a:ext cx="10774680" cy="327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0">
                <a:solidFill>
                  <a:srgbClr val="B4C5CD"/>
                </a:solidFill>
                <a:latin typeface="IBM Plex Sans"/>
              </a:defRPr>
            </a:pPr>
            <a:r>
              <a:rPr>
                <a:solidFill>
                  <a:srgbClr val="7CE7D4"/>
                </a:solidFill>
                <a:hlinkClick r:id="rId4"/>
              </a:rPr>
              <a:t>https://www.gsma.com/about-us/regions/latin-america-and-the-caribbean/gsma_resources/the-mobile-economy-latin-america-2026/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A10 / REFERÊNCIAS PÚBLICAS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Fontes, datas e o que elas não provam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Evidência contextual. Não comprova demanda, preço aceito ou capacidade de entrega da AUMI.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2040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2"/>
              </a:spcAft>
              <a:defRPr sz="1320" b="1">
                <a:solidFill>
                  <a:srgbClr val="7CE7D4"/>
                </a:solidFill>
                <a:latin typeface="IBM Plex Sans"/>
              </a:defRPr>
            </a:pPr>
            <a:r>
              <a:t>HOTMART-FEES  •  2026-09-18; tarifa efetiva2026-09-21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83180"/>
            <a:ext cx="10774680" cy="899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2"/>
              </a:spcAft>
              <a:defRPr sz="1320" b="0">
                <a:solidFill>
                  <a:srgbClr val="F3F5EF"/>
                </a:solidFill>
                <a:latin typeface="IBM Plex Sans"/>
              </a:defRPr>
            </a:pPr>
            <a:r>
              <a:t>Tabela USD&gt;15 e FAQ:9,9%+USD1,00 por venda concluída. Um parágrafo antigo ainda cita0,50; adotado1,00 conforme tabela/FAQ atualizados. Tributos/cartão não incluídos; reembolso cancela taxa.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10774680" cy="327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0">
                <a:solidFill>
                  <a:srgbClr val="B4C5CD"/>
                </a:solidFill>
                <a:latin typeface="IBM Plex Sans"/>
              </a:defRPr>
            </a:pPr>
            <a:r>
              <a:rPr>
                <a:solidFill>
                  <a:srgbClr val="7CE7D4"/>
                </a:solidFill>
                <a:hlinkClick r:id="rId2"/>
              </a:rPr>
              <a:t>https://suportehotmart.zendesk.com/hc/en-us/articles/208298448-What-are-the-fees-charged-by-Hotmart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30040"/>
            <a:ext cx="1082040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2"/>
              </a:spcAft>
              <a:defRPr sz="1320" b="1">
                <a:solidFill>
                  <a:srgbClr val="7CE7D4"/>
                </a:solidFill>
                <a:latin typeface="IBM Plex Sans"/>
              </a:defRPr>
            </a:pPr>
            <a:r>
              <a:t>NVIDIA  •  2026-09-10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27220"/>
            <a:ext cx="10774680" cy="899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2"/>
              </a:spcAft>
              <a:defRPr sz="1320" b="0">
                <a:solidFill>
                  <a:srgbClr val="F3F5EF"/>
                </a:solidFill>
                <a:latin typeface="IBM Plex Sans"/>
              </a:defRPr>
            </a:pPr>
            <a:r>
              <a:t>GB10/Grace Blackwell,20 núcleos ARM,128GB unificados,1TB ou4TB NVMe,10GbE,fonte240W. Escolha4TB no orçamento. R$65k é provisão sem cotação brasileira.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64480"/>
            <a:ext cx="10774680" cy="327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0">
                <a:solidFill>
                  <a:srgbClr val="B4C5CD"/>
                </a:solidFill>
                <a:latin typeface="IBM Plex Sans"/>
              </a:defRPr>
            </a:pPr>
            <a:r>
              <a:rPr>
                <a:solidFill>
                  <a:srgbClr val="7CE7D4"/>
                </a:solidFill>
                <a:hlinkClick r:id="rId3"/>
              </a:rPr>
              <a:t>https://docs.nvidia.com/dgx/dgx-spark/hardware.html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6134100"/>
            <a:ext cx="10668000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98"/>
              </a:spcAft>
              <a:defRPr sz="1080" b="0">
                <a:solidFill>
                  <a:srgbClr val="F5CA80"/>
                </a:solidFill>
                <a:latin typeface="IBM Plex Sans"/>
              </a:defRPr>
            </a:pPr>
            <a:r>
              <a:t>Referência financeira: pitch-data.json, revisão 02/10/2026. Premissas de gestão, não dados observados.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962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9"/>
              </a:spcAft>
              <a:defRPr sz="1140" b="1">
                <a:solidFill>
                  <a:srgbClr val="7CE7D4"/>
                </a:solidFill>
                <a:latin typeface="IBM Plex Sans"/>
              </a:defRPr>
            </a:pPr>
            <a:r>
              <a:t>A11 / MATERIAL PARA LEVAR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746760"/>
            <a:ext cx="11049000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39"/>
              </a:spcAft>
              <a:defRPr sz="2940" b="1">
                <a:solidFill>
                  <a:srgbClr val="F3F5EF"/>
                </a:solidFill>
                <a:latin typeface="IBM Plex Sans"/>
              </a:defRPr>
            </a:pPr>
            <a:r>
              <a:t>Perguntas para fechar a reunião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1160"/>
            <a:ext cx="10972800" cy="472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0">
                <a:solidFill>
                  <a:srgbClr val="B4C5CD"/>
                </a:solidFill>
                <a:latin typeface="IBM Plex Sans"/>
              </a:defRPr>
            </a:pPr>
            <a:r>
              <a:t>O próximo passo é decidir tese, diligência e responsabilidade pelo financiamento.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07920"/>
            <a:ext cx="6057900" cy="2720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  <a:defRPr sz="1800" b="0">
                <a:solidFill>
                  <a:srgbClr val="F3F5EF"/>
                </a:solidFill>
                <a:latin typeface="IBM Plex Sans"/>
              </a:defRPr>
            </a:pPr>
            <a:r>
              <a:t>1. As duas frentes fazem sentido para todos?</a:t>
            </a:r>
          </a:p>
          <a:p>
            <a:pPr>
              <a:spcAft>
                <a:spcPts val="330"/>
              </a:spcAft>
              <a:defRPr sz="1800" b="0">
                <a:solidFill>
                  <a:srgbClr val="F3F5EF"/>
                </a:solidFill>
                <a:latin typeface="IBM Plex Sans"/>
              </a:defRPr>
            </a:pPr>
          </a:p>
          <a:p>
            <a:pPr>
              <a:spcAft>
                <a:spcPts val="330"/>
              </a:spcAft>
              <a:defRPr sz="1800" b="0">
                <a:solidFill>
                  <a:srgbClr val="F3F5EF"/>
                </a:solidFill>
                <a:latin typeface="IBM Plex Sans"/>
              </a:defRPr>
            </a:pPr>
            <a:r>
              <a:t>2. Quem aporta, quanto e sob quais marcos?</a:t>
            </a:r>
          </a:p>
          <a:p>
            <a:pPr>
              <a:spcAft>
                <a:spcPts val="330"/>
              </a:spcAft>
              <a:defRPr sz="1800" b="0">
                <a:solidFill>
                  <a:srgbClr val="F3F5EF"/>
                </a:solidFill>
                <a:latin typeface="IBM Plex Sans"/>
              </a:defRPr>
            </a:pPr>
          </a:p>
          <a:p>
            <a:pPr>
              <a:spcAft>
                <a:spcPts val="330"/>
              </a:spcAft>
              <a:defRPr sz="1800" b="0">
                <a:solidFill>
                  <a:srgbClr val="F3F5EF"/>
                </a:solidFill>
                <a:latin typeface="IBM Plex Sans"/>
              </a:defRPr>
            </a:pPr>
            <a:r>
              <a:t>3. Qual limite de perda e regra de parada?</a:t>
            </a:r>
          </a:p>
          <a:p>
            <a:pPr>
              <a:spcAft>
                <a:spcPts val="330"/>
              </a:spcAft>
              <a:defRPr sz="1800" b="0">
                <a:solidFill>
                  <a:srgbClr val="F3F5EF"/>
                </a:solidFill>
                <a:latin typeface="IBM Plex Sans"/>
              </a:defRPr>
            </a:pPr>
          </a:p>
          <a:p>
            <a:pPr>
              <a:spcAft>
                <a:spcPts val="330"/>
              </a:spcAft>
              <a:defRPr sz="1800" b="0">
                <a:solidFill>
                  <a:srgbClr val="F3F5EF"/>
                </a:solidFill>
                <a:latin typeface="IBM Plex Sans"/>
              </a:defRPr>
            </a:pPr>
            <a:r>
              <a:t>4. Quem aprova orçamento, compra e publicação?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415540"/>
            <a:ext cx="4343400" cy="4495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4"/>
              </a:spcAft>
              <a:defRPr sz="1439" b="0">
                <a:solidFill>
                  <a:srgbClr val="7CE7D4"/>
                </a:solidFill>
                <a:latin typeface="IBM Plex Sans"/>
              </a:defRPr>
            </a:pPr>
            <a:r>
              <a:rPr>
                <a:solidFill>
                  <a:srgbClr val="7CE7D4"/>
                </a:solidFill>
                <a:hlinkClick r:id="rId2"/>
              </a:rPr>
              <a:t>Pitch em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956560"/>
            <a:ext cx="4343400" cy="4495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4"/>
              </a:spcAft>
              <a:defRPr sz="1439" b="0">
                <a:solidFill>
                  <a:srgbClr val="7CE7D4"/>
                </a:solidFill>
                <a:latin typeface="IBM Plex Sans"/>
              </a:defRPr>
            </a:pPr>
            <a:r>
              <a:rPr>
                <a:solidFill>
                  <a:srgbClr val="7CE7D4"/>
                </a:solidFill>
                <a:hlinkClick r:id="rId3"/>
              </a:rPr>
              <a:t>PowerPoint editável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3497580"/>
            <a:ext cx="4343400" cy="4495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4"/>
              </a:spcAft>
              <a:defRPr sz="1439" b="0">
                <a:solidFill>
                  <a:srgbClr val="7CE7D4"/>
                </a:solidFill>
                <a:latin typeface="IBM Plex Sans"/>
              </a:defRPr>
            </a:pPr>
            <a:r>
              <a:rPr>
                <a:solidFill>
                  <a:srgbClr val="7CE7D4"/>
                </a:solidFill>
                <a:hlinkClick r:id="rId4"/>
              </a:rPr>
              <a:t>Modelo de portfólio • XLSX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038600"/>
            <a:ext cx="4343400" cy="4495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4"/>
              </a:spcAft>
              <a:defRPr sz="1439" b="0">
                <a:solidFill>
                  <a:srgbClr val="7CE7D4"/>
                </a:solidFill>
                <a:latin typeface="IBM Plex Sans"/>
              </a:defRPr>
            </a:pPr>
            <a:r>
              <a:rPr>
                <a:solidFill>
                  <a:srgbClr val="7CE7D4"/>
                </a:solidFill>
                <a:hlinkClick r:id="rId5"/>
              </a:rPr>
              <a:t>Cenários mensais •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579620"/>
            <a:ext cx="4343400" cy="4495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4"/>
              </a:spcAft>
              <a:defRPr sz="1439" b="0">
                <a:solidFill>
                  <a:srgbClr val="7CE7D4"/>
                </a:solidFill>
                <a:latin typeface="IBM Plex Sans"/>
              </a:defRPr>
            </a:pPr>
            <a:r>
              <a:rPr>
                <a:solidFill>
                  <a:srgbClr val="7CE7D4"/>
                </a:solidFill>
                <a:hlinkClick r:id="rId6"/>
              </a:rPr>
              <a:t>Galáxia • apoio visual; modelo anterior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120640"/>
            <a:ext cx="4343400" cy="4495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4"/>
              </a:spcAft>
              <a:defRPr sz="1439" b="0">
                <a:solidFill>
                  <a:srgbClr val="7CE7D4"/>
                </a:solidFill>
                <a:latin typeface="IBM Plex Sans"/>
              </a:defRPr>
            </a:pPr>
            <a:r>
              <a:rPr>
                <a:solidFill>
                  <a:srgbClr val="7CE7D4"/>
                </a:solidFill>
                <a:hlinkClick r:id="rId7"/>
              </a:rPr>
              <a:t>Topologic empresarial: modelo separado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753100"/>
            <a:ext cx="1100328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5"/>
              </a:spcAft>
              <a:defRPr sz="1500" b="1">
                <a:solidFill>
                  <a:srgbClr val="F5CA80"/>
                </a:solidFill>
                <a:latin typeface="IBM Plex Sans"/>
              </a:defRPr>
            </a:pPr>
            <a:r>
              <a:t>Decisão registrada + diligência + financiamento definido. Só então executar.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" y="6438900"/>
            <a:ext cx="10972800" cy="0"/>
          </a:xfrm>
          <a:prstGeom prst="line">
            <a:avLst/>
          </a:prstGeom>
          <a:ln w="7620">
            <a:solidFill>
              <a:srgbClr val="36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09600" y="6515100"/>
            <a:ext cx="9906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5"/>
              </a:spcAft>
              <a:defRPr sz="900" b="0">
                <a:solidFill>
                  <a:srgbClr val="B4C5CD"/>
                </a:solidFill>
                <a:latin typeface="IBM Plex Sans"/>
              </a:defRPr>
            </a:pPr>
            <a:r>
              <a:t>Proposta • 02/10/2026 • Valores e capacidades ainda sujeitos a validação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2300" y="6515100"/>
            <a:ext cx="9525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7"/>
              </a:spcAft>
              <a:defRPr sz="1019" b="1">
                <a:solidFill>
                  <a:srgbClr val="7CE7D4"/>
                </a:solidFill>
                <a:latin typeface="IBM Plex Sans"/>
              </a:defRPr>
            </a:pPr>
            <a:r>
              <a:t>AUMI /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CE7D4"/>
      </a:hlink>
      <a:folHlink>
        <a:srgbClr val="F5CA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AUMI | Negócios digitais e inteligência de TI</dc:title>
  <dc:subject>Proposta para Dani; simulações e decisões de investimento</dc:subject>
  <dc:creator>AUMI</dc:creator>
  <cp:keywords>LATAM, infoprodutos, arquitetura TI, simulação, capital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